
<file path=[Content_Types].xml><?xml version="1.0" encoding="utf-8"?>
<Types xmlns="http://schemas.openxmlformats.org/package/2006/content-types">
  <Default Extension="bin" ContentType="image/unknown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1"/>
  </p:notesMasterIdLst>
  <p:sldIdLst>
    <p:sldId id="256" r:id="rId2"/>
    <p:sldId id="267" r:id="rId3"/>
    <p:sldId id="310" r:id="rId4"/>
    <p:sldId id="319" r:id="rId5"/>
    <p:sldId id="320" r:id="rId6"/>
    <p:sldId id="321" r:id="rId7"/>
    <p:sldId id="269" r:id="rId8"/>
    <p:sldId id="317" r:id="rId9"/>
    <p:sldId id="312" r:id="rId10"/>
    <p:sldId id="313" r:id="rId11"/>
    <p:sldId id="314" r:id="rId12"/>
    <p:sldId id="316" r:id="rId13"/>
    <p:sldId id="322" r:id="rId14"/>
    <p:sldId id="323" r:id="rId15"/>
    <p:sldId id="324" r:id="rId16"/>
    <p:sldId id="325" r:id="rId17"/>
    <p:sldId id="326" r:id="rId18"/>
    <p:sldId id="327" r:id="rId19"/>
    <p:sldId id="328" r:id="rId20"/>
    <p:sldId id="342" r:id="rId21"/>
    <p:sldId id="343" r:id="rId22"/>
    <p:sldId id="344" r:id="rId23"/>
    <p:sldId id="345" r:id="rId24"/>
    <p:sldId id="347" r:id="rId25"/>
    <p:sldId id="329" r:id="rId26"/>
    <p:sldId id="330" r:id="rId27"/>
    <p:sldId id="331" r:id="rId28"/>
    <p:sldId id="348" r:id="rId29"/>
    <p:sldId id="349" r:id="rId30"/>
    <p:sldId id="350" r:id="rId31"/>
    <p:sldId id="351" r:id="rId32"/>
    <p:sldId id="352" r:id="rId33"/>
    <p:sldId id="353" r:id="rId34"/>
    <p:sldId id="354" r:id="rId35"/>
    <p:sldId id="355" r:id="rId36"/>
    <p:sldId id="357" r:id="rId37"/>
    <p:sldId id="358" r:id="rId38"/>
    <p:sldId id="356" r:id="rId39"/>
    <p:sldId id="332" r:id="rId40"/>
    <p:sldId id="334" r:id="rId41"/>
    <p:sldId id="335" r:id="rId42"/>
    <p:sldId id="336" r:id="rId43"/>
    <p:sldId id="337" r:id="rId44"/>
    <p:sldId id="338" r:id="rId45"/>
    <p:sldId id="339" r:id="rId46"/>
    <p:sldId id="340" r:id="rId47"/>
    <p:sldId id="341" r:id="rId48"/>
    <p:sldId id="306" r:id="rId49"/>
    <p:sldId id="268" r:id="rId5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CFB"/>
    <a:srgbClr val="171717"/>
    <a:srgbClr val="04F8FE"/>
    <a:srgbClr val="FEDF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58" autoAdjust="0"/>
    <p:restoredTop sz="94686"/>
  </p:normalViewPr>
  <p:slideViewPr>
    <p:cSldViewPr snapToGrid="0">
      <p:cViewPr>
        <p:scale>
          <a:sx n="47" d="100"/>
          <a:sy n="47" d="100"/>
        </p:scale>
        <p:origin x="1306" y="7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D727C5-9CFB-4F21-92BC-30AF5F72E86D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A71AF4-B063-4CA4-85E7-9CD5477AE03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44744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0A0C8-13DB-2959-BD31-3DA7E8287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893D9AB-207A-3E7C-3F57-C17382D303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C3499AF-8684-70E0-A430-68E671607D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D89DDF1-D116-04D8-1714-A04651DC68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A71AF4-B063-4CA4-85E7-9CD5477AE03E}" type="slidenum">
              <a:rPr lang="pt-BR" smtClean="0"/>
              <a:t>35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00007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93055-BB7A-CBFC-7C2E-FA1D2B9AA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230FE8B-92CE-D887-84BB-D9E38713E8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C332B22-FF97-5642-06CF-FE3CD921E8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2A05DBA-AC23-878C-3090-7E4F62AB36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A71AF4-B063-4CA4-85E7-9CD5477AE03E}" type="slidenum">
              <a:rPr lang="pt-BR" smtClean="0"/>
              <a:t>38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10447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A71AF4-B063-4CA4-85E7-9CD5477AE03E}" type="slidenum">
              <a:rPr lang="pt-BR" smtClean="0"/>
              <a:t>44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74373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CCF10-4B65-E244-7BB2-38FD2755B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A60DA7A-3B23-3D7E-4512-D9CCD4D4D4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732B19F-73F2-7C93-141F-F1D08F08AD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487EF91-248A-22A2-C00B-BFE1140D6F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A71AF4-B063-4CA4-85E7-9CD5477AE03E}" type="slidenum">
              <a:rPr lang="pt-BR" smtClean="0"/>
              <a:t>45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93235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49182-9A10-7CC8-DEA6-C554F9075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0CA102A-9273-E2EA-220B-740DCF02F5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A857AE7-7785-FF1E-B905-2D0B8B0B90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5FE4864-CE5C-2401-97F3-AB817BEE99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A71AF4-B063-4CA4-85E7-9CD5477AE03E}" type="slidenum">
              <a:rPr lang="pt-BR" smtClean="0"/>
              <a:t>46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81545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D5998A-09A4-EAD5-116D-C87EF855D1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CDCFCFA-AC5F-A2D3-813C-2094F94977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FA5DD-9691-74A4-5A81-7E2682CD8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F84C9-DBB7-4269-8F11-7CCAA22F03B4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900E6B3-5E1F-CA25-701C-8B608F305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6367E20-0170-422B-2D3A-D02593396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EA212-6D6A-4821-96F1-7E0522A5CC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0400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7555FB-E28C-7951-845A-2E597BB57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8542855-1F1E-11CA-4030-21EA13D91F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F353A9E-2EE0-2189-94AE-BB760AB10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F84C9-DBB7-4269-8F11-7CCAA22F03B4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37C1C45-F5A9-D49A-A577-77B143657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16678F9-0BA5-0999-579B-3DCCA610F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EA212-6D6A-4821-96F1-7E0522A5CC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2112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38B725-0510-D42F-FE0E-24BDE29B3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F2006A3-D7C5-74F5-6E22-814B79D9B8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AFFEA00-BB9C-AB05-67DF-84C36FCB3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F84C9-DBB7-4269-8F11-7CCAA22F03B4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7D4109D-FD37-6AB8-6B3C-47B2397F4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8525C87-E36B-E824-DBC0-64081DAE3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EA212-6D6A-4821-96F1-7E0522A5CC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1109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680179-D9DB-EF80-8245-8F6690BAA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AC86F4-EB31-152A-9611-1BDBA68C3F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9EDF3CF-FC08-7BA4-83EB-0656A1F3D6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1649AD8-F43A-0112-44AC-FBE229CF9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F84C9-DBB7-4269-8F11-7CCAA22F03B4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4A2C9E1-DEE3-5521-D042-FF24C1667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6A0249F-B48A-B6E5-B2CE-6813417ED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EA212-6D6A-4821-96F1-7E0522A5CC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1531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FF00F7-3EF8-A756-C2BE-CBC7C78F0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DCEBBD2-8865-3358-1798-0757ABED32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2CE19BD-0EBE-16D5-FCF2-645E22E232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2745C03-B462-5BFC-6DEE-60DFAF07C5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9105B7D-F9CD-5223-FB72-F53A6D9043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3F6E444-2E96-D1FE-7827-E75948866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F84C9-DBB7-4269-8F11-7CCAA22F03B4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9E960CE-1725-1547-5371-36B3600BD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4F50AB5-7340-BB24-0A03-F54984DEF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EA212-6D6A-4821-96F1-7E0522A5CC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971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9D9E9E-10D9-87B6-9990-A50FE88CB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937EA3A-8249-578B-28E2-CFF52C39B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F84C9-DBB7-4269-8F11-7CCAA22F03B4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B2EA484-A441-FFFF-529F-1342D8AA8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B658086-22E6-EB04-526E-63A2C1E66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EA212-6D6A-4821-96F1-7E0522A5CC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64841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10722A1-008B-BABA-F3A7-5030873E3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F84C9-DBB7-4269-8F11-7CCAA22F03B4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9BE5AF4-DCF6-C2C0-2CF8-843CA50A2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B0BBD84-4538-C552-09D0-5440FD49E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EA212-6D6A-4821-96F1-7E0522A5CC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7093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13879B-9067-48A4-57FF-781E79DCD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40260B0-9F37-018A-BEF9-B5E86EA1AB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4A0D884-C8FC-E215-96C4-45C8DF8E70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E79CD67-0893-777A-597D-3E5CF3693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F84C9-DBB7-4269-8F11-7CCAA22F03B4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BEAC4C3-0280-C9DE-8E64-C3B305966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DA91403-731B-32EC-C68C-3C7BCEFC9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EA212-6D6A-4821-96F1-7E0522A5CC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66936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DFFF63-99EC-AA7C-9598-A07AA7E69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7391180-AB3B-F98E-34D5-FF232A4F95BD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E0EC2A0-5860-6830-C594-D6CD1F6441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80D778A-D830-57F2-C798-048B0456A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F84C9-DBB7-4269-8F11-7CCAA22F03B4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384DAE4-5128-E63E-7F46-4CE49C361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4392842-BB82-8F2C-CFD8-E4349E44E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EA212-6D6A-4821-96F1-7E0522A5CC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32452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D00181-CDB6-83CC-FB84-356D4214F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F87F906-C73F-5342-0A1C-C16F23FA42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386C3C6-37C4-0BD8-954F-D4392D339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F84C9-DBB7-4269-8F11-7CCAA22F03B4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D281017-B363-E31A-18AD-93F29828E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2F60D95-14C2-3142-59E8-F1E15D1A9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EA212-6D6A-4821-96F1-7E0522A5CC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1541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ED4F637-F420-A96F-6829-906F242B0D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0798FDF-7E7F-E469-18FC-4F5DF2F944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6A7BE81-C276-9B2A-AA9C-AE0DA778A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F84C9-DBB7-4269-8F11-7CCAA22F03B4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AA7236F-EA7A-F21F-2588-D74B5B543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E107845-61CB-7B38-2269-EC8090352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EA212-6D6A-4821-96F1-7E0522A5CC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9322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6DA5706-5168-ADD4-3CF4-860C17AAC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5596D1C-1C81-8FB5-12D1-EF197F0B2E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700658F-AC97-F57F-B10E-076532C16A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1F84C9-DBB7-4269-8F11-7CCAA22F03B4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EB61218-3451-D854-DCD7-51BE09FDFB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2FC6DA-99ED-3C37-293B-A4149A76B7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9EA212-6D6A-4821-96F1-7E0522A5CC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0336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jp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jpe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3.png"/><Relationship Id="rId7" Type="http://schemas.openxmlformats.org/officeDocument/2006/relationships/image" Target="../media/image2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svg"/><Relationship Id="rId5" Type="http://schemas.openxmlformats.org/officeDocument/2006/relationships/image" Target="../media/image25.svg"/><Relationship Id="rId4" Type="http://schemas.openxmlformats.org/officeDocument/2006/relationships/image" Target="../media/image24.svg"/><Relationship Id="rId9" Type="http://schemas.openxmlformats.org/officeDocument/2006/relationships/image" Target="../media/image29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24.sv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24.svg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9.sv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svg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jpe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sv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sv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sv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sv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svg"/><Relationship Id="rId4" Type="http://schemas.openxmlformats.org/officeDocument/2006/relationships/image" Target="../media/image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png"/><Relationship Id="rId4" Type="http://schemas.openxmlformats.org/officeDocument/2006/relationships/image" Target="../media/image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24.svg"/><Relationship Id="rId4" Type="http://schemas.openxmlformats.org/officeDocument/2006/relationships/image" Target="../media/image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svg"/><Relationship Id="rId4" Type="http://schemas.openxmlformats.org/officeDocument/2006/relationships/image" Target="../media/image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669EB68F-7909-5E05-D717-202A12B25548}"/>
              </a:ext>
            </a:extLst>
          </p:cNvPr>
          <p:cNvSpPr>
            <a:spLocks/>
          </p:cNvSpPr>
          <p:nvPr/>
        </p:nvSpPr>
        <p:spPr>
          <a:xfrm>
            <a:off x="0" y="0"/>
            <a:ext cx="8332324" cy="6858000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7200" b="1" dirty="0">
              <a:latin typeface="Montserrat" pitchFamily="2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3A4E9CC-EE4C-C580-FD9F-91F0CBC2F6C1}"/>
              </a:ext>
            </a:extLst>
          </p:cNvPr>
          <p:cNvSpPr txBox="1"/>
          <p:nvPr/>
        </p:nvSpPr>
        <p:spPr>
          <a:xfrm>
            <a:off x="545038" y="1134999"/>
            <a:ext cx="549381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5400" b="1" dirty="0">
                <a:solidFill>
                  <a:schemeClr val="bg1"/>
                </a:solidFill>
                <a:latin typeface="Montserrat" pitchFamily="2" charset="0"/>
              </a:rPr>
              <a:t>Tech Week’ 26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14A4708-82AE-0FD5-DC18-FE9203F6EE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2324" y="0"/>
            <a:ext cx="3859676" cy="6858000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5321D63F-903C-6A1C-5B02-56679F528D18}"/>
              </a:ext>
            </a:extLst>
          </p:cNvPr>
          <p:cNvSpPr txBox="1"/>
          <p:nvPr/>
        </p:nvSpPr>
        <p:spPr>
          <a:xfrm>
            <a:off x="545038" y="1025045"/>
            <a:ext cx="24272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rgbClr val="004CFB"/>
                </a:solidFill>
                <a:latin typeface="Montserrat" pitchFamily="2" charset="0"/>
              </a:rPr>
              <a:t>Jundiaí – </a:t>
            </a:r>
            <a:r>
              <a:rPr lang="pt-BR" sz="1600" dirty="0" err="1">
                <a:solidFill>
                  <a:srgbClr val="004CFB"/>
                </a:solidFill>
                <a:latin typeface="Montserrat" pitchFamily="2" charset="0"/>
              </a:rPr>
              <a:t>UniAnchieta</a:t>
            </a:r>
            <a:endParaRPr lang="pt-BR" sz="1600" dirty="0">
              <a:solidFill>
                <a:srgbClr val="004CFB"/>
              </a:solidFill>
              <a:latin typeface="Montserrat" pitchFamily="2" charset="0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147A063-858F-46E0-E150-7D063F1830D2}"/>
              </a:ext>
            </a:extLst>
          </p:cNvPr>
          <p:cNvSpPr txBox="1"/>
          <p:nvPr/>
        </p:nvSpPr>
        <p:spPr>
          <a:xfrm>
            <a:off x="6063212" y="1273498"/>
            <a:ext cx="16578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latin typeface="Montserrat" pitchFamily="2" charset="0"/>
              </a:rPr>
              <a:t>OUT. 21 – 21h</a:t>
            </a:r>
            <a:br>
              <a:rPr lang="pt-BR" dirty="0">
                <a:solidFill>
                  <a:schemeClr val="bg1"/>
                </a:solidFill>
                <a:latin typeface="Montserrat" pitchFamily="2" charset="0"/>
              </a:rPr>
            </a:br>
            <a:r>
              <a:rPr lang="pt-BR" dirty="0">
                <a:solidFill>
                  <a:schemeClr val="bg1"/>
                </a:solidFill>
                <a:latin typeface="Montserrat" pitchFamily="2" charset="0"/>
              </a:rPr>
              <a:t>Quarta-Feira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F1894D8A-E171-3723-643A-730C892EDEE5}"/>
              </a:ext>
            </a:extLst>
          </p:cNvPr>
          <p:cNvSpPr txBox="1"/>
          <p:nvPr/>
        </p:nvSpPr>
        <p:spPr>
          <a:xfrm>
            <a:off x="478363" y="3409950"/>
            <a:ext cx="540244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5400" b="1" dirty="0">
                <a:solidFill>
                  <a:schemeClr val="bg1"/>
                </a:solidFill>
                <a:latin typeface="Montserrat" pitchFamily="2" charset="0"/>
              </a:rPr>
              <a:t>BEM - VINDOS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DFAFD0B3-8EF0-10B8-89E5-8441A4E0ABE4}"/>
              </a:ext>
            </a:extLst>
          </p:cNvPr>
          <p:cNvSpPr txBox="1"/>
          <p:nvPr/>
        </p:nvSpPr>
        <p:spPr>
          <a:xfrm>
            <a:off x="545038" y="4235773"/>
            <a:ext cx="3360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latin typeface="Montserrat" pitchFamily="2" charset="0"/>
              </a:rPr>
              <a:t>Começamos em instantes...</a:t>
            </a:r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AA555841-F8FD-0DFE-B865-DC49B79455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704496" y="4969262"/>
            <a:ext cx="923331" cy="923331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5F31A1E8-BF67-5BB6-4DAA-37ED4F8F33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4480" y="3003918"/>
            <a:ext cx="923331" cy="923331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334FC67B-7789-5393-0055-3B9D47F94E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8669" y="5791173"/>
            <a:ext cx="923331" cy="923331"/>
          </a:xfrm>
          <a:prstGeom prst="rect">
            <a:avLst/>
          </a:prstGeom>
        </p:spPr>
      </p:pic>
      <p:pic>
        <p:nvPicPr>
          <p:cNvPr id="24" name="Imagem 23">
            <a:extLst>
              <a:ext uri="{FF2B5EF4-FFF2-40B4-BE49-F238E27FC236}">
                <a16:creationId xmlns:a16="http://schemas.microsoft.com/office/drawing/2014/main" id="{EB46CD56-8ABE-2418-1E11-D39305710C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395" y="1194322"/>
            <a:ext cx="923331" cy="923331"/>
          </a:xfrm>
          <a:prstGeom prst="rect">
            <a:avLst/>
          </a:prstGeom>
        </p:spPr>
      </p:pic>
      <p:pic>
        <p:nvPicPr>
          <p:cNvPr id="25" name="Imagem 24">
            <a:extLst>
              <a:ext uri="{FF2B5EF4-FFF2-40B4-BE49-F238E27FC236}">
                <a16:creationId xmlns:a16="http://schemas.microsoft.com/office/drawing/2014/main" id="{AB56097D-7EC2-0CD7-0B5C-1AD5BA7C1D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779490" y="211537"/>
            <a:ext cx="923331" cy="923331"/>
          </a:xfrm>
          <a:prstGeom prst="rect">
            <a:avLst/>
          </a:prstGeom>
        </p:spPr>
      </p:pic>
      <p:pic>
        <p:nvPicPr>
          <p:cNvPr id="26" name="Imagem 25">
            <a:extLst>
              <a:ext uri="{FF2B5EF4-FFF2-40B4-BE49-F238E27FC236}">
                <a16:creationId xmlns:a16="http://schemas.microsoft.com/office/drawing/2014/main" id="{1D10ABB3-D4C4-3F4E-350E-3A6B4FB33F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485" y="-216622"/>
            <a:ext cx="923331" cy="923331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0D980167-9C99-B2E1-C122-E0553A33E4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259163" y="1727756"/>
            <a:ext cx="923331" cy="923331"/>
          </a:xfrm>
          <a:prstGeom prst="rect">
            <a:avLst/>
          </a:prstGeom>
        </p:spPr>
      </p:pic>
      <p:pic>
        <p:nvPicPr>
          <p:cNvPr id="29" name="Imagem 28">
            <a:extLst>
              <a:ext uri="{FF2B5EF4-FFF2-40B4-BE49-F238E27FC236}">
                <a16:creationId xmlns:a16="http://schemas.microsoft.com/office/drawing/2014/main" id="{33F75B04-AF69-B25C-1DDD-1A0BCB8C52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108563" y="440268"/>
            <a:ext cx="923331" cy="923331"/>
          </a:xfrm>
          <a:prstGeom prst="rect">
            <a:avLst/>
          </a:prstGeom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F6E85C34-6002-C68F-5CE8-CEC57B84E6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065561" y="2278344"/>
            <a:ext cx="923331" cy="923331"/>
          </a:xfrm>
          <a:prstGeom prst="rect">
            <a:avLst/>
          </a:prstGeom>
        </p:spPr>
      </p:pic>
      <p:pic>
        <p:nvPicPr>
          <p:cNvPr id="33" name="Imagem 32">
            <a:extLst>
              <a:ext uri="{FF2B5EF4-FFF2-40B4-BE49-F238E27FC236}">
                <a16:creationId xmlns:a16="http://schemas.microsoft.com/office/drawing/2014/main" id="{4F636D00-47C6-CCCA-BACF-EF064E007D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654" y="6051766"/>
            <a:ext cx="2308138" cy="713858"/>
          </a:xfrm>
          <a:prstGeom prst="rect">
            <a:avLst/>
          </a:prstGeom>
        </p:spPr>
      </p:pic>
      <p:cxnSp>
        <p:nvCxnSpPr>
          <p:cNvPr id="35" name="Conector reto 34">
            <a:extLst>
              <a:ext uri="{FF2B5EF4-FFF2-40B4-BE49-F238E27FC236}">
                <a16:creationId xmlns:a16="http://schemas.microsoft.com/office/drawing/2014/main" id="{A7D91421-5581-2AD5-CF74-9C651D31211F}"/>
              </a:ext>
            </a:extLst>
          </p:cNvPr>
          <p:cNvCxnSpPr/>
          <p:nvPr/>
        </p:nvCxnSpPr>
        <p:spPr>
          <a:xfrm>
            <a:off x="0" y="6007235"/>
            <a:ext cx="8332323" cy="0"/>
          </a:xfrm>
          <a:prstGeom prst="line">
            <a:avLst/>
          </a:prstGeom>
          <a:ln>
            <a:solidFill>
              <a:srgbClr val="004C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>
            <a:extLst>
              <a:ext uri="{FF2B5EF4-FFF2-40B4-BE49-F238E27FC236}">
                <a16:creationId xmlns:a16="http://schemas.microsoft.com/office/drawing/2014/main" id="{DEB5B61C-F7BF-845D-C151-8D8D957A7839}"/>
              </a:ext>
            </a:extLst>
          </p:cNvPr>
          <p:cNvCxnSpPr>
            <a:cxnSpLocks/>
            <a:endCxn id="28" idx="1"/>
          </p:cNvCxnSpPr>
          <p:nvPr/>
        </p:nvCxnSpPr>
        <p:spPr>
          <a:xfrm flipH="1">
            <a:off x="8332324" y="-26918"/>
            <a:ext cx="2655" cy="6884917"/>
          </a:xfrm>
          <a:prstGeom prst="line">
            <a:avLst/>
          </a:prstGeom>
          <a:ln>
            <a:solidFill>
              <a:srgbClr val="004C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" name="Imagem 27">
            <a:extLst>
              <a:ext uri="{FF2B5EF4-FFF2-40B4-BE49-F238E27FC236}">
                <a16:creationId xmlns:a16="http://schemas.microsoft.com/office/drawing/2014/main" id="{1E6A8B14-F63A-97DD-A154-FB7EC668D8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7870658" y="5934668"/>
            <a:ext cx="923331" cy="923331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C19A189B-10AA-16C3-0C16-F86A664839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5181" y="5765614"/>
            <a:ext cx="923331" cy="923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0978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669EB68F-7909-5E05-D717-202A12B25548}"/>
              </a:ext>
            </a:extLst>
          </p:cNvPr>
          <p:cNvSpPr>
            <a:spLocks/>
          </p:cNvSpPr>
          <p:nvPr/>
        </p:nvSpPr>
        <p:spPr>
          <a:xfrm>
            <a:off x="0" y="0"/>
            <a:ext cx="8332324" cy="6858000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7200" b="1" dirty="0">
              <a:latin typeface="Montserrat" pitchFamily="2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3A4E9CC-EE4C-C580-FD9F-91F0CBC2F6C1}"/>
              </a:ext>
            </a:extLst>
          </p:cNvPr>
          <p:cNvSpPr txBox="1"/>
          <p:nvPr/>
        </p:nvSpPr>
        <p:spPr>
          <a:xfrm>
            <a:off x="545038" y="1134999"/>
            <a:ext cx="549381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5400" b="1" dirty="0">
                <a:solidFill>
                  <a:schemeClr val="bg1"/>
                </a:solidFill>
                <a:latin typeface="Montserrat" pitchFamily="2" charset="0"/>
              </a:rPr>
              <a:t>Tech Week’ 26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14A4708-82AE-0FD5-DC18-FE9203F6EE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2324" y="0"/>
            <a:ext cx="3859676" cy="6858000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5321D63F-903C-6A1C-5B02-56679F528D18}"/>
              </a:ext>
            </a:extLst>
          </p:cNvPr>
          <p:cNvSpPr txBox="1"/>
          <p:nvPr/>
        </p:nvSpPr>
        <p:spPr>
          <a:xfrm>
            <a:off x="545038" y="1025045"/>
            <a:ext cx="24272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rgbClr val="004CFB"/>
                </a:solidFill>
                <a:latin typeface="Montserrat" pitchFamily="2" charset="0"/>
              </a:rPr>
              <a:t>Jundiaí – </a:t>
            </a:r>
            <a:r>
              <a:rPr lang="pt-BR" sz="1600" dirty="0" err="1">
                <a:solidFill>
                  <a:srgbClr val="004CFB"/>
                </a:solidFill>
                <a:latin typeface="Montserrat" pitchFamily="2" charset="0"/>
              </a:rPr>
              <a:t>UniAnchieta</a:t>
            </a:r>
            <a:endParaRPr lang="pt-BR" sz="1600" dirty="0">
              <a:solidFill>
                <a:srgbClr val="004CFB"/>
              </a:solidFill>
              <a:latin typeface="Montserrat" pitchFamily="2" charset="0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147A063-858F-46E0-E150-7D063F1830D2}"/>
              </a:ext>
            </a:extLst>
          </p:cNvPr>
          <p:cNvSpPr txBox="1"/>
          <p:nvPr/>
        </p:nvSpPr>
        <p:spPr>
          <a:xfrm>
            <a:off x="6063212" y="1273498"/>
            <a:ext cx="17107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latin typeface="Montserrat" pitchFamily="2" charset="0"/>
              </a:rPr>
              <a:t>OUT. 21 – 21h</a:t>
            </a:r>
            <a:br>
              <a:rPr lang="pt-BR" dirty="0">
                <a:solidFill>
                  <a:schemeClr val="bg1"/>
                </a:solidFill>
                <a:latin typeface="Montserrat" pitchFamily="2" charset="0"/>
              </a:rPr>
            </a:br>
            <a:r>
              <a:rPr lang="pt-BR" dirty="0">
                <a:solidFill>
                  <a:schemeClr val="bg1"/>
                </a:solidFill>
                <a:latin typeface="Montserrat" pitchFamily="2" charset="0"/>
              </a:rPr>
              <a:t>Quarta-Feira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F1894D8A-E171-3723-643A-730C892EDEE5}"/>
              </a:ext>
            </a:extLst>
          </p:cNvPr>
          <p:cNvSpPr txBox="1"/>
          <p:nvPr/>
        </p:nvSpPr>
        <p:spPr>
          <a:xfrm>
            <a:off x="548640" y="2240280"/>
            <a:ext cx="6903720" cy="187451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pt-BR" sz="3200" b="1" dirty="0" err="1">
                <a:solidFill>
                  <a:schemeClr val="bg1"/>
                </a:solidFill>
                <a:latin typeface="Montserrat" pitchFamily="2" charset="0"/>
              </a:rPr>
              <a:t>Kubernetes</a:t>
            </a:r>
            <a:r>
              <a:rPr lang="pt-BR" sz="3200" b="1" dirty="0">
                <a:solidFill>
                  <a:schemeClr val="bg1"/>
                </a:solidFill>
                <a:latin typeface="Montserrat" pitchFamily="2" charset="0"/>
              </a:rPr>
              <a:t>: o que é, por que é tão importante e como funciona na prática?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DFAFD0B3-8EF0-10B8-89E5-8441A4E0ABE4}"/>
              </a:ext>
            </a:extLst>
          </p:cNvPr>
          <p:cNvSpPr txBox="1"/>
          <p:nvPr/>
        </p:nvSpPr>
        <p:spPr>
          <a:xfrm>
            <a:off x="548640" y="3871487"/>
            <a:ext cx="6903720" cy="685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pt-BR" sz="1800" b="1" dirty="0">
              <a:solidFill>
                <a:srgbClr val="04F8FE"/>
              </a:solidFill>
              <a:latin typeface="Montserrat" pitchFamily="2" charset="0"/>
            </a:endParaRPr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AA555841-F8FD-0DFE-B865-DC49B79455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6309360" y="4892040"/>
            <a:ext cx="923331" cy="923331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5F31A1E8-BF67-5BB6-4DAA-37ED4F8F33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9480" y="3291840"/>
            <a:ext cx="923331" cy="923331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334FC67B-7789-5393-0055-3B9D47F94E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8669" y="5791173"/>
            <a:ext cx="923331" cy="923331"/>
          </a:xfrm>
          <a:prstGeom prst="rect">
            <a:avLst/>
          </a:prstGeom>
        </p:spPr>
      </p:pic>
      <p:pic>
        <p:nvPicPr>
          <p:cNvPr id="24" name="Imagem 23">
            <a:extLst>
              <a:ext uri="{FF2B5EF4-FFF2-40B4-BE49-F238E27FC236}">
                <a16:creationId xmlns:a16="http://schemas.microsoft.com/office/drawing/2014/main" id="{EB46CD56-8ABE-2418-1E11-D39305710C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395" y="1194322"/>
            <a:ext cx="923331" cy="923331"/>
          </a:xfrm>
          <a:prstGeom prst="rect">
            <a:avLst/>
          </a:prstGeom>
        </p:spPr>
      </p:pic>
      <p:pic>
        <p:nvPicPr>
          <p:cNvPr id="25" name="Imagem 24">
            <a:extLst>
              <a:ext uri="{FF2B5EF4-FFF2-40B4-BE49-F238E27FC236}">
                <a16:creationId xmlns:a16="http://schemas.microsoft.com/office/drawing/2014/main" id="{AB56097D-7EC2-0CD7-0B5C-1AD5BA7C1D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6949440" y="91440"/>
            <a:ext cx="923331" cy="923331"/>
          </a:xfrm>
          <a:prstGeom prst="rect">
            <a:avLst/>
          </a:prstGeom>
        </p:spPr>
      </p:pic>
      <p:pic>
        <p:nvPicPr>
          <p:cNvPr id="26" name="Imagem 25">
            <a:extLst>
              <a:ext uri="{FF2B5EF4-FFF2-40B4-BE49-F238E27FC236}">
                <a16:creationId xmlns:a16="http://schemas.microsoft.com/office/drawing/2014/main" id="{1D10ABB3-D4C4-3F4E-350E-3A6B4FB33F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485" y="-216622"/>
            <a:ext cx="923331" cy="923331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0D980167-9C99-B2E1-C122-E0553A33E4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457200" y="4526280"/>
            <a:ext cx="923331" cy="923331"/>
          </a:xfrm>
          <a:prstGeom prst="rect">
            <a:avLst/>
          </a:prstGeom>
        </p:spPr>
      </p:pic>
      <p:pic>
        <p:nvPicPr>
          <p:cNvPr id="29" name="Imagem 28">
            <a:extLst>
              <a:ext uri="{FF2B5EF4-FFF2-40B4-BE49-F238E27FC236}">
                <a16:creationId xmlns:a16="http://schemas.microsoft.com/office/drawing/2014/main" id="{33F75B04-AF69-B25C-1DDD-1A0BCB8C52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108563" y="440268"/>
            <a:ext cx="923331" cy="923331"/>
          </a:xfrm>
          <a:prstGeom prst="rect">
            <a:avLst/>
          </a:prstGeom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F6E85C34-6002-C68F-5CE8-CEC57B84E6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754880" y="228600"/>
            <a:ext cx="923331" cy="923331"/>
          </a:xfrm>
          <a:prstGeom prst="rect">
            <a:avLst/>
          </a:prstGeom>
        </p:spPr>
      </p:pic>
      <p:pic>
        <p:nvPicPr>
          <p:cNvPr id="33" name="Imagem 32">
            <a:extLst>
              <a:ext uri="{FF2B5EF4-FFF2-40B4-BE49-F238E27FC236}">
                <a16:creationId xmlns:a16="http://schemas.microsoft.com/office/drawing/2014/main" id="{4F636D00-47C6-CCCA-BACF-EF064E007D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654" y="6051766"/>
            <a:ext cx="2308138" cy="713858"/>
          </a:xfrm>
          <a:prstGeom prst="rect">
            <a:avLst/>
          </a:prstGeom>
        </p:spPr>
      </p:pic>
      <p:cxnSp>
        <p:nvCxnSpPr>
          <p:cNvPr id="35" name="Conector reto 34">
            <a:extLst>
              <a:ext uri="{FF2B5EF4-FFF2-40B4-BE49-F238E27FC236}">
                <a16:creationId xmlns:a16="http://schemas.microsoft.com/office/drawing/2014/main" id="{A7D91421-5581-2AD5-CF74-9C651D31211F}"/>
              </a:ext>
            </a:extLst>
          </p:cNvPr>
          <p:cNvCxnSpPr/>
          <p:nvPr/>
        </p:nvCxnSpPr>
        <p:spPr>
          <a:xfrm>
            <a:off x="0" y="6007235"/>
            <a:ext cx="8332323" cy="0"/>
          </a:xfrm>
          <a:prstGeom prst="line">
            <a:avLst/>
          </a:prstGeom>
          <a:ln>
            <a:solidFill>
              <a:srgbClr val="004C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>
            <a:extLst>
              <a:ext uri="{FF2B5EF4-FFF2-40B4-BE49-F238E27FC236}">
                <a16:creationId xmlns:a16="http://schemas.microsoft.com/office/drawing/2014/main" id="{DEB5B61C-F7BF-845D-C151-8D8D957A7839}"/>
              </a:ext>
            </a:extLst>
          </p:cNvPr>
          <p:cNvCxnSpPr>
            <a:cxnSpLocks/>
            <a:endCxn id="28" idx="1"/>
          </p:cNvCxnSpPr>
          <p:nvPr/>
        </p:nvCxnSpPr>
        <p:spPr>
          <a:xfrm flipH="1">
            <a:off x="8332324" y="-26918"/>
            <a:ext cx="2655" cy="6884917"/>
          </a:xfrm>
          <a:prstGeom prst="line">
            <a:avLst/>
          </a:prstGeom>
          <a:ln>
            <a:solidFill>
              <a:srgbClr val="004C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" name="Imagem 27">
            <a:extLst>
              <a:ext uri="{FF2B5EF4-FFF2-40B4-BE49-F238E27FC236}">
                <a16:creationId xmlns:a16="http://schemas.microsoft.com/office/drawing/2014/main" id="{1E6A8B14-F63A-97DD-A154-FB7EC668D8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7870658" y="5934668"/>
            <a:ext cx="923331" cy="923331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C19A189B-10AA-16C3-0C16-F86A664839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5181" y="5765614"/>
            <a:ext cx="923331" cy="923331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618D2B00-355D-17EF-2972-92E0A2BA7D1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9358" r="31153" b="27022"/>
          <a:stretch/>
        </p:blipFill>
        <p:spPr>
          <a:xfrm>
            <a:off x="2870954" y="3996088"/>
            <a:ext cx="2111349" cy="1983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0978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448E82-3399-FC95-D495-F4020AB06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>
            <a:extLst>
              <a:ext uri="{FF2B5EF4-FFF2-40B4-BE49-F238E27FC236}">
                <a16:creationId xmlns:a16="http://schemas.microsoft.com/office/drawing/2014/main" id="{D0C8D04A-1FA5-B67D-062C-1C445D9453EE}"/>
              </a:ext>
            </a:extLst>
          </p:cNvPr>
          <p:cNvSpPr txBox="1"/>
          <p:nvPr/>
        </p:nvSpPr>
        <p:spPr>
          <a:xfrm>
            <a:off x="548640" y="274320"/>
            <a:ext cx="10469880" cy="531925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r>
              <a:rPr lang="pt-BR" sz="2600" b="1" i="0" dirty="0">
                <a:solidFill>
                  <a:srgbClr val="FFFFFF"/>
                </a:solidFill>
                <a:latin typeface="Montserrat"/>
              </a:rPr>
              <a:t>Renato Groffe</a:t>
            </a:r>
            <a:endParaRPr sz="2600" b="1" i="0" dirty="0">
              <a:solidFill>
                <a:srgbClr val="FFFFFF"/>
              </a:solidFill>
              <a:latin typeface="Montserrat"/>
            </a:endParaRPr>
          </a:p>
        </p:txBody>
      </p:sp>
      <p:pic>
        <p:nvPicPr>
          <p:cNvPr id="3" name="Elemento visual" descr="image.png">
            <a:extLst>
              <a:ext uri="{FF2B5EF4-FFF2-40B4-BE49-F238E27FC236}">
                <a16:creationId xmlns:a16="http://schemas.microsoft.com/office/drawing/2014/main" id="{C7206E85-280F-8FC8-C93F-EE1E72661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1265408" y="146304"/>
            <a:ext cx="923331" cy="923331"/>
          </a:xfrm>
          <a:prstGeom prst="rect">
            <a:avLst/>
          </a:prstGeom>
        </p:spPr>
      </p:pic>
      <p:pic>
        <p:nvPicPr>
          <p:cNvPr id="4" name="Elemento visual" descr="image.png">
            <a:extLst>
              <a:ext uri="{FF2B5EF4-FFF2-40B4-BE49-F238E27FC236}">
                <a16:creationId xmlns:a16="http://schemas.microsoft.com/office/drawing/2014/main" id="{95F30EA4-9966-5A00-2D1F-7E4F956DA5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181" y="5765614"/>
            <a:ext cx="923331" cy="923331"/>
          </a:xfrm>
          <a:prstGeom prst="rect">
            <a:avLst/>
          </a:prstGeom>
        </p:spPr>
      </p:pic>
      <p:pic>
        <p:nvPicPr>
          <p:cNvPr id="5" name="Elemento visual" descr="image.png">
            <a:extLst>
              <a:ext uri="{FF2B5EF4-FFF2-40B4-BE49-F238E27FC236}">
                <a16:creationId xmlns:a16="http://schemas.microsoft.com/office/drawing/2014/main" id="{4128FD5D-BF99-0469-5AB3-155BFC2600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0668" y="5948272"/>
            <a:ext cx="923331" cy="923331"/>
          </a:xfrm>
          <a:prstGeom prst="rect">
            <a:avLst/>
          </a:prstGeom>
        </p:spPr>
      </p:pic>
      <p:pic>
        <p:nvPicPr>
          <p:cNvPr id="6" name="Logo UniAnchieta" descr="image.png">
            <a:extLst>
              <a:ext uri="{FF2B5EF4-FFF2-40B4-BE49-F238E27FC236}">
                <a16:creationId xmlns:a16="http://schemas.microsoft.com/office/drawing/2014/main" id="{6B4D3D4D-AAD7-F41E-1192-1E7C7A66BC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54" y="6051766"/>
            <a:ext cx="2308138" cy="7138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28044B8-B139-40E0-58A6-97363EDA3C69}"/>
              </a:ext>
            </a:extLst>
          </p:cNvPr>
          <p:cNvSpPr txBox="1"/>
          <p:nvPr/>
        </p:nvSpPr>
        <p:spPr>
          <a:xfrm>
            <a:off x="548639" y="1092397"/>
            <a:ext cx="8107681" cy="447020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F8FE"/>
                </a:solidFill>
                <a:latin typeface="Montserrat"/>
              </a:rPr>
              <a:t>Microsoft Most </a:t>
            </a:r>
            <a:r>
              <a:rPr lang="pt-BR" sz="2400" b="1" dirty="0" err="1">
                <a:solidFill>
                  <a:srgbClr val="04F8FE"/>
                </a:solidFill>
                <a:latin typeface="Montserrat"/>
              </a:rPr>
              <a:t>Valuable</a:t>
            </a:r>
            <a:r>
              <a:rPr lang="pt-BR" sz="2400" b="1" dirty="0">
                <a:solidFill>
                  <a:srgbClr val="04F8FE"/>
                </a:solidFill>
                <a:latin typeface="Montserrat"/>
              </a:rPr>
              <a:t> Professional (MVP)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F8FE"/>
                </a:solidFill>
                <a:latin typeface="Montserrat"/>
              </a:rPr>
              <a:t>Docker </a:t>
            </a:r>
            <a:r>
              <a:rPr lang="pt-BR" sz="2400" b="1" dirty="0" err="1">
                <a:solidFill>
                  <a:srgbClr val="04F8FE"/>
                </a:solidFill>
                <a:latin typeface="Montserrat"/>
              </a:rPr>
              <a:t>Captain</a:t>
            </a:r>
            <a:endParaRPr lang="pt-BR" sz="2400" b="1" dirty="0">
              <a:solidFill>
                <a:srgbClr val="04F8FE"/>
              </a:solidFill>
              <a:latin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 err="1">
                <a:solidFill>
                  <a:srgbClr val="04F8FE"/>
                </a:solidFill>
                <a:latin typeface="Montserrat"/>
              </a:rPr>
              <a:t>Grafana</a:t>
            </a:r>
            <a:r>
              <a:rPr lang="pt-BR" sz="2400" b="1" dirty="0">
                <a:solidFill>
                  <a:srgbClr val="04F8FE"/>
                </a:solidFill>
                <a:latin typeface="Montserrat"/>
              </a:rPr>
              <a:t> Champion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F8FE"/>
                </a:solidFill>
                <a:latin typeface="Montserrat"/>
              </a:rPr>
              <a:t>APISEC U </a:t>
            </a:r>
            <a:r>
              <a:rPr lang="pt-BR" sz="2400" b="1" dirty="0" err="1">
                <a:solidFill>
                  <a:srgbClr val="04F8FE"/>
                </a:solidFill>
                <a:latin typeface="Montserrat"/>
              </a:rPr>
              <a:t>Ambassador</a:t>
            </a:r>
            <a:endParaRPr lang="pt-BR" sz="2400" b="1" dirty="0">
              <a:solidFill>
                <a:srgbClr val="04F8FE"/>
              </a:solidFill>
              <a:latin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 err="1">
                <a:solidFill>
                  <a:srgbClr val="04F8FE"/>
                </a:solidFill>
                <a:latin typeface="Montserrat"/>
              </a:rPr>
              <a:t>Multi-Plataform</a:t>
            </a:r>
            <a:r>
              <a:rPr lang="pt-BR" sz="2400" b="1" dirty="0">
                <a:solidFill>
                  <a:srgbClr val="04F8FE"/>
                </a:solidFill>
                <a:latin typeface="Montserrat"/>
              </a:rPr>
              <a:t> </a:t>
            </a:r>
            <a:r>
              <a:rPr lang="pt-BR" sz="2400" b="1" dirty="0" err="1">
                <a:solidFill>
                  <a:srgbClr val="04F8FE"/>
                </a:solidFill>
                <a:latin typeface="Montserrat"/>
              </a:rPr>
              <a:t>Technical</a:t>
            </a:r>
            <a:r>
              <a:rPr lang="pt-BR" sz="2400" b="1" dirty="0">
                <a:solidFill>
                  <a:srgbClr val="04F8FE"/>
                </a:solidFill>
                <a:latin typeface="Montserrat"/>
              </a:rPr>
              <a:t> </a:t>
            </a:r>
            <a:r>
              <a:rPr lang="pt-BR" sz="2400" b="1" dirty="0" err="1">
                <a:solidFill>
                  <a:srgbClr val="04F8FE"/>
                </a:solidFill>
                <a:latin typeface="Montserrat"/>
              </a:rPr>
              <a:t>Audience</a:t>
            </a:r>
            <a:r>
              <a:rPr lang="pt-BR" sz="2400" b="1" dirty="0">
                <a:solidFill>
                  <a:srgbClr val="04F8FE"/>
                </a:solidFill>
                <a:latin typeface="Montserrat"/>
              </a:rPr>
              <a:t> </a:t>
            </a:r>
            <a:r>
              <a:rPr lang="pt-BR" sz="2400" b="1" dirty="0" err="1">
                <a:solidFill>
                  <a:srgbClr val="04F8FE"/>
                </a:solidFill>
                <a:latin typeface="Montserrat"/>
              </a:rPr>
              <a:t>Contributor</a:t>
            </a:r>
            <a:r>
              <a:rPr lang="pt-BR" sz="2400" b="1" dirty="0">
                <a:solidFill>
                  <a:srgbClr val="04F8FE"/>
                </a:solidFill>
                <a:latin typeface="Montserrat"/>
              </a:rPr>
              <a:t> (MTAC)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F8FE"/>
                </a:solidFill>
                <a:latin typeface="Montserrat"/>
              </a:rPr>
              <a:t>Arquiteto de Soluções/Software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F8FE"/>
                </a:solidFill>
                <a:latin typeface="Montserrat"/>
              </a:rPr>
              <a:t>+20 anos de experiência na área de Tecnologia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F8FE"/>
                </a:solidFill>
                <a:latin typeface="Montserrat"/>
              </a:rPr>
              <a:t>Community </a:t>
            </a:r>
            <a:r>
              <a:rPr lang="pt-BR" sz="2400" b="1" dirty="0" err="1">
                <a:solidFill>
                  <a:srgbClr val="04F8FE"/>
                </a:solidFill>
                <a:latin typeface="Montserrat"/>
              </a:rPr>
              <a:t>Leader</a:t>
            </a:r>
            <a:r>
              <a:rPr lang="pt-BR" sz="2400" b="1" dirty="0">
                <a:solidFill>
                  <a:srgbClr val="04F8FE"/>
                </a:solidFill>
                <a:latin typeface="Montserrat"/>
              </a:rPr>
              <a:t>, Autor Técnico e Palestrante</a:t>
            </a:r>
          </a:p>
        </p:txBody>
      </p:sp>
      <p:pic>
        <p:nvPicPr>
          <p:cNvPr id="27" name="Imagem 26">
            <a:extLst>
              <a:ext uri="{FF2B5EF4-FFF2-40B4-BE49-F238E27FC236}">
                <a16:creationId xmlns:a16="http://schemas.microsoft.com/office/drawing/2014/main" id="{E520B632-9972-CDA1-3649-4478E2A876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2113" y="472111"/>
            <a:ext cx="2064045" cy="2290202"/>
          </a:xfrm>
          <a:prstGeom prst="rect">
            <a:avLst/>
          </a:prstGeom>
        </p:spPr>
      </p:pic>
      <p:pic>
        <p:nvPicPr>
          <p:cNvPr id="29" name="Imagem 28" descr="Código QR&#10;&#10;O conteúdo gerado por IA pode estar incorreto.">
            <a:extLst>
              <a:ext uri="{FF2B5EF4-FFF2-40B4-BE49-F238E27FC236}">
                <a16:creationId xmlns:a16="http://schemas.microsoft.com/office/drawing/2014/main" id="{C2478A4D-92BD-EC90-9E56-4554E8B310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8736" y="3291903"/>
            <a:ext cx="2768301" cy="2768301"/>
          </a:xfrm>
          <a:prstGeom prst="rect">
            <a:avLst/>
          </a:prstGeom>
        </p:spPr>
      </p:pic>
      <p:pic>
        <p:nvPicPr>
          <p:cNvPr id="31" name="Picture 2" descr="http://www.codeisahighway.com/content/images/2015/10/MVP_Logo_Horizontal_Preferred_Cyan300_RGB_300ppi.png">
            <a:extLst>
              <a:ext uri="{FF2B5EF4-FFF2-40B4-BE49-F238E27FC236}">
                <a16:creationId xmlns:a16="http://schemas.microsoft.com/office/drawing/2014/main" id="{34F8A7A7-9563-6252-A318-2342C1114B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823" y="5032824"/>
            <a:ext cx="2052933" cy="828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Imagem 32" descr="Placa branca com texto preto sobre fundo azul&#10;&#10;Descrição gerada automaticamente">
            <a:extLst>
              <a:ext uri="{FF2B5EF4-FFF2-40B4-BE49-F238E27FC236}">
                <a16:creationId xmlns:a16="http://schemas.microsoft.com/office/drawing/2014/main" id="{C1E3ABD3-8DC8-4E5C-F4AB-B6C94825DC1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5290" y="4708755"/>
            <a:ext cx="1403451" cy="1403451"/>
          </a:xfrm>
          <a:prstGeom prst="rect">
            <a:avLst/>
          </a:prstGeom>
        </p:spPr>
      </p:pic>
      <p:pic>
        <p:nvPicPr>
          <p:cNvPr id="35" name="Imagem 34">
            <a:extLst>
              <a:ext uri="{FF2B5EF4-FFF2-40B4-BE49-F238E27FC236}">
                <a16:creationId xmlns:a16="http://schemas.microsoft.com/office/drawing/2014/main" id="{08E5D696-2F80-5A81-F797-A09643BE472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91898" y="4646564"/>
            <a:ext cx="1600799" cy="1600799"/>
          </a:xfrm>
          <a:prstGeom prst="rect">
            <a:avLst/>
          </a:prstGeom>
        </p:spPr>
      </p:pic>
      <p:pic>
        <p:nvPicPr>
          <p:cNvPr id="37" name="Imagem 36" descr="Placa azul com letras brancas&#10;&#10;O conteúdo gerado por IA pode estar incorreto.">
            <a:extLst>
              <a:ext uri="{FF2B5EF4-FFF2-40B4-BE49-F238E27FC236}">
                <a16:creationId xmlns:a16="http://schemas.microsoft.com/office/drawing/2014/main" id="{0698AC95-4111-071E-F254-3C6569FD45D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01895" y="4389477"/>
            <a:ext cx="1699365" cy="1699365"/>
          </a:xfrm>
          <a:prstGeom prst="rect">
            <a:avLst/>
          </a:prstGeom>
        </p:spPr>
      </p:pic>
      <p:pic>
        <p:nvPicPr>
          <p:cNvPr id="39" name="Gráfico 38">
            <a:extLst>
              <a:ext uri="{FF2B5EF4-FFF2-40B4-BE49-F238E27FC236}">
                <a16:creationId xmlns:a16="http://schemas.microsoft.com/office/drawing/2014/main" id="{45BB5B52-5438-500F-FAB9-533CDF7D04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328221" y="4433730"/>
            <a:ext cx="2057400" cy="2046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851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B7986B-9904-418B-2470-8EAB5EE3C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>
            <a:extLst>
              <a:ext uri="{FF2B5EF4-FFF2-40B4-BE49-F238E27FC236}">
                <a16:creationId xmlns:a16="http://schemas.microsoft.com/office/drawing/2014/main" id="{651A7813-FEBC-1D9A-E613-BE2968FE370E}"/>
              </a:ext>
            </a:extLst>
          </p:cNvPr>
          <p:cNvSpPr txBox="1"/>
          <p:nvPr/>
        </p:nvSpPr>
        <p:spPr>
          <a:xfrm>
            <a:off x="548640" y="274320"/>
            <a:ext cx="10469880" cy="531925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r>
              <a:rPr lang="pt-BR" sz="2600" b="1" i="0" dirty="0">
                <a:solidFill>
                  <a:srgbClr val="FFFFFF"/>
                </a:solidFill>
                <a:latin typeface="Montserrat"/>
              </a:rPr>
              <a:t>Milton Câmara</a:t>
            </a:r>
            <a:endParaRPr sz="2600" b="1" i="0" dirty="0">
              <a:solidFill>
                <a:srgbClr val="FFFFFF"/>
              </a:solidFill>
              <a:latin typeface="Montserrat"/>
            </a:endParaRPr>
          </a:p>
        </p:txBody>
      </p:sp>
      <p:pic>
        <p:nvPicPr>
          <p:cNvPr id="3" name="Elemento visual" descr="image.png">
            <a:extLst>
              <a:ext uri="{FF2B5EF4-FFF2-40B4-BE49-F238E27FC236}">
                <a16:creationId xmlns:a16="http://schemas.microsoft.com/office/drawing/2014/main" id="{C1C9E129-9A56-AAAB-1B8C-7719EAC0E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1265408" y="146304"/>
            <a:ext cx="923331" cy="923331"/>
          </a:xfrm>
          <a:prstGeom prst="rect">
            <a:avLst/>
          </a:prstGeom>
        </p:spPr>
      </p:pic>
      <p:pic>
        <p:nvPicPr>
          <p:cNvPr id="4" name="Elemento visual" descr="image.png">
            <a:extLst>
              <a:ext uri="{FF2B5EF4-FFF2-40B4-BE49-F238E27FC236}">
                <a16:creationId xmlns:a16="http://schemas.microsoft.com/office/drawing/2014/main" id="{D92F4C61-0B60-D20A-32D6-8B1A71C0F2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181" y="5765614"/>
            <a:ext cx="923331" cy="923331"/>
          </a:xfrm>
          <a:prstGeom prst="rect">
            <a:avLst/>
          </a:prstGeom>
        </p:spPr>
      </p:pic>
      <p:pic>
        <p:nvPicPr>
          <p:cNvPr id="5" name="Elemento visual" descr="image.png">
            <a:extLst>
              <a:ext uri="{FF2B5EF4-FFF2-40B4-BE49-F238E27FC236}">
                <a16:creationId xmlns:a16="http://schemas.microsoft.com/office/drawing/2014/main" id="{6F619D2C-5D8E-213A-2524-9C91986856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0668" y="5948272"/>
            <a:ext cx="923331" cy="923331"/>
          </a:xfrm>
          <a:prstGeom prst="rect">
            <a:avLst/>
          </a:prstGeom>
        </p:spPr>
      </p:pic>
      <p:pic>
        <p:nvPicPr>
          <p:cNvPr id="6" name="Logo UniAnchieta" descr="image.png">
            <a:extLst>
              <a:ext uri="{FF2B5EF4-FFF2-40B4-BE49-F238E27FC236}">
                <a16:creationId xmlns:a16="http://schemas.microsoft.com/office/drawing/2014/main" id="{AF000119-98F8-421F-E71F-D7E058AC98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54" y="6051766"/>
            <a:ext cx="2308138" cy="7138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59AAAB6-D0AB-B71A-C57F-380A2CF5A8D0}"/>
              </a:ext>
            </a:extLst>
          </p:cNvPr>
          <p:cNvSpPr txBox="1"/>
          <p:nvPr/>
        </p:nvSpPr>
        <p:spPr>
          <a:xfrm>
            <a:off x="548639" y="1092397"/>
            <a:ext cx="8107681" cy="447020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F8FE"/>
                </a:solidFill>
                <a:latin typeface="Montserrat"/>
              </a:rPr>
              <a:t>Microsoft Most </a:t>
            </a:r>
            <a:r>
              <a:rPr lang="pt-BR" sz="2400" b="1" dirty="0" err="1">
                <a:solidFill>
                  <a:srgbClr val="04F8FE"/>
                </a:solidFill>
                <a:latin typeface="Montserrat"/>
              </a:rPr>
              <a:t>Valuable</a:t>
            </a:r>
            <a:r>
              <a:rPr lang="pt-BR" sz="2400" b="1" dirty="0">
                <a:solidFill>
                  <a:srgbClr val="04F8FE"/>
                </a:solidFill>
                <a:latin typeface="Montserrat"/>
              </a:rPr>
              <a:t> Professional (MVP)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F8FE"/>
                </a:solidFill>
                <a:latin typeface="Montserrat"/>
              </a:rPr>
              <a:t>Head de Engenharia – </a:t>
            </a:r>
            <a:r>
              <a:rPr lang="pt-BR" sz="2400" b="1" dirty="0" err="1">
                <a:solidFill>
                  <a:srgbClr val="04F8FE"/>
                </a:solidFill>
                <a:latin typeface="Montserrat"/>
              </a:rPr>
              <a:t>Robbu</a:t>
            </a:r>
            <a:r>
              <a:rPr lang="pt-BR" sz="2400" b="1" dirty="0">
                <a:solidFill>
                  <a:srgbClr val="04F8FE"/>
                </a:solidFill>
                <a:latin typeface="Montserrat"/>
              </a:rPr>
              <a:t> Tecnologia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F8FE"/>
                </a:solidFill>
                <a:latin typeface="Montserrat"/>
              </a:rPr>
              <a:t>Arquiteto de Soluções/Software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F8FE"/>
                </a:solidFill>
                <a:latin typeface="Montserrat"/>
              </a:rPr>
              <a:t>+20 anos de experiência na área de Tecnologia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F8FE"/>
                </a:solidFill>
                <a:latin typeface="Montserrat"/>
              </a:rPr>
              <a:t>Community </a:t>
            </a:r>
            <a:r>
              <a:rPr lang="pt-BR" sz="2400" b="1" dirty="0" err="1">
                <a:solidFill>
                  <a:srgbClr val="04F8FE"/>
                </a:solidFill>
                <a:latin typeface="Montserrat"/>
              </a:rPr>
              <a:t>Leader</a:t>
            </a:r>
            <a:r>
              <a:rPr lang="pt-BR" sz="2400" b="1" dirty="0">
                <a:solidFill>
                  <a:srgbClr val="04F8FE"/>
                </a:solidFill>
                <a:latin typeface="Montserrat"/>
              </a:rPr>
              <a:t>, Autor Técnico e Palestrante</a:t>
            </a:r>
          </a:p>
        </p:txBody>
      </p:sp>
      <p:pic>
        <p:nvPicPr>
          <p:cNvPr id="31" name="Picture 2" descr="http://www.codeisahighway.com/content/images/2015/10/MVP_Logo_Horizontal_Preferred_Cyan300_RGB_300ppi.png">
            <a:extLst>
              <a:ext uri="{FF2B5EF4-FFF2-40B4-BE49-F238E27FC236}">
                <a16:creationId xmlns:a16="http://schemas.microsoft.com/office/drawing/2014/main" id="{F20FAF5D-D8BE-5847-B9F2-9DDD3554C9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6012" y="4088927"/>
            <a:ext cx="2052933" cy="828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imagem do perfil">
            <a:extLst>
              <a:ext uri="{FF2B5EF4-FFF2-40B4-BE49-F238E27FC236}">
                <a16:creationId xmlns:a16="http://schemas.microsoft.com/office/drawing/2014/main" id="{FC73076C-6B4F-586A-273A-BE88861069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9468" y="601092"/>
            <a:ext cx="2209800" cy="22098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2">
            <a:extLst>
              <a:ext uri="{FF2B5EF4-FFF2-40B4-BE49-F238E27FC236}">
                <a16:creationId xmlns:a16="http://schemas.microsoft.com/office/drawing/2014/main" id="{087ACEA4-651E-F159-0004-C9808C55D2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64016" y="3687097"/>
            <a:ext cx="2616821" cy="2569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1828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FB4F38-B71B-C414-D19A-2192B008E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>
            <a:extLst>
              <a:ext uri="{FF2B5EF4-FFF2-40B4-BE49-F238E27FC236}">
                <a16:creationId xmlns:a16="http://schemas.microsoft.com/office/drawing/2014/main" id="{0B5F9A07-8900-FE07-CE8B-AA76F2550644}"/>
              </a:ext>
            </a:extLst>
          </p:cNvPr>
          <p:cNvSpPr txBox="1"/>
          <p:nvPr/>
        </p:nvSpPr>
        <p:spPr>
          <a:xfrm>
            <a:off x="548640" y="274320"/>
            <a:ext cx="10469880" cy="531925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r>
              <a:rPr lang="pt-BR" sz="2600" b="1" dirty="0">
                <a:solidFill>
                  <a:srgbClr val="FFFFFF"/>
                </a:solidFill>
                <a:latin typeface="Montserrat"/>
              </a:rPr>
              <a:t>Participe de nossas iniciativas gratuitas</a:t>
            </a:r>
            <a:endParaRPr sz="2600" b="1" i="0" dirty="0">
              <a:solidFill>
                <a:srgbClr val="FFFFFF"/>
              </a:solidFill>
              <a:latin typeface="Montserrat"/>
            </a:endParaRPr>
          </a:p>
        </p:txBody>
      </p:sp>
      <p:pic>
        <p:nvPicPr>
          <p:cNvPr id="3" name="Elemento visual" descr="image.png">
            <a:extLst>
              <a:ext uri="{FF2B5EF4-FFF2-40B4-BE49-F238E27FC236}">
                <a16:creationId xmlns:a16="http://schemas.microsoft.com/office/drawing/2014/main" id="{30A96B50-17BF-56B5-E4B0-39EEF401EB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1265408" y="146304"/>
            <a:ext cx="923331" cy="923331"/>
          </a:xfrm>
          <a:prstGeom prst="rect">
            <a:avLst/>
          </a:prstGeom>
        </p:spPr>
      </p:pic>
      <p:pic>
        <p:nvPicPr>
          <p:cNvPr id="4" name="Elemento visual" descr="image.png">
            <a:extLst>
              <a:ext uri="{FF2B5EF4-FFF2-40B4-BE49-F238E27FC236}">
                <a16:creationId xmlns:a16="http://schemas.microsoft.com/office/drawing/2014/main" id="{39F606EB-FFD2-F30C-67F8-326BE39FF0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181" y="5765614"/>
            <a:ext cx="923331" cy="923331"/>
          </a:xfrm>
          <a:prstGeom prst="rect">
            <a:avLst/>
          </a:prstGeom>
        </p:spPr>
      </p:pic>
      <p:pic>
        <p:nvPicPr>
          <p:cNvPr id="5" name="Elemento visual" descr="image.png">
            <a:extLst>
              <a:ext uri="{FF2B5EF4-FFF2-40B4-BE49-F238E27FC236}">
                <a16:creationId xmlns:a16="http://schemas.microsoft.com/office/drawing/2014/main" id="{834CACCE-F41F-ABE0-6FBF-1A021E8AF5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0668" y="5948272"/>
            <a:ext cx="923331" cy="923331"/>
          </a:xfrm>
          <a:prstGeom prst="rect">
            <a:avLst/>
          </a:prstGeom>
        </p:spPr>
      </p:pic>
      <p:pic>
        <p:nvPicPr>
          <p:cNvPr id="6" name="Logo UniAnchieta" descr="image.png">
            <a:extLst>
              <a:ext uri="{FF2B5EF4-FFF2-40B4-BE49-F238E27FC236}">
                <a16:creationId xmlns:a16="http://schemas.microsoft.com/office/drawing/2014/main" id="{BDBBA08D-52F7-B5E4-5010-C44E2852D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54" y="6051766"/>
            <a:ext cx="2308138" cy="7138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A0A5B89-8089-E309-73CA-C0D3BDF27924}"/>
              </a:ext>
            </a:extLst>
          </p:cNvPr>
          <p:cNvSpPr txBox="1"/>
          <p:nvPr/>
        </p:nvSpPr>
        <p:spPr>
          <a:xfrm>
            <a:off x="548639" y="1544681"/>
            <a:ext cx="8107681" cy="447020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F8FE"/>
                </a:solidFill>
                <a:latin typeface="Montserrat"/>
              </a:rPr>
              <a:t>Eventos online e gratuitos</a:t>
            </a:r>
            <a:br>
              <a:rPr lang="pt-BR" sz="2400" b="1" dirty="0">
                <a:solidFill>
                  <a:srgbClr val="04F8FE"/>
                </a:solidFill>
                <a:latin typeface="Montserrat"/>
              </a:rPr>
            </a:br>
            <a:r>
              <a:rPr lang="pt-BR" sz="2400" b="1" u="sng" dirty="0">
                <a:solidFill>
                  <a:srgbClr val="04F8FE"/>
                </a:solidFill>
                <a:latin typeface="Montserrat"/>
              </a:rPr>
              <a:t>https://www.meetup.com/dotnet-Sao-Paulo/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b="1" dirty="0">
              <a:solidFill>
                <a:srgbClr val="04F8FE"/>
              </a:solidFill>
              <a:latin typeface="Montserrat"/>
            </a:endParaRPr>
          </a:p>
        </p:txBody>
      </p:sp>
      <p:pic>
        <p:nvPicPr>
          <p:cNvPr id="9" name="Imagem 8" descr="Código QR&#10;&#10;Descrição gerada automaticamente">
            <a:extLst>
              <a:ext uri="{FF2B5EF4-FFF2-40B4-BE49-F238E27FC236}">
                <a16:creationId xmlns:a16="http://schemas.microsoft.com/office/drawing/2014/main" id="{52EBF76F-BBCD-FC51-73FE-682C204DC6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7137" y="3497262"/>
            <a:ext cx="2362200" cy="236220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A50C2D35-255C-999E-B698-85F734CEA172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25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656320" y="1179625"/>
            <a:ext cx="2308138" cy="152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5108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E3D5EC-29F1-A141-430F-BA1DB8669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>
            <a:extLst>
              <a:ext uri="{FF2B5EF4-FFF2-40B4-BE49-F238E27FC236}">
                <a16:creationId xmlns:a16="http://schemas.microsoft.com/office/drawing/2014/main" id="{D3F914E5-49AD-6C6A-1B3F-7A1125A3F680}"/>
              </a:ext>
            </a:extLst>
          </p:cNvPr>
          <p:cNvSpPr txBox="1"/>
          <p:nvPr/>
        </p:nvSpPr>
        <p:spPr>
          <a:xfrm>
            <a:off x="548640" y="274320"/>
            <a:ext cx="10469880" cy="531925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r>
              <a:rPr lang="pt-BR" sz="2600" b="1" dirty="0">
                <a:solidFill>
                  <a:srgbClr val="FFFFFF"/>
                </a:solidFill>
                <a:latin typeface="Montserrat"/>
              </a:rPr>
              <a:t>Conteúdos desta apresentação</a:t>
            </a:r>
            <a:endParaRPr sz="2600" b="1" i="0" dirty="0">
              <a:solidFill>
                <a:srgbClr val="FFFFFF"/>
              </a:solidFill>
              <a:latin typeface="Montserrat"/>
            </a:endParaRPr>
          </a:p>
        </p:txBody>
      </p:sp>
      <p:pic>
        <p:nvPicPr>
          <p:cNvPr id="3" name="Elemento visual" descr="image.png">
            <a:extLst>
              <a:ext uri="{FF2B5EF4-FFF2-40B4-BE49-F238E27FC236}">
                <a16:creationId xmlns:a16="http://schemas.microsoft.com/office/drawing/2014/main" id="{5EECBFD0-EDED-AA2B-BB97-2F6DCFABB8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1265408" y="146304"/>
            <a:ext cx="923331" cy="923331"/>
          </a:xfrm>
          <a:prstGeom prst="rect">
            <a:avLst/>
          </a:prstGeom>
        </p:spPr>
      </p:pic>
      <p:pic>
        <p:nvPicPr>
          <p:cNvPr id="4" name="Elemento visual" descr="image.png">
            <a:extLst>
              <a:ext uri="{FF2B5EF4-FFF2-40B4-BE49-F238E27FC236}">
                <a16:creationId xmlns:a16="http://schemas.microsoft.com/office/drawing/2014/main" id="{4D76B711-BF8B-3966-FFE0-B7620958B3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181" y="5765614"/>
            <a:ext cx="923331" cy="923331"/>
          </a:xfrm>
          <a:prstGeom prst="rect">
            <a:avLst/>
          </a:prstGeom>
        </p:spPr>
      </p:pic>
      <p:pic>
        <p:nvPicPr>
          <p:cNvPr id="5" name="Elemento visual" descr="image.png">
            <a:extLst>
              <a:ext uri="{FF2B5EF4-FFF2-40B4-BE49-F238E27FC236}">
                <a16:creationId xmlns:a16="http://schemas.microsoft.com/office/drawing/2014/main" id="{FF522178-A830-48AA-48C0-E295CCD00A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0668" y="5948272"/>
            <a:ext cx="923331" cy="923331"/>
          </a:xfrm>
          <a:prstGeom prst="rect">
            <a:avLst/>
          </a:prstGeom>
        </p:spPr>
      </p:pic>
      <p:pic>
        <p:nvPicPr>
          <p:cNvPr id="6" name="Logo UniAnchieta" descr="image.png">
            <a:extLst>
              <a:ext uri="{FF2B5EF4-FFF2-40B4-BE49-F238E27FC236}">
                <a16:creationId xmlns:a16="http://schemas.microsoft.com/office/drawing/2014/main" id="{9B6379D4-4CCB-4DE8-1C9B-E456E496FA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54" y="6051766"/>
            <a:ext cx="2308138" cy="7138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67C6BE1-EE7B-ADD8-D5D9-B7E25BEF7ECE}"/>
              </a:ext>
            </a:extLst>
          </p:cNvPr>
          <p:cNvSpPr txBox="1"/>
          <p:nvPr/>
        </p:nvSpPr>
        <p:spPr>
          <a:xfrm>
            <a:off x="548640" y="4841187"/>
            <a:ext cx="11220574" cy="117369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pt-BR" sz="2000" b="1" u="sng" dirty="0">
                <a:solidFill>
                  <a:srgbClr val="04F8FE"/>
                </a:solidFill>
                <a:latin typeface="Montserrat"/>
              </a:rPr>
              <a:t>github.com/</a:t>
            </a:r>
            <a:r>
              <a:rPr lang="pt-BR" sz="2000" b="1" u="sng" dirty="0" err="1">
                <a:solidFill>
                  <a:srgbClr val="04F8FE"/>
                </a:solidFill>
                <a:latin typeface="Montserrat"/>
              </a:rPr>
              <a:t>renatogroffe</a:t>
            </a:r>
            <a:r>
              <a:rPr lang="pt-BR" sz="2000" b="1" u="sng" dirty="0">
                <a:solidFill>
                  <a:srgbClr val="04F8FE"/>
                </a:solidFill>
                <a:latin typeface="Montserrat"/>
              </a:rPr>
              <a:t>/kubernetes_tech-week-unianchieta-2026-10</a:t>
            </a:r>
            <a:endParaRPr lang="pt-BR" sz="2000" b="1" dirty="0">
              <a:solidFill>
                <a:srgbClr val="04F8FE"/>
              </a:solidFill>
              <a:latin typeface="Montserrat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F98D944-9044-3274-DBDE-D6C60C95C1BA}"/>
              </a:ext>
            </a:extLst>
          </p:cNvPr>
          <p:cNvSpPr txBox="1">
            <a:spLocks/>
          </p:cNvSpPr>
          <p:nvPr/>
        </p:nvSpPr>
        <p:spPr>
          <a:xfrm>
            <a:off x="7936424" y="2335256"/>
            <a:ext cx="3676995" cy="1173697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1667"/>
              </a:lnSpc>
              <a:spcAft>
                <a:spcPts val="11004"/>
              </a:spcAft>
              <a:buNone/>
            </a:pPr>
            <a:r>
              <a:rPr lang="pt-BR" sz="2800" dirty="0">
                <a:solidFill>
                  <a:schemeClr val="bg1"/>
                </a:solidFill>
                <a:latin typeface="Maven Pro Black" pitchFamily="2" charset="77"/>
                <a:cs typeface="Maven Pro Regular" pitchFamily="34" charset="-120"/>
              </a:rPr>
              <a:t>Deixem um star </a:t>
            </a:r>
            <a:r>
              <a:rPr lang="pt-BR" sz="2800" dirty="0">
                <a:solidFill>
                  <a:schemeClr val="bg1"/>
                </a:solidFill>
                <a:latin typeface="Maven Pro Regular" pitchFamily="34" charset="0"/>
                <a:cs typeface="Maven Pro Regular" pitchFamily="34" charset="-120"/>
              </a:rPr>
              <a:t>⭐</a:t>
            </a:r>
            <a:r>
              <a:rPr lang="pt-BR" sz="2800" dirty="0">
                <a:solidFill>
                  <a:schemeClr val="bg1"/>
                </a:solidFill>
                <a:latin typeface="Maven Pro Black" pitchFamily="2" charset="77"/>
                <a:cs typeface="Maven Pro Regular" pitchFamily="34" charset="-12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Maven Pro Black" pitchFamily="2" charset="77"/>
                <a:cs typeface="Maven Pro Regular" pitchFamily="34" charset="-120"/>
              </a:rPr>
              <a:t>apoiando</a:t>
            </a:r>
            <a:endParaRPr lang="pt-BR" sz="2800" dirty="0">
              <a:solidFill>
                <a:schemeClr val="bg1"/>
              </a:solidFill>
              <a:latin typeface="Maven Pro Black" pitchFamily="2" charset="77"/>
              <a:cs typeface="Maven Pro Regular" pitchFamily="34" charset="-120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49AE6D98-30CF-C2F4-A497-46595FFC15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5653" y="1330442"/>
            <a:ext cx="2986548" cy="2986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1265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295" y="0"/>
            <a:ext cx="5488357" cy="6858000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>
            <a:off x="6705295" y="0"/>
            <a:ext cx="0" cy="6858000"/>
          </a:xfrm>
          <a:prstGeom prst="line">
            <a:avLst/>
          </a:prstGeom>
          <a:ln w="12700">
            <a:solidFill>
              <a:srgbClr val="004CFB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0" y="6007608"/>
            <a:ext cx="6705295" cy="0"/>
          </a:xfrm>
          <a:prstGeom prst="line">
            <a:avLst/>
          </a:prstGeom>
          <a:ln w="12700">
            <a:solidFill>
              <a:srgbClr val="004CFB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912442" y="939800"/>
            <a:ext cx="5488358" cy="533398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spcAft>
                <a:spcPts val="0"/>
              </a:spcAft>
            </a:pPr>
            <a:r>
              <a:rPr lang="pt-BR" sz="3200" b="1" i="0" dirty="0">
                <a:solidFill>
                  <a:srgbClr val="FFFFFF"/>
                </a:solidFill>
                <a:latin typeface="Montserrat"/>
              </a:rPr>
              <a:t>Agenda</a:t>
            </a:r>
            <a:endParaRPr sz="3200" b="1" i="0" dirty="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01072" y="1789471"/>
            <a:ext cx="5316847" cy="337688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04F8FE"/>
                </a:solidFill>
                <a:latin typeface="Montserrat"/>
              </a:rPr>
              <a:t>Monolitos x Aplicações Modernas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04F8FE"/>
                </a:solidFill>
                <a:latin typeface="Montserrat"/>
              </a:rPr>
              <a:t>Cloud </a:t>
            </a:r>
            <a:r>
              <a:rPr lang="pt-BR" sz="2000" b="1" dirty="0" err="1">
                <a:solidFill>
                  <a:srgbClr val="04F8FE"/>
                </a:solidFill>
                <a:latin typeface="Montserrat"/>
              </a:rPr>
              <a:t>Native</a:t>
            </a:r>
            <a:r>
              <a:rPr lang="pt-BR" sz="2000" b="1" dirty="0">
                <a:solidFill>
                  <a:srgbClr val="04F8FE"/>
                </a:solidFill>
                <a:latin typeface="Montserrat"/>
              </a:rPr>
              <a:t>, Escalabilidade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04F8FE"/>
                </a:solidFill>
                <a:latin typeface="Montserrat"/>
              </a:rPr>
              <a:t>Containers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04F8FE"/>
                </a:solidFill>
                <a:latin typeface="Montserrat"/>
              </a:rPr>
              <a:t>Microsoft Azure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 err="1">
                <a:solidFill>
                  <a:srgbClr val="04F8FE"/>
                </a:solidFill>
                <a:latin typeface="Montserrat"/>
              </a:rPr>
              <a:t>Kubernetes</a:t>
            </a:r>
            <a:r>
              <a:rPr lang="pt-BR" sz="2000" b="1" dirty="0">
                <a:solidFill>
                  <a:srgbClr val="04F8FE"/>
                </a:solidFill>
                <a:latin typeface="Montserrat"/>
              </a:rPr>
              <a:t>: uma visão geral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04F8FE"/>
                </a:solidFill>
                <a:latin typeface="Montserrat"/>
              </a:rPr>
              <a:t>Monitoramento e </a:t>
            </a:r>
            <a:r>
              <a:rPr lang="pt-BR" sz="2000" b="1" dirty="0" err="1">
                <a:solidFill>
                  <a:srgbClr val="04F8FE"/>
                </a:solidFill>
                <a:latin typeface="Montserrat"/>
              </a:rPr>
              <a:t>Observabilidade</a:t>
            </a:r>
            <a:endParaRPr sz="2000" b="1" i="0" dirty="0">
              <a:solidFill>
                <a:srgbClr val="04F8FE"/>
              </a:solidFill>
              <a:latin typeface="Montserrat"/>
            </a:endParaRPr>
          </a:p>
        </p:txBody>
      </p:sp>
      <p:pic>
        <p:nvPicPr>
          <p:cNvPr id="7" name="Elemento visual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480560" y="228600"/>
            <a:ext cx="923331" cy="923331"/>
          </a:xfrm>
          <a:prstGeom prst="rect">
            <a:avLst/>
          </a:prstGeom>
        </p:spPr>
      </p:pic>
      <p:pic>
        <p:nvPicPr>
          <p:cNvPr id="8" name="Elemento visual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-256032" y="2377440"/>
            <a:ext cx="923331" cy="923331"/>
          </a:xfrm>
          <a:prstGeom prst="rect">
            <a:avLst/>
          </a:prstGeom>
        </p:spPr>
      </p:pic>
      <p:pic>
        <p:nvPicPr>
          <p:cNvPr id="9" name="Elemento visual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5394960"/>
            <a:ext cx="923331" cy="923331"/>
          </a:xfrm>
          <a:prstGeom prst="rect">
            <a:avLst/>
          </a:prstGeom>
        </p:spPr>
      </p:pic>
      <p:pic>
        <p:nvPicPr>
          <p:cNvPr id="10" name="Elemento visual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5181" y="5765614"/>
            <a:ext cx="923331" cy="923331"/>
          </a:xfrm>
          <a:prstGeom prst="rect">
            <a:avLst/>
          </a:prstGeom>
        </p:spPr>
      </p:pic>
      <p:pic>
        <p:nvPicPr>
          <p:cNvPr id="11" name="Logo UniAnchieta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654" y="6051766"/>
            <a:ext cx="2308138" cy="713858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3F656E7B-47E2-AAB9-DAB2-11F8777446C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9358" r="31153" b="27022"/>
          <a:stretch/>
        </p:blipFill>
        <p:spPr>
          <a:xfrm>
            <a:off x="2870954" y="3996088"/>
            <a:ext cx="2111349" cy="198371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728990-25B8-D91A-8F1A-1EDEF0E51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>
            <a:extLst>
              <a:ext uri="{FF2B5EF4-FFF2-40B4-BE49-F238E27FC236}">
                <a16:creationId xmlns:a16="http://schemas.microsoft.com/office/drawing/2014/main" id="{3EE5DD18-1583-6A91-6F31-62244B803CB1}"/>
              </a:ext>
            </a:extLst>
          </p:cNvPr>
          <p:cNvSpPr txBox="1"/>
          <p:nvPr/>
        </p:nvSpPr>
        <p:spPr>
          <a:xfrm>
            <a:off x="548640" y="274320"/>
            <a:ext cx="10469880" cy="531925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r>
              <a:rPr lang="pt-BR" sz="2600" b="1" dirty="0">
                <a:solidFill>
                  <a:srgbClr val="FFFFFF"/>
                </a:solidFill>
                <a:latin typeface="Montserrat"/>
              </a:rPr>
              <a:t>Monolitos em software</a:t>
            </a:r>
            <a:endParaRPr sz="2600" b="1" i="0" dirty="0">
              <a:solidFill>
                <a:srgbClr val="FFFFFF"/>
              </a:solidFill>
              <a:latin typeface="Montserrat"/>
            </a:endParaRPr>
          </a:p>
        </p:txBody>
      </p:sp>
      <p:pic>
        <p:nvPicPr>
          <p:cNvPr id="3" name="Elemento visual" descr="image.png">
            <a:extLst>
              <a:ext uri="{FF2B5EF4-FFF2-40B4-BE49-F238E27FC236}">
                <a16:creationId xmlns:a16="http://schemas.microsoft.com/office/drawing/2014/main" id="{52358CF8-B965-1DB0-9E78-695100772C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1265408" y="146304"/>
            <a:ext cx="923331" cy="923331"/>
          </a:xfrm>
          <a:prstGeom prst="rect">
            <a:avLst/>
          </a:prstGeom>
        </p:spPr>
      </p:pic>
      <p:pic>
        <p:nvPicPr>
          <p:cNvPr id="4" name="Elemento visual" descr="image.png">
            <a:extLst>
              <a:ext uri="{FF2B5EF4-FFF2-40B4-BE49-F238E27FC236}">
                <a16:creationId xmlns:a16="http://schemas.microsoft.com/office/drawing/2014/main" id="{C1E08EE2-C015-B073-9A1E-D97E83C778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181" y="5765614"/>
            <a:ext cx="923331" cy="923331"/>
          </a:xfrm>
          <a:prstGeom prst="rect">
            <a:avLst/>
          </a:prstGeom>
        </p:spPr>
      </p:pic>
      <p:pic>
        <p:nvPicPr>
          <p:cNvPr id="5" name="Elemento visual" descr="image.png">
            <a:extLst>
              <a:ext uri="{FF2B5EF4-FFF2-40B4-BE49-F238E27FC236}">
                <a16:creationId xmlns:a16="http://schemas.microsoft.com/office/drawing/2014/main" id="{EA36B160-7D68-21E3-380A-0507EBB353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0668" y="5948272"/>
            <a:ext cx="923331" cy="923331"/>
          </a:xfrm>
          <a:prstGeom prst="rect">
            <a:avLst/>
          </a:prstGeom>
        </p:spPr>
      </p:pic>
      <p:pic>
        <p:nvPicPr>
          <p:cNvPr id="6" name="Logo UniAnchieta" descr="image.png">
            <a:extLst>
              <a:ext uri="{FF2B5EF4-FFF2-40B4-BE49-F238E27FC236}">
                <a16:creationId xmlns:a16="http://schemas.microsoft.com/office/drawing/2014/main" id="{DAAE2EA4-7F6E-226B-DC2D-46E5E6100B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54" y="6051766"/>
            <a:ext cx="2308138" cy="7138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BBA14B5-EC34-5E15-AD7F-0AF8E2FABB69}"/>
              </a:ext>
            </a:extLst>
          </p:cNvPr>
          <p:cNvSpPr txBox="1"/>
          <p:nvPr/>
        </p:nvSpPr>
        <p:spPr>
          <a:xfrm>
            <a:off x="548639" y="2236839"/>
            <a:ext cx="8107681" cy="332576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F8FE"/>
                </a:solidFill>
                <a:latin typeface="Montserrat"/>
              </a:rPr>
              <a:t>Modelagem de uma aplicação monolítica como uma unidade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b="1" dirty="0">
              <a:solidFill>
                <a:srgbClr val="04F8FE"/>
              </a:solidFill>
              <a:latin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F8FE"/>
                </a:solidFill>
                <a:latin typeface="Montserrat"/>
              </a:rPr>
              <a:t>Forte ligação entre funcionalidades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b="1" dirty="0">
              <a:solidFill>
                <a:srgbClr val="04F8FE"/>
              </a:solidFill>
              <a:latin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F8FE"/>
                </a:solidFill>
                <a:latin typeface="Montserrat"/>
              </a:rPr>
              <a:t>Arquitetura multicamadas em projetos Web</a:t>
            </a:r>
          </a:p>
        </p:txBody>
      </p:sp>
      <p:pic>
        <p:nvPicPr>
          <p:cNvPr id="25" name="Imagem 24" descr="Uma imagem contendo natureza, edifício, ao ar livre, céu noturno&#10;&#10;Descrição gerada automaticamente">
            <a:extLst>
              <a:ext uri="{FF2B5EF4-FFF2-40B4-BE49-F238E27FC236}">
                <a16:creationId xmlns:a16="http://schemas.microsoft.com/office/drawing/2014/main" id="{AF6DEEF9-17EA-CFB8-259D-663059226E4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7730" t="5334" r="10750"/>
          <a:stretch/>
        </p:blipFill>
        <p:spPr>
          <a:xfrm>
            <a:off x="8878528" y="2346369"/>
            <a:ext cx="2642230" cy="2325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2324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885397-CB0C-0FC3-4468-07BB12675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>
            <a:extLst>
              <a:ext uri="{FF2B5EF4-FFF2-40B4-BE49-F238E27FC236}">
                <a16:creationId xmlns:a16="http://schemas.microsoft.com/office/drawing/2014/main" id="{002326B6-5BFB-3370-FC0B-1C06A39C5B51}"/>
              </a:ext>
            </a:extLst>
          </p:cNvPr>
          <p:cNvSpPr txBox="1"/>
          <p:nvPr/>
        </p:nvSpPr>
        <p:spPr>
          <a:xfrm>
            <a:off x="548640" y="274320"/>
            <a:ext cx="10469880" cy="531925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r>
              <a:rPr lang="pt-BR" sz="2600" b="1" dirty="0">
                <a:solidFill>
                  <a:srgbClr val="FFFFFF"/>
                </a:solidFill>
                <a:latin typeface="Montserrat"/>
              </a:rPr>
              <a:t>Desafios da Arquitetura Monolítica</a:t>
            </a:r>
            <a:endParaRPr sz="2600" b="1" i="0" dirty="0">
              <a:solidFill>
                <a:srgbClr val="FFFFFF"/>
              </a:solidFill>
              <a:latin typeface="Montserrat"/>
            </a:endParaRPr>
          </a:p>
        </p:txBody>
      </p:sp>
      <p:pic>
        <p:nvPicPr>
          <p:cNvPr id="3" name="Elemento visual" descr="image.png">
            <a:extLst>
              <a:ext uri="{FF2B5EF4-FFF2-40B4-BE49-F238E27FC236}">
                <a16:creationId xmlns:a16="http://schemas.microsoft.com/office/drawing/2014/main" id="{A21F3085-BDF4-0995-4A5A-D8C8A9F812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1265408" y="146304"/>
            <a:ext cx="923331" cy="923331"/>
          </a:xfrm>
          <a:prstGeom prst="rect">
            <a:avLst/>
          </a:prstGeom>
        </p:spPr>
      </p:pic>
      <p:pic>
        <p:nvPicPr>
          <p:cNvPr id="4" name="Elemento visual" descr="image.png">
            <a:extLst>
              <a:ext uri="{FF2B5EF4-FFF2-40B4-BE49-F238E27FC236}">
                <a16:creationId xmlns:a16="http://schemas.microsoft.com/office/drawing/2014/main" id="{9595F60D-114C-4765-B289-85BAE37C3C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181" y="5765614"/>
            <a:ext cx="923331" cy="923331"/>
          </a:xfrm>
          <a:prstGeom prst="rect">
            <a:avLst/>
          </a:prstGeom>
        </p:spPr>
      </p:pic>
      <p:pic>
        <p:nvPicPr>
          <p:cNvPr id="5" name="Elemento visual" descr="image.png">
            <a:extLst>
              <a:ext uri="{FF2B5EF4-FFF2-40B4-BE49-F238E27FC236}">
                <a16:creationId xmlns:a16="http://schemas.microsoft.com/office/drawing/2014/main" id="{0CE99D90-EA65-81B9-FCB1-573408A440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0668" y="5948272"/>
            <a:ext cx="923331" cy="923331"/>
          </a:xfrm>
          <a:prstGeom prst="rect">
            <a:avLst/>
          </a:prstGeom>
        </p:spPr>
      </p:pic>
      <p:pic>
        <p:nvPicPr>
          <p:cNvPr id="6" name="Logo UniAnchieta" descr="image.png">
            <a:extLst>
              <a:ext uri="{FF2B5EF4-FFF2-40B4-BE49-F238E27FC236}">
                <a16:creationId xmlns:a16="http://schemas.microsoft.com/office/drawing/2014/main" id="{B67DB57F-59D3-D85B-C7FE-35B2D08275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54" y="6051766"/>
            <a:ext cx="2308138" cy="7138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3912D71-23E5-D89A-2E23-7B0A0CC57669}"/>
              </a:ext>
            </a:extLst>
          </p:cNvPr>
          <p:cNvSpPr txBox="1"/>
          <p:nvPr/>
        </p:nvSpPr>
        <p:spPr>
          <a:xfrm>
            <a:off x="548639" y="1199535"/>
            <a:ext cx="8107681" cy="43630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F8FE"/>
                </a:solidFill>
                <a:latin typeface="Montserrat"/>
              </a:rPr>
              <a:t>Alto acoplamento entre componentes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b="1" dirty="0">
              <a:solidFill>
                <a:srgbClr val="04F8FE"/>
              </a:solidFill>
              <a:latin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F8FE"/>
                </a:solidFill>
                <a:latin typeface="Montserrat"/>
              </a:rPr>
              <a:t>Impacto de um novo release na atualização de todas as partes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b="1" dirty="0">
              <a:solidFill>
                <a:srgbClr val="04F8FE"/>
              </a:solidFill>
              <a:latin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F8FE"/>
                </a:solidFill>
                <a:latin typeface="Montserrat"/>
              </a:rPr>
              <a:t>Dificuldades de evolução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b="1" dirty="0">
              <a:solidFill>
                <a:srgbClr val="04F8FE"/>
              </a:solidFill>
              <a:latin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F8FE"/>
                </a:solidFill>
                <a:latin typeface="Montserrat"/>
              </a:rPr>
              <a:t>Problemas relacionados ao acoplamento em código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b="1" dirty="0">
              <a:solidFill>
                <a:srgbClr val="04F8FE"/>
              </a:solidFill>
              <a:latin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F8FE"/>
                </a:solidFill>
                <a:latin typeface="Montserrat"/>
              </a:rPr>
              <a:t>Desafios na evolução do código</a:t>
            </a:r>
          </a:p>
        </p:txBody>
      </p:sp>
      <p:pic>
        <p:nvPicPr>
          <p:cNvPr id="25" name="Imagem 24" descr="Uma imagem contendo natureza, edifício, ao ar livre, céu noturno&#10;&#10;Descrição gerada automaticamente">
            <a:extLst>
              <a:ext uri="{FF2B5EF4-FFF2-40B4-BE49-F238E27FC236}">
                <a16:creationId xmlns:a16="http://schemas.microsoft.com/office/drawing/2014/main" id="{35113876-0EA6-BBD1-6E31-2C5608A0C20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7730" t="5334" r="10750"/>
          <a:stretch/>
        </p:blipFill>
        <p:spPr>
          <a:xfrm>
            <a:off x="8878528" y="2346369"/>
            <a:ext cx="2642230" cy="2325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1590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ACB4A3-7CC6-2F9C-2053-AAB1A9450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>
            <a:extLst>
              <a:ext uri="{FF2B5EF4-FFF2-40B4-BE49-F238E27FC236}">
                <a16:creationId xmlns:a16="http://schemas.microsoft.com/office/drawing/2014/main" id="{35050F1C-AE5D-7527-D460-4DB586045DBD}"/>
              </a:ext>
            </a:extLst>
          </p:cNvPr>
          <p:cNvSpPr txBox="1"/>
          <p:nvPr/>
        </p:nvSpPr>
        <p:spPr>
          <a:xfrm>
            <a:off x="548640" y="274320"/>
            <a:ext cx="10469880" cy="531925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r>
              <a:rPr lang="pt-BR" sz="2600" b="1" dirty="0">
                <a:solidFill>
                  <a:srgbClr val="FFFFFF"/>
                </a:solidFill>
                <a:latin typeface="Montserrat"/>
              </a:rPr>
              <a:t>Aplicações modernas: alguns requisitos importantes</a:t>
            </a:r>
            <a:endParaRPr sz="2600" b="1" i="0" dirty="0">
              <a:solidFill>
                <a:srgbClr val="FFFFFF"/>
              </a:solidFill>
              <a:latin typeface="Montserrat"/>
            </a:endParaRPr>
          </a:p>
        </p:txBody>
      </p:sp>
      <p:pic>
        <p:nvPicPr>
          <p:cNvPr id="3" name="Elemento visual" descr="image.png">
            <a:extLst>
              <a:ext uri="{FF2B5EF4-FFF2-40B4-BE49-F238E27FC236}">
                <a16:creationId xmlns:a16="http://schemas.microsoft.com/office/drawing/2014/main" id="{F14CA938-3092-4C1D-CA53-4CFD599CFF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1265408" y="146304"/>
            <a:ext cx="923331" cy="923331"/>
          </a:xfrm>
          <a:prstGeom prst="rect">
            <a:avLst/>
          </a:prstGeom>
        </p:spPr>
      </p:pic>
      <p:pic>
        <p:nvPicPr>
          <p:cNvPr id="4" name="Elemento visual" descr="image.png">
            <a:extLst>
              <a:ext uri="{FF2B5EF4-FFF2-40B4-BE49-F238E27FC236}">
                <a16:creationId xmlns:a16="http://schemas.microsoft.com/office/drawing/2014/main" id="{46A6760D-DF4B-41E6-BC6A-28B215F4B8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181" y="5765614"/>
            <a:ext cx="923331" cy="923331"/>
          </a:xfrm>
          <a:prstGeom prst="rect">
            <a:avLst/>
          </a:prstGeom>
        </p:spPr>
      </p:pic>
      <p:pic>
        <p:nvPicPr>
          <p:cNvPr id="5" name="Elemento visual" descr="image.png">
            <a:extLst>
              <a:ext uri="{FF2B5EF4-FFF2-40B4-BE49-F238E27FC236}">
                <a16:creationId xmlns:a16="http://schemas.microsoft.com/office/drawing/2014/main" id="{5E2BE9DE-70A4-C567-F071-282DA68865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0668" y="5948272"/>
            <a:ext cx="923331" cy="923331"/>
          </a:xfrm>
          <a:prstGeom prst="rect">
            <a:avLst/>
          </a:prstGeom>
        </p:spPr>
      </p:pic>
      <p:pic>
        <p:nvPicPr>
          <p:cNvPr id="6" name="Logo UniAnchieta" descr="image.png">
            <a:extLst>
              <a:ext uri="{FF2B5EF4-FFF2-40B4-BE49-F238E27FC236}">
                <a16:creationId xmlns:a16="http://schemas.microsoft.com/office/drawing/2014/main" id="{7633F8F5-BBCC-665D-A16B-FE4F7786C0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54" y="6051766"/>
            <a:ext cx="2308138" cy="7138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14FB1A8-47A7-DC49-EAEA-E5D9CC034B3B}"/>
              </a:ext>
            </a:extLst>
          </p:cNvPr>
          <p:cNvSpPr txBox="1"/>
          <p:nvPr/>
        </p:nvSpPr>
        <p:spPr>
          <a:xfrm>
            <a:off x="548639" y="1484671"/>
            <a:ext cx="8107681" cy="43630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F8FE"/>
                </a:solidFill>
                <a:latin typeface="Montserrat"/>
              </a:rPr>
              <a:t>Alta disponibilidade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b="1" dirty="0">
              <a:solidFill>
                <a:srgbClr val="04F8FE"/>
              </a:solidFill>
              <a:latin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F8FE"/>
                </a:solidFill>
                <a:latin typeface="Montserrat"/>
              </a:rPr>
              <a:t>Escalabilidade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b="1" dirty="0">
              <a:solidFill>
                <a:srgbClr val="04F8FE"/>
              </a:solidFill>
              <a:latin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F8FE"/>
                </a:solidFill>
                <a:latin typeface="Montserrat"/>
              </a:rPr>
              <a:t>Comunicação assíncrona, Mensageria, Eventos...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b="1" dirty="0">
              <a:solidFill>
                <a:srgbClr val="04F8FE"/>
              </a:solidFill>
              <a:latin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F8FE"/>
                </a:solidFill>
                <a:latin typeface="Montserrat"/>
              </a:rPr>
              <a:t>Containers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b="1" dirty="0">
              <a:solidFill>
                <a:srgbClr val="04F8FE"/>
              </a:solidFill>
              <a:latin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 err="1">
                <a:solidFill>
                  <a:srgbClr val="04F8FE"/>
                </a:solidFill>
                <a:latin typeface="Montserrat"/>
              </a:rPr>
              <a:t>Microservices</a:t>
            </a:r>
            <a:endParaRPr lang="pt-BR" sz="2400" b="1" dirty="0">
              <a:solidFill>
                <a:srgbClr val="04F8FE"/>
              </a:solidFill>
              <a:latin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b="1" dirty="0">
              <a:solidFill>
                <a:srgbClr val="04F8FE"/>
              </a:solidFill>
              <a:latin typeface="Montserrat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5E912272-C7E0-0107-9EE4-0E676C1BC04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7637" y="2811462"/>
            <a:ext cx="2378764" cy="1852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5969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1C6900-78E8-0DD2-277F-FF45B1C08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>
            <a:extLst>
              <a:ext uri="{FF2B5EF4-FFF2-40B4-BE49-F238E27FC236}">
                <a16:creationId xmlns:a16="http://schemas.microsoft.com/office/drawing/2014/main" id="{8C083DFC-F306-AC6C-219A-E84E72A9F470}"/>
              </a:ext>
            </a:extLst>
          </p:cNvPr>
          <p:cNvSpPr txBox="1"/>
          <p:nvPr/>
        </p:nvSpPr>
        <p:spPr>
          <a:xfrm>
            <a:off x="548640" y="274320"/>
            <a:ext cx="10469880" cy="531925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r>
              <a:rPr lang="pt-BR" sz="2600" b="1" dirty="0" err="1">
                <a:solidFill>
                  <a:srgbClr val="FFFFFF"/>
                </a:solidFill>
                <a:latin typeface="Montserrat"/>
              </a:rPr>
              <a:t>Microservices</a:t>
            </a:r>
            <a:r>
              <a:rPr lang="pt-BR" sz="2600" b="1" dirty="0">
                <a:solidFill>
                  <a:srgbClr val="FFFFFF"/>
                </a:solidFill>
                <a:latin typeface="Montserrat"/>
              </a:rPr>
              <a:t>: motivações</a:t>
            </a:r>
            <a:endParaRPr sz="2600" b="1" i="0" dirty="0">
              <a:solidFill>
                <a:srgbClr val="FFFFFF"/>
              </a:solidFill>
              <a:latin typeface="Montserrat"/>
            </a:endParaRPr>
          </a:p>
        </p:txBody>
      </p:sp>
      <p:pic>
        <p:nvPicPr>
          <p:cNvPr id="3" name="Elemento visual" descr="image.png">
            <a:extLst>
              <a:ext uri="{FF2B5EF4-FFF2-40B4-BE49-F238E27FC236}">
                <a16:creationId xmlns:a16="http://schemas.microsoft.com/office/drawing/2014/main" id="{31360859-E564-0F9D-34D3-BAD8416CE8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1265408" y="146304"/>
            <a:ext cx="923331" cy="923331"/>
          </a:xfrm>
          <a:prstGeom prst="rect">
            <a:avLst/>
          </a:prstGeom>
        </p:spPr>
      </p:pic>
      <p:pic>
        <p:nvPicPr>
          <p:cNvPr id="4" name="Elemento visual" descr="image.png">
            <a:extLst>
              <a:ext uri="{FF2B5EF4-FFF2-40B4-BE49-F238E27FC236}">
                <a16:creationId xmlns:a16="http://schemas.microsoft.com/office/drawing/2014/main" id="{A2A8C2AC-F4C2-BDDC-E197-185B9C8946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181" y="5765614"/>
            <a:ext cx="923331" cy="923331"/>
          </a:xfrm>
          <a:prstGeom prst="rect">
            <a:avLst/>
          </a:prstGeom>
        </p:spPr>
      </p:pic>
      <p:pic>
        <p:nvPicPr>
          <p:cNvPr id="5" name="Elemento visual" descr="image.png">
            <a:extLst>
              <a:ext uri="{FF2B5EF4-FFF2-40B4-BE49-F238E27FC236}">
                <a16:creationId xmlns:a16="http://schemas.microsoft.com/office/drawing/2014/main" id="{B2D37D1A-CF7B-7C8A-7A9D-4CA163B0A6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0668" y="5948272"/>
            <a:ext cx="923331" cy="923331"/>
          </a:xfrm>
          <a:prstGeom prst="rect">
            <a:avLst/>
          </a:prstGeom>
        </p:spPr>
      </p:pic>
      <p:pic>
        <p:nvPicPr>
          <p:cNvPr id="6" name="Logo UniAnchieta" descr="image.png">
            <a:extLst>
              <a:ext uri="{FF2B5EF4-FFF2-40B4-BE49-F238E27FC236}">
                <a16:creationId xmlns:a16="http://schemas.microsoft.com/office/drawing/2014/main" id="{89F3019F-F7FE-7593-00AC-2CEB5B67A4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54" y="6051766"/>
            <a:ext cx="2308138" cy="7138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8C00AB5-B428-3A19-A9D6-9C7259D1DEBA}"/>
              </a:ext>
            </a:extLst>
          </p:cNvPr>
          <p:cNvSpPr txBox="1"/>
          <p:nvPr/>
        </p:nvSpPr>
        <p:spPr>
          <a:xfrm>
            <a:off x="548639" y="1484671"/>
            <a:ext cx="8107681" cy="43630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F8FE"/>
                </a:solidFill>
                <a:latin typeface="Montserrat"/>
              </a:rPr>
              <a:t>Adoção de novas tecnologias com maior facilidade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b="1" dirty="0">
              <a:solidFill>
                <a:srgbClr val="04F8FE"/>
              </a:solidFill>
              <a:latin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F8FE"/>
                </a:solidFill>
                <a:latin typeface="Montserrat"/>
              </a:rPr>
              <a:t>Alta disponibilidade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b="1" dirty="0">
              <a:solidFill>
                <a:srgbClr val="04F8FE"/>
              </a:solidFill>
              <a:latin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F8FE"/>
                </a:solidFill>
                <a:latin typeface="Montserrat"/>
              </a:rPr>
              <a:t>Escalabilidade horizontal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b="1" dirty="0">
              <a:solidFill>
                <a:srgbClr val="04F8FE"/>
              </a:solidFill>
              <a:latin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F8FE"/>
                </a:solidFill>
                <a:latin typeface="Montserrat"/>
              </a:rPr>
              <a:t>Facilidades no Deployment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b="1" dirty="0">
              <a:solidFill>
                <a:srgbClr val="04F8FE"/>
              </a:solidFill>
              <a:latin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F8FE"/>
                </a:solidFill>
                <a:latin typeface="Montserrat"/>
              </a:rPr>
              <a:t>Melhor organização do trabalho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b="1" dirty="0">
              <a:solidFill>
                <a:srgbClr val="04F8FE"/>
              </a:solidFill>
              <a:latin typeface="Montserrat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0FC67CD-1801-7DFB-B87B-446C3A6F956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7637" y="2811462"/>
            <a:ext cx="2378764" cy="1852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3568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AD9832-0D88-54C2-1586-717F7A7FD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>
            <a:extLst>
              <a:ext uri="{FF2B5EF4-FFF2-40B4-BE49-F238E27FC236}">
                <a16:creationId xmlns:a16="http://schemas.microsoft.com/office/drawing/2014/main" id="{33E3AC1C-79E4-3B72-ED00-D71F42ADFB51}"/>
              </a:ext>
            </a:extLst>
          </p:cNvPr>
          <p:cNvSpPr txBox="1"/>
          <p:nvPr/>
        </p:nvSpPr>
        <p:spPr>
          <a:xfrm>
            <a:off x="548640" y="274320"/>
            <a:ext cx="10469880" cy="531925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r>
              <a:rPr lang="pt-BR" sz="2600" b="1" dirty="0">
                <a:solidFill>
                  <a:srgbClr val="FFFFFF"/>
                </a:solidFill>
                <a:latin typeface="Montserrat"/>
              </a:rPr>
              <a:t>Arquitetura de </a:t>
            </a:r>
            <a:r>
              <a:rPr lang="pt-BR" sz="2600" b="1" dirty="0" err="1">
                <a:solidFill>
                  <a:srgbClr val="FFFFFF"/>
                </a:solidFill>
                <a:latin typeface="Montserrat"/>
              </a:rPr>
              <a:t>Microservices</a:t>
            </a:r>
            <a:r>
              <a:rPr lang="pt-BR" sz="2600" b="1" dirty="0">
                <a:solidFill>
                  <a:srgbClr val="FFFFFF"/>
                </a:solidFill>
                <a:latin typeface="Montserrat"/>
              </a:rPr>
              <a:t>: como implementar?</a:t>
            </a:r>
            <a:endParaRPr sz="2600" b="1" i="0" dirty="0">
              <a:solidFill>
                <a:srgbClr val="FFFFFF"/>
              </a:solidFill>
              <a:latin typeface="Montserrat"/>
            </a:endParaRPr>
          </a:p>
        </p:txBody>
      </p:sp>
      <p:pic>
        <p:nvPicPr>
          <p:cNvPr id="3" name="Elemento visual" descr="image.png">
            <a:extLst>
              <a:ext uri="{FF2B5EF4-FFF2-40B4-BE49-F238E27FC236}">
                <a16:creationId xmlns:a16="http://schemas.microsoft.com/office/drawing/2014/main" id="{2E15FCBA-50FC-C267-A4FB-C1CEC74ADD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1265408" y="146304"/>
            <a:ext cx="923331" cy="923331"/>
          </a:xfrm>
          <a:prstGeom prst="rect">
            <a:avLst/>
          </a:prstGeom>
        </p:spPr>
      </p:pic>
      <p:pic>
        <p:nvPicPr>
          <p:cNvPr id="4" name="Elemento visual" descr="image.png">
            <a:extLst>
              <a:ext uri="{FF2B5EF4-FFF2-40B4-BE49-F238E27FC236}">
                <a16:creationId xmlns:a16="http://schemas.microsoft.com/office/drawing/2014/main" id="{3D151A13-D6C8-8310-F64F-135B96F5E2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181" y="5765614"/>
            <a:ext cx="923331" cy="923331"/>
          </a:xfrm>
          <a:prstGeom prst="rect">
            <a:avLst/>
          </a:prstGeom>
        </p:spPr>
      </p:pic>
      <p:pic>
        <p:nvPicPr>
          <p:cNvPr id="5" name="Elemento visual" descr="image.png">
            <a:extLst>
              <a:ext uri="{FF2B5EF4-FFF2-40B4-BE49-F238E27FC236}">
                <a16:creationId xmlns:a16="http://schemas.microsoft.com/office/drawing/2014/main" id="{539B9D9A-16CA-E035-3705-355A611BC2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0668" y="5948272"/>
            <a:ext cx="923331" cy="923331"/>
          </a:xfrm>
          <a:prstGeom prst="rect">
            <a:avLst/>
          </a:prstGeom>
        </p:spPr>
      </p:pic>
      <p:pic>
        <p:nvPicPr>
          <p:cNvPr id="6" name="Logo UniAnchieta" descr="image.png">
            <a:extLst>
              <a:ext uri="{FF2B5EF4-FFF2-40B4-BE49-F238E27FC236}">
                <a16:creationId xmlns:a16="http://schemas.microsoft.com/office/drawing/2014/main" id="{C57B261B-414C-A905-9DA0-BD8E1E672E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54" y="6051766"/>
            <a:ext cx="2308138" cy="7138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DE53109-4009-29A8-5EFA-4EE2854DF48B}"/>
              </a:ext>
            </a:extLst>
          </p:cNvPr>
          <p:cNvSpPr txBox="1"/>
          <p:nvPr/>
        </p:nvSpPr>
        <p:spPr>
          <a:xfrm>
            <a:off x="548640" y="1820573"/>
            <a:ext cx="8259458" cy="43630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F8FE"/>
                </a:solidFill>
                <a:latin typeface="Montserrat"/>
              </a:rPr>
              <a:t>Modelagem com base em conceitos do negócio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b="1" dirty="0">
              <a:solidFill>
                <a:srgbClr val="04F8FE"/>
              </a:solidFill>
              <a:latin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F8FE"/>
                </a:solidFill>
                <a:latin typeface="Montserrat"/>
              </a:rPr>
              <a:t>Adotar uma cultura de automação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b="1" dirty="0">
              <a:solidFill>
                <a:srgbClr val="04F8FE"/>
              </a:solidFill>
              <a:latin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F8FE"/>
                </a:solidFill>
                <a:latin typeface="Montserrat"/>
              </a:rPr>
              <a:t>Ocultar detalhes internos de implementação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b="1" dirty="0">
              <a:solidFill>
                <a:srgbClr val="04F8FE"/>
              </a:solidFill>
              <a:latin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F8FE"/>
                </a:solidFill>
                <a:latin typeface="Montserrat"/>
              </a:rPr>
              <a:t>Adoção de soluções oferecidas por cloud </a:t>
            </a:r>
            <a:r>
              <a:rPr lang="pt-BR" sz="2400" b="1" dirty="0" err="1">
                <a:solidFill>
                  <a:srgbClr val="04F8FE"/>
                </a:solidFill>
                <a:latin typeface="Montserrat"/>
              </a:rPr>
              <a:t>providers</a:t>
            </a:r>
            <a:r>
              <a:rPr lang="pt-BR" sz="2400" b="1" dirty="0">
                <a:solidFill>
                  <a:srgbClr val="04F8FE"/>
                </a:solidFill>
                <a:latin typeface="Montserrat"/>
              </a:rPr>
              <a:t> (</a:t>
            </a:r>
            <a:r>
              <a:rPr lang="pt-BR" sz="2400" b="1" u="sng" dirty="0">
                <a:solidFill>
                  <a:srgbClr val="04F8FE"/>
                </a:solidFill>
                <a:latin typeface="Montserrat"/>
              </a:rPr>
              <a:t>Azure</a:t>
            </a:r>
            <a:r>
              <a:rPr lang="pt-BR" sz="2400" b="1" dirty="0">
                <a:solidFill>
                  <a:srgbClr val="04F8FE"/>
                </a:solidFill>
                <a:latin typeface="Montserrat"/>
              </a:rPr>
              <a:t>) e projetos </a:t>
            </a:r>
            <a:r>
              <a:rPr lang="pt-BR" sz="2400" b="1" u="sng" dirty="0">
                <a:solidFill>
                  <a:srgbClr val="04F8FE"/>
                </a:solidFill>
                <a:latin typeface="Montserrat"/>
              </a:rPr>
              <a:t>Cloud </a:t>
            </a:r>
            <a:r>
              <a:rPr lang="pt-BR" sz="2400" b="1" u="sng" dirty="0" err="1">
                <a:solidFill>
                  <a:srgbClr val="04F8FE"/>
                </a:solidFill>
                <a:latin typeface="Montserrat"/>
              </a:rPr>
              <a:t>Native</a:t>
            </a:r>
            <a:endParaRPr lang="pt-BR" sz="2400" b="1" u="sng" dirty="0">
              <a:solidFill>
                <a:srgbClr val="04F8FE"/>
              </a:solidFill>
              <a:latin typeface="Montserrat"/>
            </a:endParaRPr>
          </a:p>
        </p:txBody>
      </p:sp>
      <p:pic>
        <p:nvPicPr>
          <p:cNvPr id="9" name="Imagem 8" descr="Ícone&#10;&#10;Descrição gerada automaticamente">
            <a:extLst>
              <a:ext uri="{FF2B5EF4-FFF2-40B4-BE49-F238E27FC236}">
                <a16:creationId xmlns:a16="http://schemas.microsoft.com/office/drawing/2014/main" id="{BD3D2FF8-D853-5480-960E-3BF91D9E26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8133" y="1665925"/>
            <a:ext cx="2625341" cy="1476755"/>
          </a:xfrm>
          <a:prstGeom prst="rect">
            <a:avLst/>
          </a:prstGeom>
        </p:spPr>
      </p:pic>
      <p:pic>
        <p:nvPicPr>
          <p:cNvPr id="15" name="Imagem 14" descr="https://raw.githubusercontent.com/cncf/artwork/main/other/cncf/stacked/white/cncf-stacked-white.png">
            <a:extLst>
              <a:ext uri="{FF2B5EF4-FFF2-40B4-BE49-F238E27FC236}">
                <a16:creationId xmlns:a16="http://schemas.microsoft.com/office/drawing/2014/main" id="{65534310-F089-31B1-A450-E84A0ABF6E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38414" y="3666203"/>
            <a:ext cx="2443440" cy="1476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614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FF983D-F779-D172-A25A-7F2ABA287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>
            <a:extLst>
              <a:ext uri="{FF2B5EF4-FFF2-40B4-BE49-F238E27FC236}">
                <a16:creationId xmlns:a16="http://schemas.microsoft.com/office/drawing/2014/main" id="{DA918ECF-3CB1-FE5B-CAC2-C91BE1D90A3B}"/>
              </a:ext>
            </a:extLst>
          </p:cNvPr>
          <p:cNvSpPr txBox="1"/>
          <p:nvPr/>
        </p:nvSpPr>
        <p:spPr>
          <a:xfrm>
            <a:off x="548640" y="274320"/>
            <a:ext cx="10469880" cy="531925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r>
              <a:rPr lang="pt-BR" sz="2600" b="1" dirty="0">
                <a:solidFill>
                  <a:srgbClr val="FFFFFF"/>
                </a:solidFill>
                <a:latin typeface="Montserrat"/>
              </a:rPr>
              <a:t>Implementando soluções cloud </a:t>
            </a:r>
            <a:r>
              <a:rPr lang="pt-BR" sz="2600" b="1" dirty="0" err="1">
                <a:solidFill>
                  <a:srgbClr val="FFFFFF"/>
                </a:solidFill>
                <a:latin typeface="Montserrat"/>
              </a:rPr>
              <a:t>native</a:t>
            </a:r>
            <a:endParaRPr sz="2600" b="1" i="0" dirty="0">
              <a:solidFill>
                <a:srgbClr val="FFFFFF"/>
              </a:solidFill>
              <a:latin typeface="Montserrat"/>
            </a:endParaRPr>
          </a:p>
        </p:txBody>
      </p:sp>
      <p:pic>
        <p:nvPicPr>
          <p:cNvPr id="3" name="Elemento visual" descr="image.png">
            <a:extLst>
              <a:ext uri="{FF2B5EF4-FFF2-40B4-BE49-F238E27FC236}">
                <a16:creationId xmlns:a16="http://schemas.microsoft.com/office/drawing/2014/main" id="{CA36EA76-EC0D-3CE0-44B7-84F2B6E8DD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1265408" y="146304"/>
            <a:ext cx="923331" cy="923331"/>
          </a:xfrm>
          <a:prstGeom prst="rect">
            <a:avLst/>
          </a:prstGeom>
        </p:spPr>
      </p:pic>
      <p:pic>
        <p:nvPicPr>
          <p:cNvPr id="4" name="Elemento visual" descr="image.png">
            <a:extLst>
              <a:ext uri="{FF2B5EF4-FFF2-40B4-BE49-F238E27FC236}">
                <a16:creationId xmlns:a16="http://schemas.microsoft.com/office/drawing/2014/main" id="{F6E3419C-8F13-CF6A-38B4-594F778385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181" y="5765614"/>
            <a:ext cx="923331" cy="923331"/>
          </a:xfrm>
          <a:prstGeom prst="rect">
            <a:avLst/>
          </a:prstGeom>
        </p:spPr>
      </p:pic>
      <p:pic>
        <p:nvPicPr>
          <p:cNvPr id="5" name="Elemento visual" descr="image.png">
            <a:extLst>
              <a:ext uri="{FF2B5EF4-FFF2-40B4-BE49-F238E27FC236}">
                <a16:creationId xmlns:a16="http://schemas.microsoft.com/office/drawing/2014/main" id="{A5706035-AC22-FD32-22DA-93F9291A91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0668" y="5948272"/>
            <a:ext cx="923331" cy="923331"/>
          </a:xfrm>
          <a:prstGeom prst="rect">
            <a:avLst/>
          </a:prstGeom>
        </p:spPr>
      </p:pic>
      <p:pic>
        <p:nvPicPr>
          <p:cNvPr id="6" name="Logo UniAnchieta" descr="image.png">
            <a:extLst>
              <a:ext uri="{FF2B5EF4-FFF2-40B4-BE49-F238E27FC236}">
                <a16:creationId xmlns:a16="http://schemas.microsoft.com/office/drawing/2014/main" id="{AD7103A9-6B3B-8ED4-6EE4-74B5E45357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54" y="6051766"/>
            <a:ext cx="2308138" cy="7138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5B4C884-D4E2-FDB1-D097-05210EDB9B57}"/>
              </a:ext>
            </a:extLst>
          </p:cNvPr>
          <p:cNvSpPr txBox="1"/>
          <p:nvPr/>
        </p:nvSpPr>
        <p:spPr>
          <a:xfrm>
            <a:off x="548639" y="1484671"/>
            <a:ext cx="7550331" cy="43630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F8FE"/>
                </a:solidFill>
                <a:latin typeface="Montserrat"/>
              </a:rPr>
              <a:t>Modelagem visando escalabilidade e a elasticidade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b="1" dirty="0">
              <a:solidFill>
                <a:srgbClr val="04F8FE"/>
              </a:solidFill>
              <a:latin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F8FE"/>
                </a:solidFill>
                <a:latin typeface="Montserrat"/>
              </a:rPr>
              <a:t>Resiliência, tolerância a falhas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b="1" dirty="0">
              <a:solidFill>
                <a:srgbClr val="04F8FE"/>
              </a:solidFill>
              <a:latin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 err="1">
                <a:solidFill>
                  <a:srgbClr val="04F8FE"/>
                </a:solidFill>
                <a:latin typeface="Montserrat"/>
              </a:rPr>
              <a:t>Observabilidade</a:t>
            </a:r>
            <a:r>
              <a:rPr lang="pt-BR" sz="2400" b="1" dirty="0">
                <a:solidFill>
                  <a:srgbClr val="04F8FE"/>
                </a:solidFill>
                <a:latin typeface="Montserrat"/>
              </a:rPr>
              <a:t> e Monitoramento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b="1" dirty="0">
              <a:solidFill>
                <a:srgbClr val="04F8FE"/>
              </a:solidFill>
              <a:latin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 err="1">
                <a:solidFill>
                  <a:srgbClr val="04F8FE"/>
                </a:solidFill>
                <a:latin typeface="Montserrat"/>
              </a:rPr>
              <a:t>Containerização</a:t>
            </a:r>
            <a:r>
              <a:rPr lang="pt-BR" sz="2400" b="1" dirty="0">
                <a:solidFill>
                  <a:srgbClr val="04F8FE"/>
                </a:solidFill>
                <a:latin typeface="Montserrat"/>
              </a:rPr>
              <a:t>, evitar </a:t>
            </a:r>
            <a:r>
              <a:rPr lang="pt-BR" sz="2400" b="1" dirty="0" err="1">
                <a:solidFill>
                  <a:srgbClr val="04F8FE"/>
                </a:solidFill>
                <a:latin typeface="Montserrat"/>
              </a:rPr>
              <a:t>lock-ins</a:t>
            </a:r>
            <a:endParaRPr lang="pt-BR" sz="2400" b="1" dirty="0">
              <a:solidFill>
                <a:srgbClr val="04F8FE"/>
              </a:solidFill>
              <a:latin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b="1" dirty="0">
              <a:solidFill>
                <a:srgbClr val="04F8FE"/>
              </a:solidFill>
              <a:latin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F8FE"/>
                </a:solidFill>
                <a:latin typeface="Montserrat"/>
              </a:rPr>
              <a:t>Ênfase em práticas da cultura </a:t>
            </a:r>
            <a:r>
              <a:rPr lang="pt-BR" sz="2400" b="1" dirty="0" err="1">
                <a:solidFill>
                  <a:srgbClr val="04F8FE"/>
                </a:solidFill>
                <a:latin typeface="Montserrat"/>
              </a:rPr>
              <a:t>DevOps</a:t>
            </a:r>
            <a:r>
              <a:rPr lang="pt-BR" sz="2400" b="1" dirty="0">
                <a:solidFill>
                  <a:srgbClr val="04F8FE"/>
                </a:solidFill>
                <a:latin typeface="Montserrat"/>
              </a:rPr>
              <a:t> (CI/CD, </a:t>
            </a:r>
            <a:r>
              <a:rPr lang="pt-BR" sz="2400" b="1" dirty="0" err="1">
                <a:solidFill>
                  <a:srgbClr val="04F8FE"/>
                </a:solidFill>
                <a:latin typeface="Montserrat"/>
              </a:rPr>
              <a:t>IaC</a:t>
            </a:r>
            <a:r>
              <a:rPr lang="pt-BR" sz="2400" b="1" dirty="0">
                <a:solidFill>
                  <a:srgbClr val="04F8FE"/>
                </a:solidFill>
                <a:latin typeface="Montserrat"/>
              </a:rPr>
              <a:t>, testes)</a:t>
            </a:r>
          </a:p>
        </p:txBody>
      </p:sp>
      <p:pic>
        <p:nvPicPr>
          <p:cNvPr id="15" name="Imagem 14" descr="https://raw.githubusercontent.com/cncf/artwork/main/other/cncf/stacked/white/cncf-stacked-white.png">
            <a:extLst>
              <a:ext uri="{FF2B5EF4-FFF2-40B4-BE49-F238E27FC236}">
                <a16:creationId xmlns:a16="http://schemas.microsoft.com/office/drawing/2014/main" id="{3D4B6F9A-95EA-AEBF-DA1C-AA2DD0EE7C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6545" y="2267340"/>
            <a:ext cx="3190120" cy="1928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014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605BA5-AD3E-1215-9904-12CCE8AAC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>
            <a:extLst>
              <a:ext uri="{FF2B5EF4-FFF2-40B4-BE49-F238E27FC236}">
                <a16:creationId xmlns:a16="http://schemas.microsoft.com/office/drawing/2014/main" id="{938FDD68-C9E0-E959-6CBC-380CC56023B0}"/>
              </a:ext>
            </a:extLst>
          </p:cNvPr>
          <p:cNvSpPr txBox="1"/>
          <p:nvPr/>
        </p:nvSpPr>
        <p:spPr>
          <a:xfrm>
            <a:off x="548640" y="274320"/>
            <a:ext cx="10469880" cy="531925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r>
              <a:rPr lang="pt-BR" sz="2600" b="1" i="0" dirty="0">
                <a:solidFill>
                  <a:srgbClr val="FFFFFF"/>
                </a:solidFill>
                <a:latin typeface="Montserrat"/>
              </a:rPr>
              <a:t>Escalabilidade</a:t>
            </a:r>
            <a:endParaRPr sz="2600" b="1" i="0" dirty="0">
              <a:solidFill>
                <a:srgbClr val="FFFFFF"/>
              </a:solidFill>
              <a:latin typeface="Montserrat"/>
            </a:endParaRPr>
          </a:p>
        </p:txBody>
      </p:sp>
      <p:pic>
        <p:nvPicPr>
          <p:cNvPr id="3" name="Elemento visual" descr="image.png">
            <a:extLst>
              <a:ext uri="{FF2B5EF4-FFF2-40B4-BE49-F238E27FC236}">
                <a16:creationId xmlns:a16="http://schemas.microsoft.com/office/drawing/2014/main" id="{56B29C3E-5980-4530-FAAB-100F7BC012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1265408" y="146304"/>
            <a:ext cx="923331" cy="923331"/>
          </a:xfrm>
          <a:prstGeom prst="rect">
            <a:avLst/>
          </a:prstGeom>
        </p:spPr>
      </p:pic>
      <p:pic>
        <p:nvPicPr>
          <p:cNvPr id="4" name="Elemento visual" descr="image.png">
            <a:extLst>
              <a:ext uri="{FF2B5EF4-FFF2-40B4-BE49-F238E27FC236}">
                <a16:creationId xmlns:a16="http://schemas.microsoft.com/office/drawing/2014/main" id="{C175007A-B6CC-F6ED-0B4C-4B0300F110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181" y="5765614"/>
            <a:ext cx="923331" cy="923331"/>
          </a:xfrm>
          <a:prstGeom prst="rect">
            <a:avLst/>
          </a:prstGeom>
        </p:spPr>
      </p:pic>
      <p:pic>
        <p:nvPicPr>
          <p:cNvPr id="5" name="Elemento visual" descr="image.png">
            <a:extLst>
              <a:ext uri="{FF2B5EF4-FFF2-40B4-BE49-F238E27FC236}">
                <a16:creationId xmlns:a16="http://schemas.microsoft.com/office/drawing/2014/main" id="{18773800-A7A8-ACE7-4167-636E3C1D35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0668" y="5948272"/>
            <a:ext cx="923331" cy="923331"/>
          </a:xfrm>
          <a:prstGeom prst="rect">
            <a:avLst/>
          </a:prstGeom>
        </p:spPr>
      </p:pic>
      <p:pic>
        <p:nvPicPr>
          <p:cNvPr id="6" name="Logo UniAnchieta" descr="image.png">
            <a:extLst>
              <a:ext uri="{FF2B5EF4-FFF2-40B4-BE49-F238E27FC236}">
                <a16:creationId xmlns:a16="http://schemas.microsoft.com/office/drawing/2014/main" id="{248FF189-F432-83D3-47A1-E6A3FFD94D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54" y="6051766"/>
            <a:ext cx="2308138" cy="713858"/>
          </a:xfrm>
          <a:prstGeom prst="rect">
            <a:avLst/>
          </a:prstGeom>
        </p:spPr>
      </p:pic>
      <p:pic>
        <p:nvPicPr>
          <p:cNvPr id="8" name="Imagem 7" descr="Diagrama&#10;&#10;Descrição gerada automaticamente">
            <a:extLst>
              <a:ext uri="{FF2B5EF4-FFF2-40B4-BE49-F238E27FC236}">
                <a16:creationId xmlns:a16="http://schemas.microsoft.com/office/drawing/2014/main" id="{2EFD71E7-AB32-F845-057E-9C0A486BD9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6812" y="1287462"/>
            <a:ext cx="7562850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1040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D5952B-554E-2D62-89BE-09D2E06ED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>
            <a:extLst>
              <a:ext uri="{FF2B5EF4-FFF2-40B4-BE49-F238E27FC236}">
                <a16:creationId xmlns:a16="http://schemas.microsoft.com/office/drawing/2014/main" id="{B7AA0A8C-1E01-61D9-142D-0240DEFBE6F2}"/>
              </a:ext>
            </a:extLst>
          </p:cNvPr>
          <p:cNvSpPr txBox="1"/>
          <p:nvPr/>
        </p:nvSpPr>
        <p:spPr>
          <a:xfrm>
            <a:off x="548640" y="274320"/>
            <a:ext cx="10469880" cy="531925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r>
              <a:rPr lang="pt-BR" sz="2600" b="1" dirty="0">
                <a:solidFill>
                  <a:srgbClr val="FFFFFF"/>
                </a:solidFill>
                <a:latin typeface="Montserrat"/>
              </a:rPr>
              <a:t>Conceitos importantes sobre containers</a:t>
            </a:r>
            <a:endParaRPr sz="2600" b="1" i="0" dirty="0">
              <a:solidFill>
                <a:srgbClr val="FFFFFF"/>
              </a:solidFill>
              <a:latin typeface="Montserrat"/>
            </a:endParaRPr>
          </a:p>
        </p:txBody>
      </p:sp>
      <p:pic>
        <p:nvPicPr>
          <p:cNvPr id="3" name="Elemento visual" descr="image.png">
            <a:extLst>
              <a:ext uri="{FF2B5EF4-FFF2-40B4-BE49-F238E27FC236}">
                <a16:creationId xmlns:a16="http://schemas.microsoft.com/office/drawing/2014/main" id="{11FD3392-786D-D9D8-9AFC-31F7BA9B83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1265408" y="146304"/>
            <a:ext cx="923331" cy="923331"/>
          </a:xfrm>
          <a:prstGeom prst="rect">
            <a:avLst/>
          </a:prstGeom>
        </p:spPr>
      </p:pic>
      <p:pic>
        <p:nvPicPr>
          <p:cNvPr id="4" name="Elemento visual" descr="image.png">
            <a:extLst>
              <a:ext uri="{FF2B5EF4-FFF2-40B4-BE49-F238E27FC236}">
                <a16:creationId xmlns:a16="http://schemas.microsoft.com/office/drawing/2014/main" id="{C19957A2-D840-1C1A-97F9-E79064E17C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181" y="5765614"/>
            <a:ext cx="923331" cy="923331"/>
          </a:xfrm>
          <a:prstGeom prst="rect">
            <a:avLst/>
          </a:prstGeom>
        </p:spPr>
      </p:pic>
      <p:pic>
        <p:nvPicPr>
          <p:cNvPr id="5" name="Elemento visual" descr="image.png">
            <a:extLst>
              <a:ext uri="{FF2B5EF4-FFF2-40B4-BE49-F238E27FC236}">
                <a16:creationId xmlns:a16="http://schemas.microsoft.com/office/drawing/2014/main" id="{E2B403A7-4974-C3A2-2E7E-EAD0D13074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0668" y="5948272"/>
            <a:ext cx="923331" cy="923331"/>
          </a:xfrm>
          <a:prstGeom prst="rect">
            <a:avLst/>
          </a:prstGeom>
        </p:spPr>
      </p:pic>
      <p:pic>
        <p:nvPicPr>
          <p:cNvPr id="6" name="Logo UniAnchieta" descr="image.png">
            <a:extLst>
              <a:ext uri="{FF2B5EF4-FFF2-40B4-BE49-F238E27FC236}">
                <a16:creationId xmlns:a16="http://schemas.microsoft.com/office/drawing/2014/main" id="{A7343EAA-31F4-3BFD-D834-A4B285A047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54" y="6051766"/>
            <a:ext cx="2308138" cy="7138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71AC6D2-8528-C7B5-BB0F-782B13CD411E}"/>
              </a:ext>
            </a:extLst>
          </p:cNvPr>
          <p:cNvSpPr txBox="1"/>
          <p:nvPr/>
        </p:nvSpPr>
        <p:spPr>
          <a:xfrm>
            <a:off x="548639" y="1484671"/>
            <a:ext cx="7158447" cy="43630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F8FE"/>
                </a:solidFill>
                <a:latin typeface="Montserrat"/>
              </a:rPr>
              <a:t>Imagem (Linux x Windows)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b="1" dirty="0">
              <a:solidFill>
                <a:srgbClr val="04F8FE"/>
              </a:solidFill>
              <a:latin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F8FE"/>
                </a:solidFill>
                <a:latin typeface="Montserrat"/>
              </a:rPr>
              <a:t>Container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b="1" dirty="0">
              <a:solidFill>
                <a:srgbClr val="04F8FE"/>
              </a:solidFill>
              <a:latin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F8FE"/>
                </a:solidFill>
                <a:latin typeface="Montserrat"/>
              </a:rPr>
              <a:t>Volume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b="1" dirty="0">
              <a:solidFill>
                <a:srgbClr val="04F8FE"/>
              </a:solidFill>
              <a:latin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F8FE"/>
                </a:solidFill>
                <a:latin typeface="Montserrat"/>
              </a:rPr>
              <a:t>Container Registry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b="1" dirty="0">
              <a:solidFill>
                <a:srgbClr val="04F8FE"/>
              </a:solidFill>
              <a:latin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 err="1">
                <a:solidFill>
                  <a:srgbClr val="04F8FE"/>
                </a:solidFill>
                <a:latin typeface="Montserrat"/>
              </a:rPr>
              <a:t>Rootless</a:t>
            </a:r>
            <a:r>
              <a:rPr lang="pt-BR" sz="2400" b="1" dirty="0">
                <a:solidFill>
                  <a:srgbClr val="04F8FE"/>
                </a:solidFill>
                <a:latin typeface="Montserrat"/>
              </a:rPr>
              <a:t> (non-root </a:t>
            </a:r>
            <a:r>
              <a:rPr lang="pt-BR" sz="2400" b="1" dirty="0" err="1">
                <a:solidFill>
                  <a:srgbClr val="04F8FE"/>
                </a:solidFill>
                <a:latin typeface="Montserrat"/>
              </a:rPr>
              <a:t>user</a:t>
            </a:r>
            <a:r>
              <a:rPr lang="pt-BR" sz="2400" b="1" dirty="0">
                <a:solidFill>
                  <a:srgbClr val="04F8FE"/>
                </a:solidFill>
                <a:latin typeface="Montserrat"/>
              </a:rPr>
              <a:t>)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61E34B51-3662-95B9-863E-0598E61412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5328" y="2203310"/>
            <a:ext cx="3418033" cy="2278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144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57D2FC-399F-2949-B40F-41305AF9C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>
            <a:extLst>
              <a:ext uri="{FF2B5EF4-FFF2-40B4-BE49-F238E27FC236}">
                <a16:creationId xmlns:a16="http://schemas.microsoft.com/office/drawing/2014/main" id="{BEA32BB3-FB21-BD05-C41D-1A4A0A74EA4E}"/>
              </a:ext>
            </a:extLst>
          </p:cNvPr>
          <p:cNvSpPr txBox="1"/>
          <p:nvPr/>
        </p:nvSpPr>
        <p:spPr>
          <a:xfrm>
            <a:off x="548640" y="274320"/>
            <a:ext cx="10469880" cy="531925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r>
              <a:rPr lang="pt-BR" sz="2600" b="1" dirty="0">
                <a:solidFill>
                  <a:srgbClr val="FFFFFF"/>
                </a:solidFill>
                <a:latin typeface="Montserrat"/>
              </a:rPr>
              <a:t>Por que utilizar containers?</a:t>
            </a:r>
            <a:endParaRPr sz="2600" b="1" i="0" dirty="0">
              <a:solidFill>
                <a:srgbClr val="FFFFFF"/>
              </a:solidFill>
              <a:latin typeface="Montserrat"/>
            </a:endParaRPr>
          </a:p>
        </p:txBody>
      </p:sp>
      <p:pic>
        <p:nvPicPr>
          <p:cNvPr id="3" name="Elemento visual" descr="image.png">
            <a:extLst>
              <a:ext uri="{FF2B5EF4-FFF2-40B4-BE49-F238E27FC236}">
                <a16:creationId xmlns:a16="http://schemas.microsoft.com/office/drawing/2014/main" id="{6B17788E-3EF6-4459-4D1A-E6F780C556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1265408" y="146304"/>
            <a:ext cx="923331" cy="923331"/>
          </a:xfrm>
          <a:prstGeom prst="rect">
            <a:avLst/>
          </a:prstGeom>
        </p:spPr>
      </p:pic>
      <p:pic>
        <p:nvPicPr>
          <p:cNvPr id="4" name="Elemento visual" descr="image.png">
            <a:extLst>
              <a:ext uri="{FF2B5EF4-FFF2-40B4-BE49-F238E27FC236}">
                <a16:creationId xmlns:a16="http://schemas.microsoft.com/office/drawing/2014/main" id="{70456DBF-624C-2853-6892-26C5C382C1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181" y="5765614"/>
            <a:ext cx="923331" cy="923331"/>
          </a:xfrm>
          <a:prstGeom prst="rect">
            <a:avLst/>
          </a:prstGeom>
        </p:spPr>
      </p:pic>
      <p:pic>
        <p:nvPicPr>
          <p:cNvPr id="5" name="Elemento visual" descr="image.png">
            <a:extLst>
              <a:ext uri="{FF2B5EF4-FFF2-40B4-BE49-F238E27FC236}">
                <a16:creationId xmlns:a16="http://schemas.microsoft.com/office/drawing/2014/main" id="{6F3369B2-EBE4-D36A-DBD3-3839E14348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0668" y="5948272"/>
            <a:ext cx="923331" cy="923331"/>
          </a:xfrm>
          <a:prstGeom prst="rect">
            <a:avLst/>
          </a:prstGeom>
        </p:spPr>
      </p:pic>
      <p:pic>
        <p:nvPicPr>
          <p:cNvPr id="6" name="Logo UniAnchieta" descr="image.png">
            <a:extLst>
              <a:ext uri="{FF2B5EF4-FFF2-40B4-BE49-F238E27FC236}">
                <a16:creationId xmlns:a16="http://schemas.microsoft.com/office/drawing/2014/main" id="{230D72B9-0D39-032B-C665-2D55337855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54" y="6051766"/>
            <a:ext cx="2308138" cy="7138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C8534FB-5928-8F35-B601-5415EFE68AAC}"/>
              </a:ext>
            </a:extLst>
          </p:cNvPr>
          <p:cNvSpPr txBox="1"/>
          <p:nvPr/>
        </p:nvSpPr>
        <p:spPr>
          <a:xfrm>
            <a:off x="548639" y="1484671"/>
            <a:ext cx="7158447" cy="43630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F8FE"/>
                </a:solidFill>
                <a:latin typeface="Montserrat"/>
              </a:rPr>
              <a:t>Isolamento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b="1" dirty="0">
              <a:solidFill>
                <a:srgbClr val="04F8FE"/>
              </a:solidFill>
              <a:latin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F8FE"/>
                </a:solidFill>
                <a:latin typeface="Montserrat"/>
              </a:rPr>
              <a:t>Rapidez na criação de instâncias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b="1" dirty="0">
              <a:solidFill>
                <a:srgbClr val="04F8FE"/>
              </a:solidFill>
              <a:latin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F8FE"/>
                </a:solidFill>
                <a:latin typeface="Montserrat"/>
              </a:rPr>
              <a:t>Menor dependência o sistema operacional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b="1" dirty="0">
              <a:solidFill>
                <a:srgbClr val="04F8FE"/>
              </a:solidFill>
              <a:latin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F8FE"/>
                </a:solidFill>
                <a:latin typeface="Montserrat"/>
              </a:rPr>
              <a:t>Facilidade na criação de ambientes de testes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b="1" dirty="0">
              <a:solidFill>
                <a:srgbClr val="04F8FE"/>
              </a:solidFill>
              <a:latin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F8FE"/>
                </a:solidFill>
                <a:latin typeface="Montserrat"/>
              </a:rPr>
              <a:t>Escalabilidade facilitada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2FE0BE9A-D998-B4BF-EEEC-DE8B6798AE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5328" y="2203310"/>
            <a:ext cx="3418033" cy="2278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1271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94AE72-6783-62EA-C7EF-1C349CF61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>
            <a:extLst>
              <a:ext uri="{FF2B5EF4-FFF2-40B4-BE49-F238E27FC236}">
                <a16:creationId xmlns:a16="http://schemas.microsoft.com/office/drawing/2014/main" id="{0B9654D9-7429-4C76-8A43-C00A8E1D9C3A}"/>
              </a:ext>
            </a:extLst>
          </p:cNvPr>
          <p:cNvSpPr txBox="1"/>
          <p:nvPr/>
        </p:nvSpPr>
        <p:spPr>
          <a:xfrm>
            <a:off x="548640" y="274320"/>
            <a:ext cx="10469880" cy="531925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r>
              <a:rPr lang="pt-BR" sz="2600" b="1" dirty="0">
                <a:solidFill>
                  <a:srgbClr val="FFFFFF"/>
                </a:solidFill>
                <a:latin typeface="Montserrat"/>
              </a:rPr>
              <a:t>Containers + </a:t>
            </a:r>
            <a:r>
              <a:rPr lang="pt-BR" sz="2600" b="1" dirty="0" err="1">
                <a:solidFill>
                  <a:srgbClr val="FFFFFF"/>
                </a:solidFill>
                <a:latin typeface="Montserrat"/>
              </a:rPr>
              <a:t>DevOps</a:t>
            </a:r>
            <a:endParaRPr sz="2600" b="1" i="0" dirty="0">
              <a:solidFill>
                <a:srgbClr val="FFFFFF"/>
              </a:solidFill>
              <a:latin typeface="Montserrat"/>
            </a:endParaRPr>
          </a:p>
        </p:txBody>
      </p:sp>
      <p:pic>
        <p:nvPicPr>
          <p:cNvPr id="3" name="Elemento visual" descr="image.png">
            <a:extLst>
              <a:ext uri="{FF2B5EF4-FFF2-40B4-BE49-F238E27FC236}">
                <a16:creationId xmlns:a16="http://schemas.microsoft.com/office/drawing/2014/main" id="{ABCFBF71-6115-864E-F923-CED7039BCD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1265408" y="146304"/>
            <a:ext cx="923331" cy="923331"/>
          </a:xfrm>
          <a:prstGeom prst="rect">
            <a:avLst/>
          </a:prstGeom>
        </p:spPr>
      </p:pic>
      <p:pic>
        <p:nvPicPr>
          <p:cNvPr id="4" name="Elemento visual" descr="image.png">
            <a:extLst>
              <a:ext uri="{FF2B5EF4-FFF2-40B4-BE49-F238E27FC236}">
                <a16:creationId xmlns:a16="http://schemas.microsoft.com/office/drawing/2014/main" id="{C4A62F96-A094-C469-6094-DB95CAD377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181" y="5765614"/>
            <a:ext cx="923331" cy="923331"/>
          </a:xfrm>
          <a:prstGeom prst="rect">
            <a:avLst/>
          </a:prstGeom>
        </p:spPr>
      </p:pic>
      <p:pic>
        <p:nvPicPr>
          <p:cNvPr id="5" name="Elemento visual" descr="image.png">
            <a:extLst>
              <a:ext uri="{FF2B5EF4-FFF2-40B4-BE49-F238E27FC236}">
                <a16:creationId xmlns:a16="http://schemas.microsoft.com/office/drawing/2014/main" id="{EFAC44A4-4FA5-B29A-8235-68CFFE7E7A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0668" y="5948272"/>
            <a:ext cx="923331" cy="923331"/>
          </a:xfrm>
          <a:prstGeom prst="rect">
            <a:avLst/>
          </a:prstGeom>
        </p:spPr>
      </p:pic>
      <p:pic>
        <p:nvPicPr>
          <p:cNvPr id="6" name="Logo UniAnchieta" descr="image.png">
            <a:extLst>
              <a:ext uri="{FF2B5EF4-FFF2-40B4-BE49-F238E27FC236}">
                <a16:creationId xmlns:a16="http://schemas.microsoft.com/office/drawing/2014/main" id="{156F61DF-5DF5-F077-5728-D98C3CC67A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54" y="6051766"/>
            <a:ext cx="2308138" cy="7138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41BD839-F8F5-805C-CB5B-8E48DA800981}"/>
              </a:ext>
            </a:extLst>
          </p:cNvPr>
          <p:cNvSpPr txBox="1"/>
          <p:nvPr/>
        </p:nvSpPr>
        <p:spPr>
          <a:xfrm>
            <a:off x="548639" y="2035181"/>
            <a:ext cx="7158447" cy="43630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F8FE"/>
                </a:solidFill>
                <a:latin typeface="Montserrat"/>
              </a:rPr>
              <a:t>Facilidades na implementação de automações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b="1" dirty="0">
              <a:solidFill>
                <a:srgbClr val="04F8FE"/>
              </a:solidFill>
              <a:latin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F8FE"/>
                </a:solidFill>
                <a:latin typeface="Montserrat"/>
              </a:rPr>
              <a:t>Suporte das principais soluções de mercado como </a:t>
            </a:r>
            <a:r>
              <a:rPr lang="pt-BR" sz="2400" b="1" u="sng" dirty="0">
                <a:solidFill>
                  <a:srgbClr val="04F8FE"/>
                </a:solidFill>
                <a:latin typeface="Montserrat"/>
              </a:rPr>
              <a:t>GitHub </a:t>
            </a:r>
            <a:r>
              <a:rPr lang="pt-BR" sz="2400" b="1" u="sng" dirty="0" err="1">
                <a:solidFill>
                  <a:srgbClr val="04F8FE"/>
                </a:solidFill>
                <a:latin typeface="Montserrat"/>
              </a:rPr>
              <a:t>Actions</a:t>
            </a:r>
            <a:r>
              <a:rPr lang="pt-BR" sz="2400" b="1" dirty="0">
                <a:solidFill>
                  <a:srgbClr val="04F8FE"/>
                </a:solidFill>
                <a:latin typeface="Montserrat"/>
              </a:rPr>
              <a:t> e </a:t>
            </a:r>
            <a:r>
              <a:rPr lang="pt-BR" sz="2400" b="1" u="sng" dirty="0">
                <a:solidFill>
                  <a:srgbClr val="04F8FE"/>
                </a:solidFill>
                <a:latin typeface="Montserrat"/>
              </a:rPr>
              <a:t>Azure </a:t>
            </a:r>
            <a:r>
              <a:rPr lang="pt-BR" sz="2400" b="1" u="sng" dirty="0" err="1">
                <a:solidFill>
                  <a:srgbClr val="04F8FE"/>
                </a:solidFill>
                <a:latin typeface="Montserrat"/>
              </a:rPr>
              <a:t>DevOps</a:t>
            </a:r>
            <a:endParaRPr lang="pt-BR" sz="2400" b="1" u="sng" dirty="0">
              <a:solidFill>
                <a:srgbClr val="04F8FE"/>
              </a:solidFill>
              <a:latin typeface="Montserrat"/>
            </a:endParaRP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DFB058DE-F39A-4AAB-2D6B-73229A70F7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5328" y="2203310"/>
            <a:ext cx="3418033" cy="2278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0163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2D2F6F-0E31-4421-25AB-19EDF4738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>
            <a:extLst>
              <a:ext uri="{FF2B5EF4-FFF2-40B4-BE49-F238E27FC236}">
                <a16:creationId xmlns:a16="http://schemas.microsoft.com/office/drawing/2014/main" id="{83EE3A6C-0C27-0D2C-E403-08BFCCA223B7}"/>
              </a:ext>
            </a:extLst>
          </p:cNvPr>
          <p:cNvSpPr txBox="1"/>
          <p:nvPr/>
        </p:nvSpPr>
        <p:spPr>
          <a:xfrm>
            <a:off x="548640" y="274320"/>
            <a:ext cx="10469880" cy="531925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r>
              <a:rPr lang="pt-BR" sz="2600" b="1" dirty="0">
                <a:solidFill>
                  <a:srgbClr val="FFFFFF"/>
                </a:solidFill>
                <a:latin typeface="Montserrat"/>
              </a:rPr>
              <a:t>Containers + Ferramentas + Serviços</a:t>
            </a:r>
            <a:endParaRPr sz="2600" b="1" i="0" dirty="0">
              <a:solidFill>
                <a:srgbClr val="FFFFFF"/>
              </a:solidFill>
              <a:latin typeface="Montserrat"/>
            </a:endParaRPr>
          </a:p>
        </p:txBody>
      </p:sp>
      <p:pic>
        <p:nvPicPr>
          <p:cNvPr id="3" name="Elemento visual" descr="image.png">
            <a:extLst>
              <a:ext uri="{FF2B5EF4-FFF2-40B4-BE49-F238E27FC236}">
                <a16:creationId xmlns:a16="http://schemas.microsoft.com/office/drawing/2014/main" id="{27703C51-1441-BA80-A2BD-F45A157C04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1265408" y="146304"/>
            <a:ext cx="923331" cy="923331"/>
          </a:xfrm>
          <a:prstGeom prst="rect">
            <a:avLst/>
          </a:prstGeom>
        </p:spPr>
      </p:pic>
      <p:pic>
        <p:nvPicPr>
          <p:cNvPr id="4" name="Elemento visual" descr="image.png">
            <a:extLst>
              <a:ext uri="{FF2B5EF4-FFF2-40B4-BE49-F238E27FC236}">
                <a16:creationId xmlns:a16="http://schemas.microsoft.com/office/drawing/2014/main" id="{2E520B1E-635B-1A24-0FC6-E9DAB552B3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181" y="5765614"/>
            <a:ext cx="923331" cy="923331"/>
          </a:xfrm>
          <a:prstGeom prst="rect">
            <a:avLst/>
          </a:prstGeom>
        </p:spPr>
      </p:pic>
      <p:pic>
        <p:nvPicPr>
          <p:cNvPr id="5" name="Elemento visual" descr="image.png">
            <a:extLst>
              <a:ext uri="{FF2B5EF4-FFF2-40B4-BE49-F238E27FC236}">
                <a16:creationId xmlns:a16="http://schemas.microsoft.com/office/drawing/2014/main" id="{94A77F54-242B-E782-FF7D-D526667C99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0668" y="5948272"/>
            <a:ext cx="923331" cy="923331"/>
          </a:xfrm>
          <a:prstGeom prst="rect">
            <a:avLst/>
          </a:prstGeom>
        </p:spPr>
      </p:pic>
      <p:pic>
        <p:nvPicPr>
          <p:cNvPr id="6" name="Logo UniAnchieta" descr="image.png">
            <a:extLst>
              <a:ext uri="{FF2B5EF4-FFF2-40B4-BE49-F238E27FC236}">
                <a16:creationId xmlns:a16="http://schemas.microsoft.com/office/drawing/2014/main" id="{3D45B66C-24CA-7AA2-C3FE-6C657A0311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54" y="6051766"/>
            <a:ext cx="2308138" cy="7138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721F76F-33F6-F113-D473-4CF2F673AB0B}"/>
              </a:ext>
            </a:extLst>
          </p:cNvPr>
          <p:cNvSpPr txBox="1"/>
          <p:nvPr/>
        </p:nvSpPr>
        <p:spPr>
          <a:xfrm>
            <a:off x="548639" y="1605973"/>
            <a:ext cx="7158447" cy="43630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F8FE"/>
                </a:solidFill>
                <a:latin typeface="Montserrat"/>
              </a:rPr>
              <a:t>Docker Community </a:t>
            </a:r>
            <a:r>
              <a:rPr lang="pt-BR" sz="2400" b="1" dirty="0" err="1">
                <a:solidFill>
                  <a:srgbClr val="04F8FE"/>
                </a:solidFill>
                <a:latin typeface="Montserrat"/>
              </a:rPr>
              <a:t>Edition</a:t>
            </a:r>
            <a:r>
              <a:rPr lang="pt-BR" sz="2400" b="1" dirty="0">
                <a:solidFill>
                  <a:srgbClr val="04F8FE"/>
                </a:solidFill>
                <a:latin typeface="Montserrat"/>
              </a:rPr>
              <a:t> / Docker CE (Windows, Linux, </a:t>
            </a:r>
            <a:r>
              <a:rPr lang="pt-BR" sz="2400" b="1" dirty="0" err="1">
                <a:solidFill>
                  <a:srgbClr val="04F8FE"/>
                </a:solidFill>
                <a:latin typeface="Montserrat"/>
              </a:rPr>
              <a:t>macOS</a:t>
            </a:r>
            <a:r>
              <a:rPr lang="pt-BR" sz="2400" b="1" dirty="0">
                <a:solidFill>
                  <a:srgbClr val="04F8FE"/>
                </a:solidFill>
                <a:latin typeface="Montserrat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b="1" dirty="0">
              <a:solidFill>
                <a:srgbClr val="04F8FE"/>
              </a:solidFill>
              <a:latin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F8FE"/>
                </a:solidFill>
                <a:latin typeface="Montserrat"/>
              </a:rPr>
              <a:t>Docker Desktop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b="1" dirty="0">
              <a:solidFill>
                <a:srgbClr val="04F8FE"/>
              </a:solidFill>
              <a:latin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F8FE"/>
                </a:solidFill>
                <a:latin typeface="Montserrat"/>
              </a:rPr>
              <a:t>WSL 2 (Windows </a:t>
            </a:r>
            <a:r>
              <a:rPr lang="pt-BR" sz="2400" b="1" dirty="0" err="1">
                <a:solidFill>
                  <a:srgbClr val="04F8FE"/>
                </a:solidFill>
                <a:latin typeface="Montserrat"/>
              </a:rPr>
              <a:t>Subsystem</a:t>
            </a:r>
            <a:r>
              <a:rPr lang="pt-BR" sz="2400" b="1" dirty="0">
                <a:solidFill>
                  <a:srgbClr val="04F8FE"/>
                </a:solidFill>
                <a:latin typeface="Montserrat"/>
              </a:rPr>
              <a:t> for Linux)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b="1" dirty="0">
              <a:solidFill>
                <a:srgbClr val="04F8FE"/>
              </a:solidFill>
              <a:latin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F8FE"/>
                </a:solidFill>
                <a:latin typeface="Montserrat"/>
              </a:rPr>
              <a:t>Docker Hub, Microsoft </a:t>
            </a:r>
            <a:r>
              <a:rPr lang="pt-BR" sz="2400" b="1" dirty="0" err="1">
                <a:solidFill>
                  <a:srgbClr val="04F8FE"/>
                </a:solidFill>
                <a:latin typeface="Montserrat"/>
              </a:rPr>
              <a:t>Artifact</a:t>
            </a:r>
            <a:r>
              <a:rPr lang="pt-BR" sz="2400" b="1" dirty="0">
                <a:solidFill>
                  <a:srgbClr val="04F8FE"/>
                </a:solidFill>
                <a:latin typeface="Montserrat"/>
              </a:rPr>
              <a:t> Registry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b="1" dirty="0">
              <a:solidFill>
                <a:srgbClr val="04F8FE"/>
              </a:solidFill>
              <a:latin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 err="1">
                <a:solidFill>
                  <a:srgbClr val="04F8FE"/>
                </a:solidFill>
                <a:latin typeface="Montserrat"/>
              </a:rPr>
              <a:t>Podman</a:t>
            </a:r>
            <a:endParaRPr lang="pt-BR" sz="2400" b="1" dirty="0">
              <a:solidFill>
                <a:srgbClr val="04F8FE"/>
              </a:solidFill>
              <a:latin typeface="Montserrat"/>
            </a:endParaRP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A3B18800-A463-E4F1-E0BB-1CE6E173F0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5328" y="2203310"/>
            <a:ext cx="3418033" cy="2278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3354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A4EFAB-1194-D913-1304-8C52863F4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>
            <a:extLst>
              <a:ext uri="{FF2B5EF4-FFF2-40B4-BE49-F238E27FC236}">
                <a16:creationId xmlns:a16="http://schemas.microsoft.com/office/drawing/2014/main" id="{A381B8B0-F54D-299D-7BF0-31FE10EBD79A}"/>
              </a:ext>
            </a:extLst>
          </p:cNvPr>
          <p:cNvSpPr txBox="1"/>
          <p:nvPr/>
        </p:nvSpPr>
        <p:spPr>
          <a:xfrm>
            <a:off x="548640" y="274320"/>
            <a:ext cx="10469880" cy="531925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r>
              <a:rPr lang="pt-BR" sz="2600" b="1" dirty="0">
                <a:solidFill>
                  <a:srgbClr val="FFFFFF"/>
                </a:solidFill>
                <a:latin typeface="Montserrat"/>
              </a:rPr>
              <a:t>Containers e o Microsoft Azure</a:t>
            </a:r>
            <a:endParaRPr sz="2600" b="1" i="0" dirty="0">
              <a:solidFill>
                <a:srgbClr val="FFFFFF"/>
              </a:solidFill>
              <a:latin typeface="Montserrat"/>
            </a:endParaRPr>
          </a:p>
        </p:txBody>
      </p:sp>
      <p:pic>
        <p:nvPicPr>
          <p:cNvPr id="3" name="Elemento visual" descr="image.png">
            <a:extLst>
              <a:ext uri="{FF2B5EF4-FFF2-40B4-BE49-F238E27FC236}">
                <a16:creationId xmlns:a16="http://schemas.microsoft.com/office/drawing/2014/main" id="{7D5013D7-63D5-0580-F452-220A62EAD4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1265408" y="146304"/>
            <a:ext cx="923331" cy="923331"/>
          </a:xfrm>
          <a:prstGeom prst="rect">
            <a:avLst/>
          </a:prstGeom>
        </p:spPr>
      </p:pic>
      <p:pic>
        <p:nvPicPr>
          <p:cNvPr id="4" name="Elemento visual" descr="image.png">
            <a:extLst>
              <a:ext uri="{FF2B5EF4-FFF2-40B4-BE49-F238E27FC236}">
                <a16:creationId xmlns:a16="http://schemas.microsoft.com/office/drawing/2014/main" id="{010EB9B1-C821-F92D-6C1A-0D2DCBDFBA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181" y="5765614"/>
            <a:ext cx="923331" cy="923331"/>
          </a:xfrm>
          <a:prstGeom prst="rect">
            <a:avLst/>
          </a:prstGeom>
        </p:spPr>
      </p:pic>
      <p:pic>
        <p:nvPicPr>
          <p:cNvPr id="5" name="Elemento visual" descr="image.png">
            <a:extLst>
              <a:ext uri="{FF2B5EF4-FFF2-40B4-BE49-F238E27FC236}">
                <a16:creationId xmlns:a16="http://schemas.microsoft.com/office/drawing/2014/main" id="{DC2B89E2-42ED-F380-40FA-5DF6971A0E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0668" y="5948272"/>
            <a:ext cx="923331" cy="923331"/>
          </a:xfrm>
          <a:prstGeom prst="rect">
            <a:avLst/>
          </a:prstGeom>
        </p:spPr>
      </p:pic>
      <p:pic>
        <p:nvPicPr>
          <p:cNvPr id="6" name="Logo UniAnchieta" descr="image.png">
            <a:extLst>
              <a:ext uri="{FF2B5EF4-FFF2-40B4-BE49-F238E27FC236}">
                <a16:creationId xmlns:a16="http://schemas.microsoft.com/office/drawing/2014/main" id="{70AFA304-BC1D-4190-FECC-2347919143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54" y="6051766"/>
            <a:ext cx="2308138" cy="7138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774BE09-9516-880F-C591-81BED1EDB0A5}"/>
              </a:ext>
            </a:extLst>
          </p:cNvPr>
          <p:cNvSpPr txBox="1"/>
          <p:nvPr/>
        </p:nvSpPr>
        <p:spPr>
          <a:xfrm>
            <a:off x="548639" y="1727272"/>
            <a:ext cx="7158447" cy="43630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F8FE"/>
                </a:solidFill>
                <a:latin typeface="Montserrat"/>
              </a:rPr>
              <a:t>Azure App Service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b="1" dirty="0">
              <a:solidFill>
                <a:srgbClr val="04F8FE"/>
              </a:solidFill>
              <a:latin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F8FE"/>
                </a:solidFill>
                <a:latin typeface="Montserrat"/>
              </a:rPr>
              <a:t>Azure Container Registry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b="1" dirty="0">
              <a:solidFill>
                <a:srgbClr val="04F8FE"/>
              </a:solidFill>
              <a:latin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F8FE"/>
                </a:solidFill>
                <a:latin typeface="Montserrat"/>
              </a:rPr>
              <a:t>Azure Container </a:t>
            </a:r>
            <a:r>
              <a:rPr lang="pt-BR" sz="2400" b="1" dirty="0" err="1">
                <a:solidFill>
                  <a:srgbClr val="04F8FE"/>
                </a:solidFill>
                <a:latin typeface="Montserrat"/>
              </a:rPr>
              <a:t>Instances</a:t>
            </a:r>
            <a:endParaRPr lang="pt-BR" sz="2400" b="1" dirty="0">
              <a:solidFill>
                <a:srgbClr val="04F8FE"/>
              </a:solidFill>
              <a:latin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b="1" dirty="0">
              <a:solidFill>
                <a:srgbClr val="04F8FE"/>
              </a:solidFill>
              <a:latin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F8FE"/>
                </a:solidFill>
                <a:latin typeface="Montserrat"/>
              </a:rPr>
              <a:t>Azure </a:t>
            </a:r>
            <a:r>
              <a:rPr lang="pt-BR" sz="2400" b="1" dirty="0" err="1">
                <a:solidFill>
                  <a:srgbClr val="04F8FE"/>
                </a:solidFill>
                <a:latin typeface="Montserrat"/>
              </a:rPr>
              <a:t>Kubernetes</a:t>
            </a:r>
            <a:r>
              <a:rPr lang="pt-BR" sz="2400" b="1" dirty="0">
                <a:solidFill>
                  <a:srgbClr val="04F8FE"/>
                </a:solidFill>
                <a:latin typeface="Montserrat"/>
              </a:rPr>
              <a:t> Service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b="1" dirty="0">
              <a:solidFill>
                <a:srgbClr val="04F8FE"/>
              </a:solidFill>
              <a:latin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F8FE"/>
                </a:solidFill>
                <a:latin typeface="Montserrat"/>
              </a:rPr>
              <a:t>Azure Container Apps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41AB0C5B-BF49-510F-B0C0-0FA514E91D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92673" y="2607988"/>
            <a:ext cx="1304925" cy="1304925"/>
          </a:xfrm>
          <a:prstGeom prst="rect">
            <a:avLst/>
          </a:prstGeom>
        </p:spPr>
      </p:pic>
      <p:pic>
        <p:nvPicPr>
          <p:cNvPr id="12" name="Gráfico 11">
            <a:extLst>
              <a:ext uri="{FF2B5EF4-FFF2-40B4-BE49-F238E27FC236}">
                <a16:creationId xmlns:a16="http://schemas.microsoft.com/office/drawing/2014/main" id="{A23C2B05-8A81-BEF0-C412-E28DBA8227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16073" y="2753189"/>
            <a:ext cx="1159724" cy="1159724"/>
          </a:xfrm>
          <a:prstGeom prst="rect">
            <a:avLst/>
          </a:prstGeom>
        </p:spPr>
      </p:pic>
      <p:pic>
        <p:nvPicPr>
          <p:cNvPr id="14" name="Gráfico 13">
            <a:extLst>
              <a:ext uri="{FF2B5EF4-FFF2-40B4-BE49-F238E27FC236}">
                <a16:creationId xmlns:a16="http://schemas.microsoft.com/office/drawing/2014/main" id="{9279237C-14FD-CFB4-CD29-300665EC0F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16273" y="1155688"/>
            <a:ext cx="1235925" cy="1235925"/>
          </a:xfrm>
          <a:prstGeom prst="rect">
            <a:avLst/>
          </a:prstGeom>
        </p:spPr>
      </p:pic>
      <p:pic>
        <p:nvPicPr>
          <p:cNvPr id="16" name="Gráfico 15">
            <a:extLst>
              <a:ext uri="{FF2B5EF4-FFF2-40B4-BE49-F238E27FC236}">
                <a16:creationId xmlns:a16="http://schemas.microsoft.com/office/drawing/2014/main" id="{5C8DE2B1-BA50-3319-0BAC-19A11F72A0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95934" y="4693135"/>
            <a:ext cx="1159725" cy="1159725"/>
          </a:xfrm>
          <a:prstGeom prst="rect">
            <a:avLst/>
          </a:prstGeom>
        </p:spPr>
      </p:pic>
      <p:pic>
        <p:nvPicPr>
          <p:cNvPr id="18" name="Imagem 17" descr="Desenho de uma pessoa&#10;&#10;Descrição gerada automaticamente com confiança baixa">
            <a:extLst>
              <a:ext uri="{FF2B5EF4-FFF2-40B4-BE49-F238E27FC236}">
                <a16:creationId xmlns:a16="http://schemas.microsoft.com/office/drawing/2014/main" id="{CA344CE1-2428-A652-E4EA-6F71B539E68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87673" y="2753189"/>
            <a:ext cx="1788295" cy="1788295"/>
          </a:xfrm>
          <a:prstGeom prst="rect">
            <a:avLst/>
          </a:prstGeom>
        </p:spPr>
      </p:pic>
      <p:pic>
        <p:nvPicPr>
          <p:cNvPr id="20" name="Imagem 3">
            <a:extLst>
              <a:ext uri="{FF2B5EF4-FFF2-40B4-BE49-F238E27FC236}">
                <a16:creationId xmlns:a16="http://schemas.microsoft.com/office/drawing/2014/main" id="{91D7A96E-30FC-BEDD-CAE8-25334078C1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>
            <a:off x="8873060" y="4731259"/>
            <a:ext cx="1083476" cy="1083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0573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A5BD21-D016-0511-C5AA-72AC701BD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>
            <a:extLst>
              <a:ext uri="{FF2B5EF4-FFF2-40B4-BE49-F238E27FC236}">
                <a16:creationId xmlns:a16="http://schemas.microsoft.com/office/drawing/2014/main" id="{71BAB0BD-8286-4543-1625-4AE8C49A6F65}"/>
              </a:ext>
            </a:extLst>
          </p:cNvPr>
          <p:cNvSpPr txBox="1"/>
          <p:nvPr/>
        </p:nvSpPr>
        <p:spPr>
          <a:xfrm>
            <a:off x="548640" y="274320"/>
            <a:ext cx="10469880" cy="531925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r>
              <a:rPr lang="pt-BR" sz="2600" b="1" dirty="0" err="1">
                <a:solidFill>
                  <a:srgbClr val="FFFFFF"/>
                </a:solidFill>
                <a:latin typeface="Montserrat"/>
              </a:rPr>
              <a:t>Kubernetes</a:t>
            </a:r>
            <a:r>
              <a:rPr lang="pt-BR" sz="2600" b="1" dirty="0">
                <a:solidFill>
                  <a:srgbClr val="FFFFFF"/>
                </a:solidFill>
                <a:latin typeface="Montserrat"/>
              </a:rPr>
              <a:t>: uma visão geral</a:t>
            </a:r>
            <a:endParaRPr sz="2600" b="1" i="0" dirty="0">
              <a:solidFill>
                <a:srgbClr val="FFFFFF"/>
              </a:solidFill>
              <a:latin typeface="Montserrat"/>
            </a:endParaRPr>
          </a:p>
        </p:txBody>
      </p:sp>
      <p:pic>
        <p:nvPicPr>
          <p:cNvPr id="3" name="Elemento visual" descr="image.png">
            <a:extLst>
              <a:ext uri="{FF2B5EF4-FFF2-40B4-BE49-F238E27FC236}">
                <a16:creationId xmlns:a16="http://schemas.microsoft.com/office/drawing/2014/main" id="{2230F6E1-6980-397A-CD65-506C6CAC41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1265408" y="146304"/>
            <a:ext cx="923331" cy="923331"/>
          </a:xfrm>
          <a:prstGeom prst="rect">
            <a:avLst/>
          </a:prstGeom>
        </p:spPr>
      </p:pic>
      <p:pic>
        <p:nvPicPr>
          <p:cNvPr id="4" name="Elemento visual" descr="image.png">
            <a:extLst>
              <a:ext uri="{FF2B5EF4-FFF2-40B4-BE49-F238E27FC236}">
                <a16:creationId xmlns:a16="http://schemas.microsoft.com/office/drawing/2014/main" id="{7DB90860-C9D4-829A-A61D-A5143F0D12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181" y="5765614"/>
            <a:ext cx="923331" cy="923331"/>
          </a:xfrm>
          <a:prstGeom prst="rect">
            <a:avLst/>
          </a:prstGeom>
        </p:spPr>
      </p:pic>
      <p:pic>
        <p:nvPicPr>
          <p:cNvPr id="5" name="Elemento visual" descr="image.png">
            <a:extLst>
              <a:ext uri="{FF2B5EF4-FFF2-40B4-BE49-F238E27FC236}">
                <a16:creationId xmlns:a16="http://schemas.microsoft.com/office/drawing/2014/main" id="{9D3D0857-4E37-CFD8-6F41-658329567C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0668" y="5948272"/>
            <a:ext cx="923331" cy="923331"/>
          </a:xfrm>
          <a:prstGeom prst="rect">
            <a:avLst/>
          </a:prstGeom>
        </p:spPr>
      </p:pic>
      <p:pic>
        <p:nvPicPr>
          <p:cNvPr id="6" name="Logo UniAnchieta" descr="image.png">
            <a:extLst>
              <a:ext uri="{FF2B5EF4-FFF2-40B4-BE49-F238E27FC236}">
                <a16:creationId xmlns:a16="http://schemas.microsoft.com/office/drawing/2014/main" id="{B135CE10-0519-2858-B246-20C5E0A4F6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54" y="6051766"/>
            <a:ext cx="2308138" cy="7138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9E4C745-3B0A-30D4-7520-91282D6B0FF3}"/>
              </a:ext>
            </a:extLst>
          </p:cNvPr>
          <p:cNvSpPr txBox="1"/>
          <p:nvPr/>
        </p:nvSpPr>
        <p:spPr>
          <a:xfrm>
            <a:off x="548639" y="1092790"/>
            <a:ext cx="7158447" cy="43630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F8FE"/>
                </a:solidFill>
                <a:latin typeface="Montserrat"/>
              </a:rPr>
              <a:t>Também conhecido como K8s ou </a:t>
            </a:r>
            <a:r>
              <a:rPr lang="pt-BR" sz="2400" b="1" dirty="0" err="1">
                <a:solidFill>
                  <a:srgbClr val="04F8FE"/>
                </a:solidFill>
                <a:latin typeface="Montserrat"/>
              </a:rPr>
              <a:t>kube</a:t>
            </a:r>
            <a:endParaRPr lang="pt-BR" sz="2400" b="1" dirty="0">
              <a:solidFill>
                <a:srgbClr val="04F8FE"/>
              </a:solidFill>
              <a:latin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b="1" dirty="0">
              <a:solidFill>
                <a:srgbClr val="04F8FE"/>
              </a:solidFill>
              <a:latin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F8FE"/>
                </a:solidFill>
                <a:latin typeface="Montserrat"/>
              </a:rPr>
              <a:t>Desenvolvido originalmente pela Google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b="1" dirty="0">
              <a:solidFill>
                <a:srgbClr val="04F8FE"/>
              </a:solidFill>
              <a:latin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F8FE"/>
                </a:solidFill>
                <a:latin typeface="Montserrat"/>
              </a:rPr>
              <a:t>Mantido pela </a:t>
            </a:r>
            <a:r>
              <a:rPr lang="pt-BR" sz="2400" b="1" u="sng" dirty="0">
                <a:solidFill>
                  <a:srgbClr val="04F8FE"/>
                </a:solidFill>
                <a:latin typeface="Montserrat"/>
              </a:rPr>
              <a:t>Cloud </a:t>
            </a:r>
            <a:r>
              <a:rPr lang="pt-BR" sz="2400" b="1" u="sng" dirty="0" err="1">
                <a:solidFill>
                  <a:srgbClr val="04F8FE"/>
                </a:solidFill>
                <a:latin typeface="Montserrat"/>
              </a:rPr>
              <a:t>Native</a:t>
            </a:r>
            <a:r>
              <a:rPr lang="pt-BR" sz="2400" b="1" u="sng" dirty="0">
                <a:solidFill>
                  <a:srgbClr val="04F8FE"/>
                </a:solidFill>
                <a:latin typeface="Montserrat"/>
              </a:rPr>
              <a:t> </a:t>
            </a:r>
            <a:r>
              <a:rPr lang="pt-BR" sz="2400" b="1" u="sng" dirty="0" err="1">
                <a:solidFill>
                  <a:srgbClr val="04F8FE"/>
                </a:solidFill>
                <a:latin typeface="Montserrat"/>
              </a:rPr>
              <a:t>Computing</a:t>
            </a:r>
            <a:r>
              <a:rPr lang="pt-BR" sz="2400" b="1" u="sng" dirty="0">
                <a:solidFill>
                  <a:srgbClr val="04F8FE"/>
                </a:solidFill>
                <a:latin typeface="Montserrat"/>
              </a:rPr>
              <a:t> Foundation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b="1" dirty="0">
              <a:solidFill>
                <a:srgbClr val="04F8FE"/>
              </a:solidFill>
              <a:latin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F8FE"/>
                </a:solidFill>
                <a:latin typeface="Montserrat"/>
              </a:rPr>
              <a:t>Escrito em Go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b="1" dirty="0">
              <a:solidFill>
                <a:srgbClr val="04F8FE"/>
              </a:solidFill>
              <a:latin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F8FE"/>
                </a:solidFill>
                <a:latin typeface="Montserrat"/>
              </a:rPr>
              <a:t>Open </a:t>
            </a:r>
            <a:r>
              <a:rPr lang="pt-BR" sz="2400" b="1" dirty="0" err="1">
                <a:solidFill>
                  <a:srgbClr val="04F8FE"/>
                </a:solidFill>
                <a:latin typeface="Montserrat"/>
              </a:rPr>
              <a:t>source</a:t>
            </a:r>
            <a:endParaRPr lang="pt-BR" sz="2400" b="1" dirty="0">
              <a:solidFill>
                <a:srgbClr val="04F8FE"/>
              </a:solidFill>
              <a:latin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b="1" dirty="0">
              <a:solidFill>
                <a:srgbClr val="04F8FE"/>
              </a:solidFill>
              <a:latin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F8FE"/>
                </a:solidFill>
                <a:latin typeface="Montserrat"/>
              </a:rPr>
              <a:t>Emuladores (</a:t>
            </a:r>
            <a:r>
              <a:rPr lang="pt-BR" sz="2400" b="1" u="sng" dirty="0" err="1">
                <a:solidFill>
                  <a:srgbClr val="04F8FE"/>
                </a:solidFill>
                <a:latin typeface="Montserrat"/>
              </a:rPr>
              <a:t>kind</a:t>
            </a:r>
            <a:r>
              <a:rPr lang="pt-BR" sz="2400" b="1" dirty="0">
                <a:solidFill>
                  <a:srgbClr val="04F8FE"/>
                </a:solidFill>
                <a:latin typeface="Montserrat"/>
              </a:rPr>
              <a:t>, </a:t>
            </a:r>
            <a:r>
              <a:rPr lang="pt-BR" sz="2400" b="1" u="sng" dirty="0" err="1">
                <a:solidFill>
                  <a:srgbClr val="04F8FE"/>
                </a:solidFill>
                <a:latin typeface="Montserrat"/>
              </a:rPr>
              <a:t>Minikube</a:t>
            </a:r>
            <a:r>
              <a:rPr lang="pt-BR" sz="2400" b="1" dirty="0">
                <a:solidFill>
                  <a:srgbClr val="04F8FE"/>
                </a:solidFill>
                <a:latin typeface="Montserrat"/>
              </a:rPr>
              <a:t>...)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31FC6C5F-CBB5-8E9A-758B-EC1E0FAE1D5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9358" r="31153" b="27022"/>
          <a:stretch/>
        </p:blipFill>
        <p:spPr>
          <a:xfrm>
            <a:off x="8715024" y="2053344"/>
            <a:ext cx="2928337" cy="2751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709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792278-3820-B029-458E-01DCD5CA0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>
            <a:extLst>
              <a:ext uri="{FF2B5EF4-FFF2-40B4-BE49-F238E27FC236}">
                <a16:creationId xmlns:a16="http://schemas.microsoft.com/office/drawing/2014/main" id="{CFADE747-7DE1-7C9A-0A96-BCE0F870779E}"/>
              </a:ext>
            </a:extLst>
          </p:cNvPr>
          <p:cNvSpPr txBox="1"/>
          <p:nvPr/>
        </p:nvSpPr>
        <p:spPr>
          <a:xfrm>
            <a:off x="548640" y="274320"/>
            <a:ext cx="10469880" cy="531925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r>
              <a:rPr lang="pt-BR" sz="2600" b="1" dirty="0" err="1">
                <a:solidFill>
                  <a:srgbClr val="FFFFFF"/>
                </a:solidFill>
                <a:latin typeface="Montserrat"/>
              </a:rPr>
              <a:t>Kubernetes</a:t>
            </a:r>
            <a:r>
              <a:rPr lang="pt-BR" sz="2600" b="1" dirty="0">
                <a:solidFill>
                  <a:srgbClr val="FFFFFF"/>
                </a:solidFill>
                <a:latin typeface="Montserrat"/>
              </a:rPr>
              <a:t>: por que é tão importante?</a:t>
            </a:r>
            <a:endParaRPr sz="2600" b="1" i="0" dirty="0">
              <a:solidFill>
                <a:srgbClr val="FFFFFF"/>
              </a:solidFill>
              <a:latin typeface="Montserrat"/>
            </a:endParaRPr>
          </a:p>
        </p:txBody>
      </p:sp>
      <p:pic>
        <p:nvPicPr>
          <p:cNvPr id="3" name="Elemento visual" descr="image.png">
            <a:extLst>
              <a:ext uri="{FF2B5EF4-FFF2-40B4-BE49-F238E27FC236}">
                <a16:creationId xmlns:a16="http://schemas.microsoft.com/office/drawing/2014/main" id="{0FE9D55A-3647-0539-2989-EE2839AAB4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1265408" y="146304"/>
            <a:ext cx="923331" cy="923331"/>
          </a:xfrm>
          <a:prstGeom prst="rect">
            <a:avLst/>
          </a:prstGeom>
        </p:spPr>
      </p:pic>
      <p:pic>
        <p:nvPicPr>
          <p:cNvPr id="4" name="Elemento visual" descr="image.png">
            <a:extLst>
              <a:ext uri="{FF2B5EF4-FFF2-40B4-BE49-F238E27FC236}">
                <a16:creationId xmlns:a16="http://schemas.microsoft.com/office/drawing/2014/main" id="{982A4485-FFDB-1589-FA4A-FE66728F4A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181" y="5765614"/>
            <a:ext cx="923331" cy="923331"/>
          </a:xfrm>
          <a:prstGeom prst="rect">
            <a:avLst/>
          </a:prstGeom>
        </p:spPr>
      </p:pic>
      <p:pic>
        <p:nvPicPr>
          <p:cNvPr id="5" name="Elemento visual" descr="image.png">
            <a:extLst>
              <a:ext uri="{FF2B5EF4-FFF2-40B4-BE49-F238E27FC236}">
                <a16:creationId xmlns:a16="http://schemas.microsoft.com/office/drawing/2014/main" id="{E6375316-934F-B1DC-7B57-13E715C18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0668" y="5948272"/>
            <a:ext cx="923331" cy="923331"/>
          </a:xfrm>
          <a:prstGeom prst="rect">
            <a:avLst/>
          </a:prstGeom>
        </p:spPr>
      </p:pic>
      <p:pic>
        <p:nvPicPr>
          <p:cNvPr id="6" name="Logo UniAnchieta" descr="image.png">
            <a:extLst>
              <a:ext uri="{FF2B5EF4-FFF2-40B4-BE49-F238E27FC236}">
                <a16:creationId xmlns:a16="http://schemas.microsoft.com/office/drawing/2014/main" id="{AF656073-BD70-2CCD-FE9C-51D88B013C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54" y="6051766"/>
            <a:ext cx="2308138" cy="7138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EEEB0D7-BB87-B179-84C2-04896D72F818}"/>
              </a:ext>
            </a:extLst>
          </p:cNvPr>
          <p:cNvSpPr txBox="1"/>
          <p:nvPr/>
        </p:nvSpPr>
        <p:spPr>
          <a:xfrm>
            <a:off x="548639" y="1382039"/>
            <a:ext cx="7158447" cy="43630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u="sng" dirty="0">
                <a:solidFill>
                  <a:srgbClr val="04F8FE"/>
                </a:solidFill>
                <a:latin typeface="Montserrat"/>
              </a:rPr>
              <a:t>Orquestra containers</a:t>
            </a:r>
            <a:r>
              <a:rPr lang="pt-BR" sz="2400" b="1" dirty="0">
                <a:solidFill>
                  <a:srgbClr val="04F8FE"/>
                </a:solidFill>
                <a:latin typeface="Montserrat"/>
              </a:rPr>
              <a:t>, automatizando sua execução e gerenciamento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b="1" dirty="0">
              <a:solidFill>
                <a:srgbClr val="04F8FE"/>
              </a:solidFill>
              <a:latin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u="sng" dirty="0">
                <a:solidFill>
                  <a:srgbClr val="04F8FE"/>
                </a:solidFill>
                <a:latin typeface="Montserrat"/>
              </a:rPr>
              <a:t>Escala aplicações e a infraestrutura</a:t>
            </a:r>
            <a:r>
              <a:rPr lang="pt-BR" sz="2400" b="1" dirty="0">
                <a:solidFill>
                  <a:srgbClr val="04F8FE"/>
                </a:solidFill>
                <a:latin typeface="Montserrat"/>
              </a:rPr>
              <a:t>, aumentando ou reduzindo recursos conforme a demanda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b="1" dirty="0">
              <a:solidFill>
                <a:srgbClr val="04F8FE"/>
              </a:solidFill>
              <a:latin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F8FE"/>
                </a:solidFill>
                <a:latin typeface="Montserrat"/>
              </a:rPr>
              <a:t>Garante </a:t>
            </a:r>
            <a:r>
              <a:rPr lang="pt-BR" sz="2400" b="1" u="sng" dirty="0">
                <a:solidFill>
                  <a:srgbClr val="04F8FE"/>
                </a:solidFill>
                <a:latin typeface="Montserrat"/>
              </a:rPr>
              <a:t>maior disponibilidade</a:t>
            </a:r>
            <a:r>
              <a:rPr lang="pt-BR" sz="2400" b="1" dirty="0">
                <a:solidFill>
                  <a:srgbClr val="04F8FE"/>
                </a:solidFill>
                <a:latin typeface="Montserrat"/>
              </a:rPr>
              <a:t>, reiniciando até mesmo containers que apresentem falhas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115DDD5-4828-0655-6927-E2696DDB3B9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9358" r="31153" b="27022"/>
          <a:stretch/>
        </p:blipFill>
        <p:spPr>
          <a:xfrm>
            <a:off x="8715024" y="2053344"/>
            <a:ext cx="2928337" cy="2751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8146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174EEC-C32F-22D1-1695-F5E81AAEF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>
            <a:extLst>
              <a:ext uri="{FF2B5EF4-FFF2-40B4-BE49-F238E27FC236}">
                <a16:creationId xmlns:a16="http://schemas.microsoft.com/office/drawing/2014/main" id="{C6A96EBD-12B3-C14C-C874-AE89BA9CE79A}"/>
              </a:ext>
            </a:extLst>
          </p:cNvPr>
          <p:cNvSpPr txBox="1"/>
          <p:nvPr/>
        </p:nvSpPr>
        <p:spPr>
          <a:xfrm>
            <a:off x="548640" y="274320"/>
            <a:ext cx="10469880" cy="531925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r>
              <a:rPr lang="pt-BR" sz="2600" b="1" dirty="0" err="1">
                <a:solidFill>
                  <a:srgbClr val="FFFFFF"/>
                </a:solidFill>
                <a:latin typeface="Montserrat"/>
              </a:rPr>
              <a:t>Kubernetes</a:t>
            </a:r>
            <a:r>
              <a:rPr lang="pt-BR" sz="2600" b="1" dirty="0">
                <a:solidFill>
                  <a:srgbClr val="FFFFFF"/>
                </a:solidFill>
                <a:latin typeface="Montserrat"/>
              </a:rPr>
              <a:t>: por que é tão importante?</a:t>
            </a:r>
            <a:endParaRPr sz="2600" b="1" i="0" dirty="0">
              <a:solidFill>
                <a:srgbClr val="FFFFFF"/>
              </a:solidFill>
              <a:latin typeface="Montserrat"/>
            </a:endParaRPr>
          </a:p>
        </p:txBody>
      </p:sp>
      <p:pic>
        <p:nvPicPr>
          <p:cNvPr id="3" name="Elemento visual" descr="image.png">
            <a:extLst>
              <a:ext uri="{FF2B5EF4-FFF2-40B4-BE49-F238E27FC236}">
                <a16:creationId xmlns:a16="http://schemas.microsoft.com/office/drawing/2014/main" id="{A9BE56CB-8277-33CA-1522-58C5B76BE2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1265408" y="146304"/>
            <a:ext cx="923331" cy="923331"/>
          </a:xfrm>
          <a:prstGeom prst="rect">
            <a:avLst/>
          </a:prstGeom>
        </p:spPr>
      </p:pic>
      <p:pic>
        <p:nvPicPr>
          <p:cNvPr id="4" name="Elemento visual" descr="image.png">
            <a:extLst>
              <a:ext uri="{FF2B5EF4-FFF2-40B4-BE49-F238E27FC236}">
                <a16:creationId xmlns:a16="http://schemas.microsoft.com/office/drawing/2014/main" id="{56412ACE-A402-D4B9-099B-6DA279F193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181" y="5765614"/>
            <a:ext cx="923331" cy="923331"/>
          </a:xfrm>
          <a:prstGeom prst="rect">
            <a:avLst/>
          </a:prstGeom>
        </p:spPr>
      </p:pic>
      <p:pic>
        <p:nvPicPr>
          <p:cNvPr id="5" name="Elemento visual" descr="image.png">
            <a:extLst>
              <a:ext uri="{FF2B5EF4-FFF2-40B4-BE49-F238E27FC236}">
                <a16:creationId xmlns:a16="http://schemas.microsoft.com/office/drawing/2014/main" id="{23784EFF-6698-B7DA-7DEA-5E6141F656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0668" y="5948272"/>
            <a:ext cx="923331" cy="923331"/>
          </a:xfrm>
          <a:prstGeom prst="rect">
            <a:avLst/>
          </a:prstGeom>
        </p:spPr>
      </p:pic>
      <p:pic>
        <p:nvPicPr>
          <p:cNvPr id="6" name="Logo UniAnchieta" descr="image.png">
            <a:extLst>
              <a:ext uri="{FF2B5EF4-FFF2-40B4-BE49-F238E27FC236}">
                <a16:creationId xmlns:a16="http://schemas.microsoft.com/office/drawing/2014/main" id="{C11DCA8F-1075-67DE-22D6-4EEF9A6785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54" y="6051766"/>
            <a:ext cx="2308138" cy="7138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FB0FC8B-7955-DAD8-6B7A-8F604052F854}"/>
              </a:ext>
            </a:extLst>
          </p:cNvPr>
          <p:cNvSpPr txBox="1"/>
          <p:nvPr/>
        </p:nvSpPr>
        <p:spPr>
          <a:xfrm>
            <a:off x="548639" y="1838131"/>
            <a:ext cx="7158447" cy="390697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u="sng" dirty="0">
                <a:solidFill>
                  <a:srgbClr val="04F8FE"/>
                </a:solidFill>
                <a:latin typeface="Montserrat"/>
              </a:rPr>
              <a:t>Simplifica atualizações</a:t>
            </a:r>
            <a:r>
              <a:rPr lang="pt-BR" sz="2400" b="1" dirty="0">
                <a:solidFill>
                  <a:srgbClr val="04F8FE"/>
                </a:solidFill>
                <a:latin typeface="Montserrat"/>
              </a:rPr>
              <a:t>, descomplicando a implantação de novas versões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b="1" dirty="0">
              <a:solidFill>
                <a:srgbClr val="04F8FE"/>
              </a:solidFill>
              <a:latin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u="sng" dirty="0">
                <a:solidFill>
                  <a:srgbClr val="04F8FE"/>
                </a:solidFill>
                <a:latin typeface="Montserrat"/>
              </a:rPr>
              <a:t>Padroniza ambientes</a:t>
            </a:r>
            <a:r>
              <a:rPr lang="pt-BR" sz="2400" b="1" dirty="0">
                <a:solidFill>
                  <a:srgbClr val="04F8FE"/>
                </a:solidFill>
                <a:latin typeface="Montserrat"/>
              </a:rPr>
              <a:t>, facilitando a execução de aplicações em diferentes infraestruturas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b="1" dirty="0">
              <a:solidFill>
                <a:srgbClr val="04F8FE"/>
              </a:solidFill>
              <a:latin typeface="Montserrat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4EB302E5-DD29-64B9-A774-C509846EE1B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9358" r="31153" b="27022"/>
          <a:stretch/>
        </p:blipFill>
        <p:spPr>
          <a:xfrm>
            <a:off x="8715024" y="2053344"/>
            <a:ext cx="2928337" cy="2751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7087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01BFDF-D50E-C19C-4F4D-BD1001AF4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>
            <a:extLst>
              <a:ext uri="{FF2B5EF4-FFF2-40B4-BE49-F238E27FC236}">
                <a16:creationId xmlns:a16="http://schemas.microsoft.com/office/drawing/2014/main" id="{1DC342E7-072A-DAEA-055E-67B741B04911}"/>
              </a:ext>
            </a:extLst>
          </p:cNvPr>
          <p:cNvSpPr txBox="1"/>
          <p:nvPr/>
        </p:nvSpPr>
        <p:spPr>
          <a:xfrm>
            <a:off x="548640" y="274320"/>
            <a:ext cx="10469880" cy="531925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r>
              <a:rPr lang="pt-BR" sz="2600" b="1" dirty="0">
                <a:solidFill>
                  <a:srgbClr val="FFFFFF"/>
                </a:solidFill>
                <a:latin typeface="Montserrat"/>
              </a:rPr>
              <a:t>Como o </a:t>
            </a:r>
            <a:r>
              <a:rPr lang="pt-BR" sz="2600" b="1" dirty="0" err="1">
                <a:solidFill>
                  <a:srgbClr val="FFFFFF"/>
                </a:solidFill>
                <a:latin typeface="Montserrat"/>
              </a:rPr>
              <a:t>Kubernetes</a:t>
            </a:r>
            <a:r>
              <a:rPr lang="pt-BR" sz="2600" b="1" dirty="0">
                <a:solidFill>
                  <a:srgbClr val="FFFFFF"/>
                </a:solidFill>
                <a:latin typeface="Montserrat"/>
              </a:rPr>
              <a:t> pode ser útil?</a:t>
            </a:r>
            <a:endParaRPr sz="2600" b="1" i="0" dirty="0">
              <a:solidFill>
                <a:srgbClr val="FFFFFF"/>
              </a:solidFill>
              <a:latin typeface="Montserrat"/>
            </a:endParaRPr>
          </a:p>
        </p:txBody>
      </p:sp>
      <p:pic>
        <p:nvPicPr>
          <p:cNvPr id="3" name="Elemento visual" descr="image.png">
            <a:extLst>
              <a:ext uri="{FF2B5EF4-FFF2-40B4-BE49-F238E27FC236}">
                <a16:creationId xmlns:a16="http://schemas.microsoft.com/office/drawing/2014/main" id="{D7C30DED-861C-F6D4-63D4-90ACD3FC5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1265408" y="146304"/>
            <a:ext cx="923331" cy="923331"/>
          </a:xfrm>
          <a:prstGeom prst="rect">
            <a:avLst/>
          </a:prstGeom>
        </p:spPr>
      </p:pic>
      <p:pic>
        <p:nvPicPr>
          <p:cNvPr id="4" name="Elemento visual" descr="image.png">
            <a:extLst>
              <a:ext uri="{FF2B5EF4-FFF2-40B4-BE49-F238E27FC236}">
                <a16:creationId xmlns:a16="http://schemas.microsoft.com/office/drawing/2014/main" id="{A3E0F08E-02CF-EDE1-0263-6E60FF5773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181" y="5765614"/>
            <a:ext cx="923331" cy="923331"/>
          </a:xfrm>
          <a:prstGeom prst="rect">
            <a:avLst/>
          </a:prstGeom>
        </p:spPr>
      </p:pic>
      <p:pic>
        <p:nvPicPr>
          <p:cNvPr id="5" name="Elemento visual" descr="image.png">
            <a:extLst>
              <a:ext uri="{FF2B5EF4-FFF2-40B4-BE49-F238E27FC236}">
                <a16:creationId xmlns:a16="http://schemas.microsoft.com/office/drawing/2014/main" id="{3248F7A8-3FA0-3210-0194-224AC99E3A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0668" y="5948272"/>
            <a:ext cx="923331" cy="923331"/>
          </a:xfrm>
          <a:prstGeom prst="rect">
            <a:avLst/>
          </a:prstGeom>
        </p:spPr>
      </p:pic>
      <p:pic>
        <p:nvPicPr>
          <p:cNvPr id="6" name="Logo UniAnchieta" descr="image.png">
            <a:extLst>
              <a:ext uri="{FF2B5EF4-FFF2-40B4-BE49-F238E27FC236}">
                <a16:creationId xmlns:a16="http://schemas.microsoft.com/office/drawing/2014/main" id="{10B93DB4-E511-7BA5-CC25-185975A379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54" y="6051766"/>
            <a:ext cx="2308138" cy="7138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70B0700-F920-9D9F-9F07-B177465CA7B7}"/>
              </a:ext>
            </a:extLst>
          </p:cNvPr>
          <p:cNvSpPr txBox="1"/>
          <p:nvPr/>
        </p:nvSpPr>
        <p:spPr>
          <a:xfrm>
            <a:off x="548639" y="2053344"/>
            <a:ext cx="7158447" cy="3691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F8FE"/>
                </a:solidFill>
                <a:latin typeface="Montserrat"/>
              </a:rPr>
              <a:t>Orquestração de containers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b="1" dirty="0">
              <a:solidFill>
                <a:srgbClr val="04F8FE"/>
              </a:solidFill>
              <a:latin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 err="1">
                <a:solidFill>
                  <a:srgbClr val="04F8FE"/>
                </a:solidFill>
                <a:latin typeface="Montserrat"/>
              </a:rPr>
              <a:t>Autoscaling</a:t>
            </a:r>
            <a:endParaRPr lang="pt-BR" sz="2400" b="1" dirty="0">
              <a:solidFill>
                <a:srgbClr val="04F8FE"/>
              </a:solidFill>
              <a:latin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b="1" dirty="0">
              <a:solidFill>
                <a:srgbClr val="04F8FE"/>
              </a:solidFill>
              <a:latin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F8FE"/>
                </a:solidFill>
                <a:latin typeface="Montserrat"/>
              </a:rPr>
              <a:t>Mecanismos de Health </a:t>
            </a:r>
            <a:r>
              <a:rPr lang="pt-BR" sz="2400" b="1" dirty="0" err="1">
                <a:solidFill>
                  <a:srgbClr val="04F8FE"/>
                </a:solidFill>
                <a:latin typeface="Montserrat"/>
              </a:rPr>
              <a:t>Check</a:t>
            </a:r>
            <a:endParaRPr lang="pt-BR" sz="2400" b="1" dirty="0">
              <a:solidFill>
                <a:srgbClr val="04F8FE"/>
              </a:solidFill>
              <a:latin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b="1" dirty="0">
              <a:solidFill>
                <a:srgbClr val="04F8FE"/>
              </a:solidFill>
              <a:latin typeface="Montserrat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E848725B-779A-9079-534A-47CFC9131FC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9358" r="31153" b="27022"/>
          <a:stretch/>
        </p:blipFill>
        <p:spPr>
          <a:xfrm>
            <a:off x="8715024" y="2053344"/>
            <a:ext cx="2928337" cy="2751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5122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967648-2842-08E3-F9BD-592CBD054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>
            <a:extLst>
              <a:ext uri="{FF2B5EF4-FFF2-40B4-BE49-F238E27FC236}">
                <a16:creationId xmlns:a16="http://schemas.microsoft.com/office/drawing/2014/main" id="{8AD19E6B-997B-5824-21A0-84B829E24699}"/>
              </a:ext>
            </a:extLst>
          </p:cNvPr>
          <p:cNvSpPr txBox="1"/>
          <p:nvPr/>
        </p:nvSpPr>
        <p:spPr>
          <a:xfrm>
            <a:off x="548640" y="274320"/>
            <a:ext cx="10469880" cy="531925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r>
              <a:rPr lang="pt-BR" sz="2600" b="1" dirty="0" err="1">
                <a:solidFill>
                  <a:srgbClr val="FFFFFF"/>
                </a:solidFill>
                <a:latin typeface="Montserrat"/>
              </a:rPr>
              <a:t>Kubernetes</a:t>
            </a:r>
            <a:r>
              <a:rPr lang="pt-BR" sz="2600" b="1" dirty="0">
                <a:solidFill>
                  <a:srgbClr val="FFFFFF"/>
                </a:solidFill>
                <a:latin typeface="Montserrat"/>
              </a:rPr>
              <a:t>: arquitetura</a:t>
            </a:r>
            <a:endParaRPr sz="2600" b="1" i="0" dirty="0">
              <a:solidFill>
                <a:srgbClr val="FFFFFF"/>
              </a:solidFill>
              <a:latin typeface="Montserrat"/>
            </a:endParaRPr>
          </a:p>
        </p:txBody>
      </p:sp>
      <p:pic>
        <p:nvPicPr>
          <p:cNvPr id="3" name="Elemento visual" descr="image.png">
            <a:extLst>
              <a:ext uri="{FF2B5EF4-FFF2-40B4-BE49-F238E27FC236}">
                <a16:creationId xmlns:a16="http://schemas.microsoft.com/office/drawing/2014/main" id="{09A76555-49FB-D4DF-2E26-CF1C516A31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1265408" y="146304"/>
            <a:ext cx="923331" cy="923331"/>
          </a:xfrm>
          <a:prstGeom prst="rect">
            <a:avLst/>
          </a:prstGeom>
        </p:spPr>
      </p:pic>
      <p:pic>
        <p:nvPicPr>
          <p:cNvPr id="4" name="Elemento visual" descr="image.png">
            <a:extLst>
              <a:ext uri="{FF2B5EF4-FFF2-40B4-BE49-F238E27FC236}">
                <a16:creationId xmlns:a16="http://schemas.microsoft.com/office/drawing/2014/main" id="{C7D3CE28-25D9-359C-AD57-7957D5AEA0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181" y="5765614"/>
            <a:ext cx="923331" cy="923331"/>
          </a:xfrm>
          <a:prstGeom prst="rect">
            <a:avLst/>
          </a:prstGeom>
        </p:spPr>
      </p:pic>
      <p:pic>
        <p:nvPicPr>
          <p:cNvPr id="5" name="Elemento visual" descr="image.png">
            <a:extLst>
              <a:ext uri="{FF2B5EF4-FFF2-40B4-BE49-F238E27FC236}">
                <a16:creationId xmlns:a16="http://schemas.microsoft.com/office/drawing/2014/main" id="{EB08ACDC-EFD4-5A43-2E3F-C469552918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0668" y="5948272"/>
            <a:ext cx="923331" cy="923331"/>
          </a:xfrm>
          <a:prstGeom prst="rect">
            <a:avLst/>
          </a:prstGeom>
        </p:spPr>
      </p:pic>
      <p:pic>
        <p:nvPicPr>
          <p:cNvPr id="6" name="Logo UniAnchieta" descr="image.png">
            <a:extLst>
              <a:ext uri="{FF2B5EF4-FFF2-40B4-BE49-F238E27FC236}">
                <a16:creationId xmlns:a16="http://schemas.microsoft.com/office/drawing/2014/main" id="{66BBC612-5EEE-0F56-FA65-7F90ACBB66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54" y="6051766"/>
            <a:ext cx="2308138" cy="7138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C971ABC-D5B6-8CB7-BC5E-7B687D71F392}"/>
              </a:ext>
            </a:extLst>
          </p:cNvPr>
          <p:cNvSpPr txBox="1"/>
          <p:nvPr/>
        </p:nvSpPr>
        <p:spPr>
          <a:xfrm>
            <a:off x="548639" y="1838131"/>
            <a:ext cx="7158447" cy="390697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F8FE"/>
                </a:solidFill>
                <a:latin typeface="Montserrat"/>
              </a:rPr>
              <a:t>Cluster com máquina </a:t>
            </a:r>
            <a:r>
              <a:rPr lang="pt-BR" sz="2400" b="1" u="sng" dirty="0">
                <a:solidFill>
                  <a:srgbClr val="04F8FE"/>
                </a:solidFill>
                <a:latin typeface="Montserrat"/>
              </a:rPr>
              <a:t>Master</a:t>
            </a:r>
            <a:r>
              <a:rPr lang="pt-BR" sz="2400" b="1" dirty="0">
                <a:solidFill>
                  <a:srgbClr val="04F8FE"/>
                </a:solidFill>
                <a:latin typeface="Montserrat"/>
              </a:rPr>
              <a:t> e </a:t>
            </a:r>
            <a:r>
              <a:rPr lang="pt-BR" sz="2400" b="1" u="sng" dirty="0">
                <a:solidFill>
                  <a:srgbClr val="04F8FE"/>
                </a:solidFill>
                <a:latin typeface="Montserrat"/>
              </a:rPr>
              <a:t>Nodes (Nós)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b="1" dirty="0">
              <a:solidFill>
                <a:srgbClr val="04F8FE"/>
              </a:solidFill>
              <a:latin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F8FE"/>
                </a:solidFill>
                <a:latin typeface="Montserrat"/>
              </a:rPr>
              <a:t>Criação de objetos através de arquivos no formato </a:t>
            </a:r>
            <a:r>
              <a:rPr lang="pt-BR" sz="2400" b="1" u="sng" dirty="0">
                <a:solidFill>
                  <a:srgbClr val="04F8FE"/>
                </a:solidFill>
                <a:latin typeface="Montserrat"/>
              </a:rPr>
              <a:t>YAML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b="1" dirty="0">
              <a:solidFill>
                <a:srgbClr val="04F8FE"/>
              </a:solidFill>
              <a:latin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F8FE"/>
                </a:solidFill>
                <a:latin typeface="Montserrat"/>
              </a:rPr>
              <a:t>Diversas funcionalidades para </a:t>
            </a:r>
            <a:r>
              <a:rPr lang="pt-BR" sz="2400" b="1" u="sng" dirty="0">
                <a:solidFill>
                  <a:srgbClr val="04F8FE"/>
                </a:solidFill>
                <a:latin typeface="Montserrat"/>
              </a:rPr>
              <a:t>gerenciamento</a:t>
            </a:r>
            <a:r>
              <a:rPr lang="pt-BR" sz="2400" b="1" dirty="0">
                <a:solidFill>
                  <a:srgbClr val="04F8FE"/>
                </a:solidFill>
                <a:latin typeface="Montserrat"/>
              </a:rPr>
              <a:t> e </a:t>
            </a:r>
            <a:r>
              <a:rPr lang="pt-BR" sz="2400" b="1" u="sng" dirty="0">
                <a:solidFill>
                  <a:srgbClr val="04F8FE"/>
                </a:solidFill>
                <a:latin typeface="Montserrat"/>
              </a:rPr>
              <a:t>orquestração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b="1" dirty="0">
              <a:solidFill>
                <a:srgbClr val="04F8FE"/>
              </a:solidFill>
              <a:latin typeface="Montserrat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9BF0E57F-34CC-E064-0B7D-B7044D5B9D1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9358" r="31153" b="27022"/>
          <a:stretch/>
        </p:blipFill>
        <p:spPr>
          <a:xfrm>
            <a:off x="8715024" y="2053344"/>
            <a:ext cx="2928337" cy="2751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6274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D04D80-D684-EB20-432A-D33E7907D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>
            <a:extLst>
              <a:ext uri="{FF2B5EF4-FFF2-40B4-BE49-F238E27FC236}">
                <a16:creationId xmlns:a16="http://schemas.microsoft.com/office/drawing/2014/main" id="{EBA90589-5EAA-4FF1-C488-2B4E38C35B6B}"/>
              </a:ext>
            </a:extLst>
          </p:cNvPr>
          <p:cNvSpPr txBox="1"/>
          <p:nvPr/>
        </p:nvSpPr>
        <p:spPr>
          <a:xfrm>
            <a:off x="548640" y="274320"/>
            <a:ext cx="10469880" cy="531925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r>
              <a:rPr lang="pt-BR" sz="2600" b="1" dirty="0" err="1">
                <a:solidFill>
                  <a:srgbClr val="FFFFFF"/>
                </a:solidFill>
                <a:latin typeface="Montserrat"/>
              </a:rPr>
              <a:t>Kubernetes</a:t>
            </a:r>
            <a:r>
              <a:rPr lang="pt-BR" sz="2600" b="1" dirty="0">
                <a:solidFill>
                  <a:srgbClr val="FFFFFF"/>
                </a:solidFill>
                <a:latin typeface="Montserrat"/>
              </a:rPr>
              <a:t>: arquitetura</a:t>
            </a:r>
            <a:endParaRPr sz="2600" b="1" i="0" dirty="0">
              <a:solidFill>
                <a:srgbClr val="FFFFFF"/>
              </a:solidFill>
              <a:latin typeface="Montserrat"/>
            </a:endParaRPr>
          </a:p>
        </p:txBody>
      </p:sp>
      <p:pic>
        <p:nvPicPr>
          <p:cNvPr id="3" name="Elemento visual" descr="image.png">
            <a:extLst>
              <a:ext uri="{FF2B5EF4-FFF2-40B4-BE49-F238E27FC236}">
                <a16:creationId xmlns:a16="http://schemas.microsoft.com/office/drawing/2014/main" id="{75071292-FE27-116B-720A-293B312A3A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1265408" y="146304"/>
            <a:ext cx="923331" cy="923331"/>
          </a:xfrm>
          <a:prstGeom prst="rect">
            <a:avLst/>
          </a:prstGeom>
        </p:spPr>
      </p:pic>
      <p:pic>
        <p:nvPicPr>
          <p:cNvPr id="4" name="Elemento visual" descr="image.png">
            <a:extLst>
              <a:ext uri="{FF2B5EF4-FFF2-40B4-BE49-F238E27FC236}">
                <a16:creationId xmlns:a16="http://schemas.microsoft.com/office/drawing/2014/main" id="{574437DB-E675-465A-444C-57E1D8E19A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181" y="5765614"/>
            <a:ext cx="923331" cy="923331"/>
          </a:xfrm>
          <a:prstGeom prst="rect">
            <a:avLst/>
          </a:prstGeom>
        </p:spPr>
      </p:pic>
      <p:pic>
        <p:nvPicPr>
          <p:cNvPr id="5" name="Elemento visual" descr="image.png">
            <a:extLst>
              <a:ext uri="{FF2B5EF4-FFF2-40B4-BE49-F238E27FC236}">
                <a16:creationId xmlns:a16="http://schemas.microsoft.com/office/drawing/2014/main" id="{5B04224C-4A9B-64CB-234C-26DD0351E9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0668" y="5948272"/>
            <a:ext cx="923331" cy="923331"/>
          </a:xfrm>
          <a:prstGeom prst="rect">
            <a:avLst/>
          </a:prstGeom>
        </p:spPr>
      </p:pic>
      <p:pic>
        <p:nvPicPr>
          <p:cNvPr id="6" name="Logo UniAnchieta" descr="image.png">
            <a:extLst>
              <a:ext uri="{FF2B5EF4-FFF2-40B4-BE49-F238E27FC236}">
                <a16:creationId xmlns:a16="http://schemas.microsoft.com/office/drawing/2014/main" id="{EADEC8FB-3CAC-AB96-E839-D93F45E1B0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54" y="6051766"/>
            <a:ext cx="2308138" cy="713858"/>
          </a:xfrm>
          <a:prstGeom prst="rect">
            <a:avLst/>
          </a:prstGeom>
        </p:spPr>
      </p:pic>
      <p:sp>
        <p:nvSpPr>
          <p:cNvPr id="7" name="Elipse 6">
            <a:extLst>
              <a:ext uri="{FF2B5EF4-FFF2-40B4-BE49-F238E27FC236}">
                <a16:creationId xmlns:a16="http://schemas.microsoft.com/office/drawing/2014/main" id="{5D1AF30C-BC44-FBD9-264D-DCF1082279A0}"/>
              </a:ext>
            </a:extLst>
          </p:cNvPr>
          <p:cNvSpPr/>
          <p:nvPr/>
        </p:nvSpPr>
        <p:spPr bwMode="auto">
          <a:xfrm>
            <a:off x="426755" y="1862619"/>
            <a:ext cx="3505200" cy="3505200"/>
          </a:xfrm>
          <a:prstGeom prst="ellipse">
            <a:avLst/>
          </a:prstGeom>
          <a:solidFill>
            <a:schemeClr val="tx1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pt-BR" sz="2000" dirty="0">
              <a:gradFill>
                <a:gsLst>
                  <a:gs pos="5439">
                    <a:srgbClr val="F8F8F8"/>
                  </a:gs>
                  <a:gs pos="10000">
                    <a:srgbClr val="F8F8F8"/>
                  </a:gs>
                </a:gsLst>
                <a:lin ang="5400000" scaled="0"/>
              </a:gradFill>
            </a:endParaRP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2CAEED82-0517-E9ED-A4F4-470B2BC8BAE6}"/>
              </a:ext>
            </a:extLst>
          </p:cNvPr>
          <p:cNvGrpSpPr/>
          <p:nvPr/>
        </p:nvGrpSpPr>
        <p:grpSpPr>
          <a:xfrm>
            <a:off x="1791052" y="3896918"/>
            <a:ext cx="838200" cy="1002854"/>
            <a:chOff x="2865437" y="2278062"/>
            <a:chExt cx="1905000" cy="2286000"/>
          </a:xfrm>
        </p:grpSpPr>
        <p:sp>
          <p:nvSpPr>
            <p:cNvPr id="9" name="Retângulo: Único Canto Recortado 8">
              <a:extLst>
                <a:ext uri="{FF2B5EF4-FFF2-40B4-BE49-F238E27FC236}">
                  <a16:creationId xmlns:a16="http://schemas.microsoft.com/office/drawing/2014/main" id="{54367C3B-99E6-BF6E-B0D6-7EDCA93B7E7F}"/>
                </a:ext>
              </a:extLst>
            </p:cNvPr>
            <p:cNvSpPr/>
            <p:nvPr/>
          </p:nvSpPr>
          <p:spPr bwMode="auto">
            <a:xfrm>
              <a:off x="2865437" y="2278062"/>
              <a:ext cx="1905000" cy="2286000"/>
            </a:xfrm>
            <a:prstGeom prst="snip1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pt-BR" sz="2000" dirty="0">
                <a:gradFill>
                  <a:gsLst>
                    <a:gs pos="5439">
                      <a:srgbClr val="F8F8F8"/>
                    </a:gs>
                    <a:gs pos="10000">
                      <a:srgbClr val="F8F8F8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12" name="Imagem 11">
              <a:extLst>
                <a:ext uri="{FF2B5EF4-FFF2-40B4-BE49-F238E27FC236}">
                  <a16:creationId xmlns:a16="http://schemas.microsoft.com/office/drawing/2014/main" id="{4B339E75-0216-30E2-187E-24A54EC5CF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001011" y="2757963"/>
              <a:ext cx="1633851" cy="1478598"/>
            </a:xfrm>
            <a:prstGeom prst="rect">
              <a:avLst/>
            </a:prstGeom>
          </p:spPr>
        </p:pic>
      </p:grpSp>
      <p:sp>
        <p:nvSpPr>
          <p:cNvPr id="13" name="Retângulo 12">
            <a:extLst>
              <a:ext uri="{FF2B5EF4-FFF2-40B4-BE49-F238E27FC236}">
                <a16:creationId xmlns:a16="http://schemas.microsoft.com/office/drawing/2014/main" id="{F887F9A6-52D3-136E-EEBA-049FE4CD65D8}"/>
              </a:ext>
            </a:extLst>
          </p:cNvPr>
          <p:cNvSpPr/>
          <p:nvPr/>
        </p:nvSpPr>
        <p:spPr bwMode="auto">
          <a:xfrm>
            <a:off x="5238468" y="991399"/>
            <a:ext cx="6172200" cy="487521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pt-BR" sz="2000" dirty="0">
              <a:gradFill>
                <a:gsLst>
                  <a:gs pos="5439">
                    <a:srgbClr val="F8F8F8"/>
                  </a:gs>
                  <a:gs pos="10000">
                    <a:srgbClr val="F8F8F8"/>
                  </a:gs>
                </a:gsLst>
                <a:lin ang="5400000" scaled="0"/>
              </a:gradFill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4B69BA02-C7C2-7FD8-E028-4C47DA27B611}"/>
              </a:ext>
            </a:extLst>
          </p:cNvPr>
          <p:cNvSpPr txBox="1"/>
          <p:nvPr/>
        </p:nvSpPr>
        <p:spPr>
          <a:xfrm>
            <a:off x="5314668" y="1044421"/>
            <a:ext cx="1752600" cy="683264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pt-BR" sz="28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Cluster</a:t>
            </a: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F5EF0A89-613D-7093-E43C-A5DCAF41B1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409" y="2544172"/>
            <a:ext cx="1091997" cy="1091997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D2D1F14E-3F55-645C-D4FE-B33F86C22DBD}"/>
              </a:ext>
            </a:extLst>
          </p:cNvPr>
          <p:cNvSpPr txBox="1"/>
          <p:nvPr/>
        </p:nvSpPr>
        <p:spPr>
          <a:xfrm>
            <a:off x="1798355" y="2748539"/>
            <a:ext cx="1752600" cy="683264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pt-BR" sz="2800" dirty="0" err="1"/>
              <a:t>kubectl</a:t>
            </a:r>
            <a:endParaRPr lang="pt-BR" sz="2800" dirty="0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71C7FB80-0EFD-5E7D-71A8-17CE191BB979}"/>
              </a:ext>
            </a:extLst>
          </p:cNvPr>
          <p:cNvSpPr/>
          <p:nvPr/>
        </p:nvSpPr>
        <p:spPr bwMode="auto">
          <a:xfrm>
            <a:off x="6076668" y="2944342"/>
            <a:ext cx="1752600" cy="1371600"/>
          </a:xfrm>
          <a:prstGeom prst="rect">
            <a:avLst/>
          </a:prstGeom>
          <a:solidFill>
            <a:srgbClr val="008080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pt-BR" sz="2800" dirty="0">
                <a:gradFill>
                  <a:gsLst>
                    <a:gs pos="5439">
                      <a:srgbClr val="F8F8F8"/>
                    </a:gs>
                    <a:gs pos="10000">
                      <a:srgbClr val="F8F8F8"/>
                    </a:gs>
                  </a:gsLst>
                  <a:lin ang="5400000" scaled="0"/>
                </a:gradFill>
              </a:rPr>
              <a:t>Master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6B13B686-5536-04CC-4C2B-E87F5DCC37B3}"/>
              </a:ext>
            </a:extLst>
          </p:cNvPr>
          <p:cNvSpPr/>
          <p:nvPr/>
        </p:nvSpPr>
        <p:spPr bwMode="auto">
          <a:xfrm>
            <a:off x="8972268" y="1761657"/>
            <a:ext cx="1752600" cy="1371600"/>
          </a:xfrm>
          <a:prstGeom prst="rect">
            <a:avLst/>
          </a:prstGeom>
          <a:solidFill>
            <a:srgbClr val="3366CC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pt-BR" sz="2800" dirty="0">
                <a:gradFill>
                  <a:gsLst>
                    <a:gs pos="5439">
                      <a:srgbClr val="F8F8F8"/>
                    </a:gs>
                    <a:gs pos="10000">
                      <a:srgbClr val="F8F8F8"/>
                    </a:gs>
                  </a:gsLst>
                  <a:lin ang="5400000" scaled="0"/>
                </a:gradFill>
              </a:rPr>
              <a:t>Node 1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833C95F5-3701-EC3E-40E2-FF585A681D50}"/>
              </a:ext>
            </a:extLst>
          </p:cNvPr>
          <p:cNvSpPr/>
          <p:nvPr/>
        </p:nvSpPr>
        <p:spPr bwMode="auto">
          <a:xfrm>
            <a:off x="8968775" y="4022648"/>
            <a:ext cx="1752600" cy="1371600"/>
          </a:xfrm>
          <a:prstGeom prst="rect">
            <a:avLst/>
          </a:prstGeom>
          <a:solidFill>
            <a:srgbClr val="3366CC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pt-BR" sz="2800" dirty="0">
                <a:gradFill>
                  <a:gsLst>
                    <a:gs pos="5439">
                      <a:srgbClr val="F8F8F8"/>
                    </a:gs>
                    <a:gs pos="10000">
                      <a:srgbClr val="F8F8F8"/>
                    </a:gs>
                  </a:gsLst>
                  <a:lin ang="5400000" scaled="0"/>
                </a:gradFill>
              </a:rPr>
              <a:t>Node N</a:t>
            </a:r>
          </a:p>
        </p:txBody>
      </p:sp>
      <p:cxnSp>
        <p:nvCxnSpPr>
          <p:cNvPr id="20" name="Conector de Seta Reta 19">
            <a:extLst>
              <a:ext uri="{FF2B5EF4-FFF2-40B4-BE49-F238E27FC236}">
                <a16:creationId xmlns:a16="http://schemas.microsoft.com/office/drawing/2014/main" id="{1D916C20-B94C-8A18-D7DB-2E202578FBEB}"/>
              </a:ext>
            </a:extLst>
          </p:cNvPr>
          <p:cNvCxnSpPr/>
          <p:nvPr/>
        </p:nvCxnSpPr>
        <p:spPr>
          <a:xfrm>
            <a:off x="3181069" y="3636169"/>
            <a:ext cx="2743199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832FEB18-73B9-C019-BBD3-B439DA2EE228}"/>
              </a:ext>
            </a:extLst>
          </p:cNvPr>
          <p:cNvCxnSpPr>
            <a:cxnSpLocks/>
          </p:cNvCxnSpPr>
          <p:nvPr/>
        </p:nvCxnSpPr>
        <p:spPr>
          <a:xfrm flipV="1">
            <a:off x="7978176" y="2544172"/>
            <a:ext cx="917892" cy="87429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id="{01473DBA-2180-44D2-8AB1-89C25256D253}"/>
              </a:ext>
            </a:extLst>
          </p:cNvPr>
          <p:cNvCxnSpPr>
            <a:cxnSpLocks/>
          </p:cNvCxnSpPr>
          <p:nvPr/>
        </p:nvCxnSpPr>
        <p:spPr>
          <a:xfrm>
            <a:off x="8016276" y="4067287"/>
            <a:ext cx="879792" cy="688813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FE396344-5672-1050-7C8B-F6E287D9E1D5}"/>
              </a:ext>
            </a:extLst>
          </p:cNvPr>
          <p:cNvSpPr txBox="1"/>
          <p:nvPr/>
        </p:nvSpPr>
        <p:spPr>
          <a:xfrm>
            <a:off x="8896067" y="3133450"/>
            <a:ext cx="1825307" cy="683264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pt-BR" sz="28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. . .</a:t>
            </a:r>
          </a:p>
        </p:txBody>
      </p:sp>
    </p:spTree>
    <p:extLst>
      <p:ext uri="{BB962C8B-B14F-4D97-AF65-F5344CB8AC3E}">
        <p14:creationId xmlns:p14="http://schemas.microsoft.com/office/powerpoint/2010/main" val="19970469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CBE113-A8AA-F205-B9A4-771CE37BE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>
            <a:extLst>
              <a:ext uri="{FF2B5EF4-FFF2-40B4-BE49-F238E27FC236}">
                <a16:creationId xmlns:a16="http://schemas.microsoft.com/office/drawing/2014/main" id="{60C0DC07-5877-B7B5-6180-D379E703A305}"/>
              </a:ext>
            </a:extLst>
          </p:cNvPr>
          <p:cNvSpPr txBox="1"/>
          <p:nvPr/>
        </p:nvSpPr>
        <p:spPr>
          <a:xfrm>
            <a:off x="548640" y="274320"/>
            <a:ext cx="10469880" cy="531925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r>
              <a:rPr lang="pt-BR" sz="2600" b="1" dirty="0" err="1">
                <a:solidFill>
                  <a:srgbClr val="FFFFFF"/>
                </a:solidFill>
                <a:latin typeface="Montserrat"/>
              </a:rPr>
              <a:t>Kubernetes</a:t>
            </a:r>
            <a:r>
              <a:rPr lang="pt-BR" sz="2600" b="1" dirty="0">
                <a:solidFill>
                  <a:srgbClr val="FFFFFF"/>
                </a:solidFill>
                <a:latin typeface="Montserrat"/>
              </a:rPr>
              <a:t>: arquitetura</a:t>
            </a:r>
            <a:endParaRPr sz="2600" b="1" i="0" dirty="0">
              <a:solidFill>
                <a:srgbClr val="FFFFFF"/>
              </a:solidFill>
              <a:latin typeface="Montserrat"/>
            </a:endParaRPr>
          </a:p>
        </p:txBody>
      </p:sp>
      <p:pic>
        <p:nvPicPr>
          <p:cNvPr id="3" name="Elemento visual" descr="image.png">
            <a:extLst>
              <a:ext uri="{FF2B5EF4-FFF2-40B4-BE49-F238E27FC236}">
                <a16:creationId xmlns:a16="http://schemas.microsoft.com/office/drawing/2014/main" id="{D9199945-7340-6F2C-4F82-9FD8439D0B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1265408" y="146304"/>
            <a:ext cx="923331" cy="923331"/>
          </a:xfrm>
          <a:prstGeom prst="rect">
            <a:avLst/>
          </a:prstGeom>
        </p:spPr>
      </p:pic>
      <p:pic>
        <p:nvPicPr>
          <p:cNvPr id="4" name="Elemento visual" descr="image.png">
            <a:extLst>
              <a:ext uri="{FF2B5EF4-FFF2-40B4-BE49-F238E27FC236}">
                <a16:creationId xmlns:a16="http://schemas.microsoft.com/office/drawing/2014/main" id="{421FA202-31BB-7015-A3B7-4612253BC5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181" y="5765614"/>
            <a:ext cx="923331" cy="923331"/>
          </a:xfrm>
          <a:prstGeom prst="rect">
            <a:avLst/>
          </a:prstGeom>
        </p:spPr>
      </p:pic>
      <p:pic>
        <p:nvPicPr>
          <p:cNvPr id="5" name="Elemento visual" descr="image.png">
            <a:extLst>
              <a:ext uri="{FF2B5EF4-FFF2-40B4-BE49-F238E27FC236}">
                <a16:creationId xmlns:a16="http://schemas.microsoft.com/office/drawing/2014/main" id="{D45517D1-A111-2937-4C09-02CA96BE28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0668" y="5948272"/>
            <a:ext cx="923331" cy="923331"/>
          </a:xfrm>
          <a:prstGeom prst="rect">
            <a:avLst/>
          </a:prstGeom>
        </p:spPr>
      </p:pic>
      <p:pic>
        <p:nvPicPr>
          <p:cNvPr id="6" name="Logo UniAnchieta" descr="image.png">
            <a:extLst>
              <a:ext uri="{FF2B5EF4-FFF2-40B4-BE49-F238E27FC236}">
                <a16:creationId xmlns:a16="http://schemas.microsoft.com/office/drawing/2014/main" id="{BC08DB0D-DF2C-FD44-B234-C1C9929FFC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54" y="6051766"/>
            <a:ext cx="2308138" cy="7138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909C15F-6E7E-4E38-120E-C2086AAA1566}"/>
              </a:ext>
            </a:extLst>
          </p:cNvPr>
          <p:cNvSpPr txBox="1"/>
          <p:nvPr/>
        </p:nvSpPr>
        <p:spPr>
          <a:xfrm>
            <a:off x="548639" y="1605973"/>
            <a:ext cx="7158447" cy="43630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u="sng" dirty="0" err="1">
                <a:solidFill>
                  <a:srgbClr val="04F8FE"/>
                </a:solidFill>
                <a:latin typeface="Montserrat"/>
              </a:rPr>
              <a:t>Pod</a:t>
            </a:r>
            <a:endParaRPr lang="pt-BR" sz="2400" b="1" u="sng" dirty="0">
              <a:solidFill>
                <a:srgbClr val="04F8FE"/>
              </a:solidFill>
              <a:latin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b="1" dirty="0">
              <a:solidFill>
                <a:srgbClr val="04F8FE"/>
              </a:solidFill>
              <a:latin typeface="Montserrat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F8FE"/>
                </a:solidFill>
                <a:latin typeface="Montserrat"/>
              </a:rPr>
              <a:t>Grupo de um ou mais containers implantados em um Node (Nó)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2400" b="1" dirty="0">
              <a:solidFill>
                <a:srgbClr val="04F8FE"/>
              </a:solidFill>
              <a:latin typeface="Montserrat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F8FE"/>
                </a:solidFill>
                <a:latin typeface="Montserrat"/>
              </a:rPr>
              <a:t>Compartilham o mesmo endereço IP, IPC, nome do host e outros recursos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F1733467-77AF-6A90-6CA7-96A1F8FC568C}"/>
              </a:ext>
            </a:extLst>
          </p:cNvPr>
          <p:cNvGrpSpPr/>
          <p:nvPr/>
        </p:nvGrpSpPr>
        <p:grpSpPr>
          <a:xfrm>
            <a:off x="8035583" y="2019300"/>
            <a:ext cx="3048000" cy="2819400"/>
            <a:chOff x="8287067" y="2582862"/>
            <a:chExt cx="3048000" cy="2819400"/>
          </a:xfrm>
        </p:grpSpPr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00881999-F023-8280-D9AF-7218AFBE1BF8}"/>
                </a:ext>
              </a:extLst>
            </p:cNvPr>
            <p:cNvSpPr/>
            <p:nvPr/>
          </p:nvSpPr>
          <p:spPr bwMode="auto">
            <a:xfrm>
              <a:off x="8287067" y="2582862"/>
              <a:ext cx="3048000" cy="2819400"/>
            </a:xfrm>
            <a:prstGeom prst="rect">
              <a:avLst/>
            </a:prstGeom>
            <a:solidFill>
              <a:srgbClr val="EAEAEA"/>
            </a:solidFill>
            <a:ln>
              <a:solidFill>
                <a:srgbClr val="B2B2B2"/>
              </a:solidFill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pt-BR" sz="2000" dirty="0">
                  <a:solidFill>
                    <a:srgbClr val="292929"/>
                  </a:solidFill>
                </a:rPr>
                <a:t>POD</a:t>
              </a:r>
            </a:p>
          </p:txBody>
        </p:sp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CF106FCB-69E7-959D-2E79-B7F569547405}"/>
                </a:ext>
              </a:extLst>
            </p:cNvPr>
            <p:cNvSpPr/>
            <p:nvPr/>
          </p:nvSpPr>
          <p:spPr bwMode="auto">
            <a:xfrm>
              <a:off x="8706167" y="3268662"/>
              <a:ext cx="2209800" cy="685800"/>
            </a:xfrm>
            <a:prstGeom prst="rect">
              <a:avLst/>
            </a:prstGeom>
            <a:solidFill>
              <a:srgbClr val="FF6600"/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pt-BR" sz="2000" dirty="0">
                  <a:gradFill>
                    <a:gsLst>
                      <a:gs pos="5439">
                        <a:srgbClr val="F8F8F8"/>
                      </a:gs>
                      <a:gs pos="10000">
                        <a:srgbClr val="F8F8F8"/>
                      </a:gs>
                    </a:gsLst>
                    <a:lin ang="5400000" scaled="0"/>
                  </a:gradFill>
                </a:rPr>
                <a:t>Container A</a:t>
              </a:r>
            </a:p>
          </p:txBody>
        </p: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14CE29C9-D4C5-7CA5-D2CE-74B2324B5E29}"/>
                </a:ext>
              </a:extLst>
            </p:cNvPr>
            <p:cNvSpPr/>
            <p:nvPr/>
          </p:nvSpPr>
          <p:spPr bwMode="auto">
            <a:xfrm>
              <a:off x="8706167" y="4323714"/>
              <a:ext cx="2209800" cy="685800"/>
            </a:xfrm>
            <a:prstGeom prst="rect">
              <a:avLst/>
            </a:prstGeom>
            <a:solidFill>
              <a:srgbClr val="FF6600"/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pt-BR" sz="2000" dirty="0">
                  <a:gradFill>
                    <a:gsLst>
                      <a:gs pos="5439">
                        <a:srgbClr val="F8F8F8"/>
                      </a:gs>
                      <a:gs pos="10000">
                        <a:srgbClr val="F8F8F8"/>
                      </a:gs>
                    </a:gsLst>
                    <a:lin ang="5400000" scaled="0"/>
                  </a:gradFill>
                </a:rPr>
                <a:t>Container 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074241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32B417-A12C-3FDF-C908-016BADCBE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>
            <a:extLst>
              <a:ext uri="{FF2B5EF4-FFF2-40B4-BE49-F238E27FC236}">
                <a16:creationId xmlns:a16="http://schemas.microsoft.com/office/drawing/2014/main" id="{3609B9BB-2C70-D28D-8EDA-18BBB168BA06}"/>
              </a:ext>
            </a:extLst>
          </p:cNvPr>
          <p:cNvSpPr txBox="1"/>
          <p:nvPr/>
        </p:nvSpPr>
        <p:spPr>
          <a:xfrm>
            <a:off x="548640" y="274320"/>
            <a:ext cx="10469880" cy="531925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r>
              <a:rPr lang="pt-BR" sz="2600" b="1" dirty="0" err="1">
                <a:solidFill>
                  <a:srgbClr val="FFFFFF"/>
                </a:solidFill>
                <a:latin typeface="Montserrat"/>
              </a:rPr>
              <a:t>Kubernetes</a:t>
            </a:r>
            <a:r>
              <a:rPr lang="pt-BR" sz="2600" b="1" dirty="0">
                <a:solidFill>
                  <a:srgbClr val="FFFFFF"/>
                </a:solidFill>
                <a:latin typeface="Montserrat"/>
              </a:rPr>
              <a:t>: arquitetura</a:t>
            </a:r>
            <a:endParaRPr sz="2600" b="1" i="0" dirty="0">
              <a:solidFill>
                <a:srgbClr val="FFFFFF"/>
              </a:solidFill>
              <a:latin typeface="Montserrat"/>
            </a:endParaRPr>
          </a:p>
        </p:txBody>
      </p:sp>
      <p:pic>
        <p:nvPicPr>
          <p:cNvPr id="3" name="Elemento visual" descr="image.png">
            <a:extLst>
              <a:ext uri="{FF2B5EF4-FFF2-40B4-BE49-F238E27FC236}">
                <a16:creationId xmlns:a16="http://schemas.microsoft.com/office/drawing/2014/main" id="{2D91A5F0-8C80-0012-B4DD-D2FABD9BF6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1265408" y="146304"/>
            <a:ext cx="923331" cy="923331"/>
          </a:xfrm>
          <a:prstGeom prst="rect">
            <a:avLst/>
          </a:prstGeom>
        </p:spPr>
      </p:pic>
      <p:pic>
        <p:nvPicPr>
          <p:cNvPr id="4" name="Elemento visual" descr="image.png">
            <a:extLst>
              <a:ext uri="{FF2B5EF4-FFF2-40B4-BE49-F238E27FC236}">
                <a16:creationId xmlns:a16="http://schemas.microsoft.com/office/drawing/2014/main" id="{A83AF454-39F4-96DD-50EF-38E669A230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181" y="5765614"/>
            <a:ext cx="923331" cy="923331"/>
          </a:xfrm>
          <a:prstGeom prst="rect">
            <a:avLst/>
          </a:prstGeom>
        </p:spPr>
      </p:pic>
      <p:pic>
        <p:nvPicPr>
          <p:cNvPr id="5" name="Elemento visual" descr="image.png">
            <a:extLst>
              <a:ext uri="{FF2B5EF4-FFF2-40B4-BE49-F238E27FC236}">
                <a16:creationId xmlns:a16="http://schemas.microsoft.com/office/drawing/2014/main" id="{30427764-D1DC-198C-B4CB-2DF742D6AA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0668" y="5948272"/>
            <a:ext cx="923331" cy="923331"/>
          </a:xfrm>
          <a:prstGeom prst="rect">
            <a:avLst/>
          </a:prstGeom>
        </p:spPr>
      </p:pic>
      <p:pic>
        <p:nvPicPr>
          <p:cNvPr id="6" name="Logo UniAnchieta" descr="image.png">
            <a:extLst>
              <a:ext uri="{FF2B5EF4-FFF2-40B4-BE49-F238E27FC236}">
                <a16:creationId xmlns:a16="http://schemas.microsoft.com/office/drawing/2014/main" id="{16FBD4A8-0BE1-2A13-187B-B4BB984B11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54" y="6051766"/>
            <a:ext cx="2308138" cy="7138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F29FE70-ACC0-A2B2-8A63-81BA7215837A}"/>
              </a:ext>
            </a:extLst>
          </p:cNvPr>
          <p:cNvSpPr txBox="1"/>
          <p:nvPr/>
        </p:nvSpPr>
        <p:spPr>
          <a:xfrm>
            <a:off x="548639" y="2435290"/>
            <a:ext cx="7158447" cy="35337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u="sng" dirty="0">
                <a:solidFill>
                  <a:srgbClr val="04F8FE"/>
                </a:solidFill>
                <a:latin typeface="Montserrat"/>
              </a:rPr>
              <a:t>Deployment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b="1" u="sng" dirty="0">
              <a:solidFill>
                <a:srgbClr val="04F8FE"/>
              </a:solidFill>
              <a:latin typeface="Montserrat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F8FE"/>
                </a:solidFill>
                <a:latin typeface="Montserrat"/>
              </a:rPr>
              <a:t>Abstração de um </a:t>
            </a:r>
            <a:r>
              <a:rPr lang="pt-BR" sz="2400" b="1" u="sng" dirty="0" err="1">
                <a:solidFill>
                  <a:srgbClr val="04F8FE"/>
                </a:solidFill>
                <a:latin typeface="Montserrat"/>
              </a:rPr>
              <a:t>Pod</a:t>
            </a:r>
            <a:r>
              <a:rPr lang="pt-BR" sz="2400" b="1" dirty="0">
                <a:solidFill>
                  <a:srgbClr val="04F8FE"/>
                </a:solidFill>
                <a:latin typeface="Montserrat"/>
              </a:rPr>
              <a:t> com recursos adicionais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2400" b="1" dirty="0">
              <a:solidFill>
                <a:srgbClr val="04F8FE"/>
              </a:solidFill>
              <a:latin typeface="Montserrat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F8FE"/>
                </a:solidFill>
                <a:latin typeface="Montserrat"/>
              </a:rPr>
              <a:t>Conta com gerenciamento de estados</a:t>
            </a:r>
          </a:p>
        </p:txBody>
      </p: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77B02F87-36BA-6124-3A3F-2BAE727189B3}"/>
              </a:ext>
            </a:extLst>
          </p:cNvPr>
          <p:cNvGrpSpPr/>
          <p:nvPr/>
        </p:nvGrpSpPr>
        <p:grpSpPr>
          <a:xfrm>
            <a:off x="7871777" y="2521902"/>
            <a:ext cx="3924300" cy="2933700"/>
            <a:chOff x="7871777" y="2521902"/>
            <a:chExt cx="3924300" cy="2933700"/>
          </a:xfrm>
        </p:grpSpPr>
        <p:sp>
          <p:nvSpPr>
            <p:cNvPr id="13" name="Retângulo 12">
              <a:extLst>
                <a:ext uri="{FF2B5EF4-FFF2-40B4-BE49-F238E27FC236}">
                  <a16:creationId xmlns:a16="http://schemas.microsoft.com/office/drawing/2014/main" id="{EC8514C1-FB64-966B-BB81-02D487F7C447}"/>
                </a:ext>
              </a:extLst>
            </p:cNvPr>
            <p:cNvSpPr/>
            <p:nvPr/>
          </p:nvSpPr>
          <p:spPr bwMode="auto">
            <a:xfrm>
              <a:off x="7871777" y="2521902"/>
              <a:ext cx="3924300" cy="2933700"/>
            </a:xfrm>
            <a:prstGeom prst="rect">
              <a:avLst/>
            </a:prstGeom>
            <a:solidFill>
              <a:srgbClr val="EAEAEA"/>
            </a:solidFill>
            <a:ln>
              <a:solidFill>
                <a:srgbClr val="B2B2B2"/>
              </a:solidFill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pt-BR" sz="2000" dirty="0">
                  <a:solidFill>
                    <a:srgbClr val="292929"/>
                  </a:solidFill>
                </a:rPr>
                <a:t>Deployment</a:t>
              </a:r>
            </a:p>
          </p:txBody>
        </p:sp>
        <p:sp>
          <p:nvSpPr>
            <p:cNvPr id="14" name="Retângulo 13">
              <a:extLst>
                <a:ext uri="{FF2B5EF4-FFF2-40B4-BE49-F238E27FC236}">
                  <a16:creationId xmlns:a16="http://schemas.microsoft.com/office/drawing/2014/main" id="{3FE3F22E-A900-6113-92E4-8A52B49A0B22}"/>
                </a:ext>
              </a:extLst>
            </p:cNvPr>
            <p:cNvSpPr/>
            <p:nvPr/>
          </p:nvSpPr>
          <p:spPr bwMode="auto">
            <a:xfrm>
              <a:off x="8309927" y="3200082"/>
              <a:ext cx="3048000" cy="1828800"/>
            </a:xfrm>
            <a:prstGeom prst="rect">
              <a:avLst/>
            </a:prstGeom>
            <a:solidFill>
              <a:srgbClr val="EAEAEA"/>
            </a:solidFill>
            <a:ln>
              <a:solidFill>
                <a:srgbClr val="B2B2B2"/>
              </a:solidFill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pt-BR" sz="2000" dirty="0">
                  <a:solidFill>
                    <a:srgbClr val="292929"/>
                  </a:solidFill>
                </a:rPr>
                <a:t>POD</a:t>
              </a:r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AA9AFC15-C1C0-6916-563D-4C8316C4A96C}"/>
                </a:ext>
              </a:extLst>
            </p:cNvPr>
            <p:cNvSpPr/>
            <p:nvPr/>
          </p:nvSpPr>
          <p:spPr bwMode="auto">
            <a:xfrm>
              <a:off x="8729027" y="3885882"/>
              <a:ext cx="2209800" cy="685800"/>
            </a:xfrm>
            <a:prstGeom prst="rect">
              <a:avLst/>
            </a:prstGeom>
            <a:solidFill>
              <a:srgbClr val="FF6600"/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pt-BR" sz="2000" dirty="0">
                  <a:gradFill>
                    <a:gsLst>
                      <a:gs pos="5439">
                        <a:srgbClr val="F8F8F8"/>
                      </a:gs>
                      <a:gs pos="10000">
                        <a:srgbClr val="F8F8F8"/>
                      </a:gs>
                    </a:gsLst>
                    <a:lin ang="5400000" scaled="0"/>
                  </a:gradFill>
                </a:rPr>
                <a:t>Container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01320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33AD79-9373-3686-642B-5AF642DF1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>
            <a:extLst>
              <a:ext uri="{FF2B5EF4-FFF2-40B4-BE49-F238E27FC236}">
                <a16:creationId xmlns:a16="http://schemas.microsoft.com/office/drawing/2014/main" id="{506F911C-35A0-F9FC-DA0A-740272BF4435}"/>
              </a:ext>
            </a:extLst>
          </p:cNvPr>
          <p:cNvSpPr txBox="1"/>
          <p:nvPr/>
        </p:nvSpPr>
        <p:spPr>
          <a:xfrm>
            <a:off x="548640" y="274320"/>
            <a:ext cx="10469880" cy="531925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r>
              <a:rPr lang="pt-BR" sz="2600" b="1" dirty="0" err="1">
                <a:solidFill>
                  <a:srgbClr val="FFFFFF"/>
                </a:solidFill>
                <a:latin typeface="Montserrat"/>
              </a:rPr>
              <a:t>Kubernetes</a:t>
            </a:r>
            <a:r>
              <a:rPr lang="pt-BR" sz="2600" b="1" dirty="0">
                <a:solidFill>
                  <a:srgbClr val="FFFFFF"/>
                </a:solidFill>
                <a:latin typeface="Montserrat"/>
              </a:rPr>
              <a:t>: arquitetura</a:t>
            </a:r>
            <a:endParaRPr sz="2600" b="1" i="0" dirty="0">
              <a:solidFill>
                <a:srgbClr val="FFFFFF"/>
              </a:solidFill>
              <a:latin typeface="Montserrat"/>
            </a:endParaRPr>
          </a:p>
        </p:txBody>
      </p:sp>
      <p:pic>
        <p:nvPicPr>
          <p:cNvPr id="3" name="Elemento visual" descr="image.png">
            <a:extLst>
              <a:ext uri="{FF2B5EF4-FFF2-40B4-BE49-F238E27FC236}">
                <a16:creationId xmlns:a16="http://schemas.microsoft.com/office/drawing/2014/main" id="{870438D5-D701-8F88-D4CB-525FA15959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1265408" y="146304"/>
            <a:ext cx="923331" cy="923331"/>
          </a:xfrm>
          <a:prstGeom prst="rect">
            <a:avLst/>
          </a:prstGeom>
        </p:spPr>
      </p:pic>
      <p:pic>
        <p:nvPicPr>
          <p:cNvPr id="4" name="Elemento visual" descr="image.png">
            <a:extLst>
              <a:ext uri="{FF2B5EF4-FFF2-40B4-BE49-F238E27FC236}">
                <a16:creationId xmlns:a16="http://schemas.microsoft.com/office/drawing/2014/main" id="{9AAE472A-1C3C-7611-DD97-3F4AB3F6CA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181" y="5765614"/>
            <a:ext cx="923331" cy="923331"/>
          </a:xfrm>
          <a:prstGeom prst="rect">
            <a:avLst/>
          </a:prstGeom>
        </p:spPr>
      </p:pic>
      <p:pic>
        <p:nvPicPr>
          <p:cNvPr id="5" name="Elemento visual" descr="image.png">
            <a:extLst>
              <a:ext uri="{FF2B5EF4-FFF2-40B4-BE49-F238E27FC236}">
                <a16:creationId xmlns:a16="http://schemas.microsoft.com/office/drawing/2014/main" id="{736CA11F-D22A-7131-5E21-CC87C305E3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0668" y="5948272"/>
            <a:ext cx="923331" cy="923331"/>
          </a:xfrm>
          <a:prstGeom prst="rect">
            <a:avLst/>
          </a:prstGeom>
        </p:spPr>
      </p:pic>
      <p:pic>
        <p:nvPicPr>
          <p:cNvPr id="6" name="Logo UniAnchieta" descr="image.png">
            <a:extLst>
              <a:ext uri="{FF2B5EF4-FFF2-40B4-BE49-F238E27FC236}">
                <a16:creationId xmlns:a16="http://schemas.microsoft.com/office/drawing/2014/main" id="{7DFB6D98-5544-2BD8-928C-92DEBDB1EA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54" y="6051766"/>
            <a:ext cx="2308138" cy="7138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1018755-2457-73C3-B47E-FA10647E9A7C}"/>
              </a:ext>
            </a:extLst>
          </p:cNvPr>
          <p:cNvSpPr txBox="1"/>
          <p:nvPr/>
        </p:nvSpPr>
        <p:spPr>
          <a:xfrm>
            <a:off x="548639" y="2024742"/>
            <a:ext cx="7158447" cy="35337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u="sng" dirty="0">
                <a:solidFill>
                  <a:srgbClr val="04F8FE"/>
                </a:solidFill>
                <a:latin typeface="Montserrat"/>
              </a:rPr>
              <a:t>Service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b="1" u="sng" dirty="0">
              <a:solidFill>
                <a:srgbClr val="04F8FE"/>
              </a:solidFill>
              <a:latin typeface="Montserrat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F8FE"/>
                </a:solidFill>
                <a:latin typeface="Montserrat"/>
              </a:rPr>
              <a:t>Objeto </a:t>
            </a:r>
            <a:r>
              <a:rPr lang="pt-BR" sz="2400" b="1" u="sng" dirty="0">
                <a:solidFill>
                  <a:srgbClr val="04F8FE"/>
                </a:solidFill>
                <a:latin typeface="Montserrat"/>
              </a:rPr>
              <a:t>mais estável</a:t>
            </a:r>
            <a:r>
              <a:rPr lang="pt-BR" sz="2400" b="1" dirty="0">
                <a:solidFill>
                  <a:srgbClr val="04F8FE"/>
                </a:solidFill>
                <a:latin typeface="Montserrat"/>
              </a:rPr>
              <a:t> (</a:t>
            </a:r>
            <a:r>
              <a:rPr lang="pt-BR" sz="2400" b="1" dirty="0" err="1">
                <a:solidFill>
                  <a:srgbClr val="04F8FE"/>
                </a:solidFill>
                <a:latin typeface="Montserrat"/>
              </a:rPr>
              <a:t>Pods</a:t>
            </a:r>
            <a:r>
              <a:rPr lang="pt-BR" sz="2400" b="1" dirty="0">
                <a:solidFill>
                  <a:srgbClr val="04F8FE"/>
                </a:solidFill>
                <a:latin typeface="Montserrat"/>
              </a:rPr>
              <a:t> são criados ou removidos continuamente)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2400" b="1" dirty="0">
              <a:solidFill>
                <a:srgbClr val="04F8FE"/>
              </a:solidFill>
              <a:latin typeface="Montserrat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F8FE"/>
                </a:solidFill>
                <a:latin typeface="Montserrat"/>
              </a:rPr>
              <a:t>Cuidará do acesso aos </a:t>
            </a:r>
            <a:r>
              <a:rPr lang="pt-BR" sz="2400" b="1" dirty="0" err="1">
                <a:solidFill>
                  <a:srgbClr val="04F8FE"/>
                </a:solidFill>
                <a:latin typeface="Montserrat"/>
              </a:rPr>
              <a:t>Pods</a:t>
            </a:r>
            <a:r>
              <a:rPr lang="pt-BR" sz="2400" b="1" dirty="0">
                <a:solidFill>
                  <a:srgbClr val="04F8FE"/>
                </a:solidFill>
                <a:latin typeface="Montserrat"/>
              </a:rPr>
              <a:t>, funcionando como um </a:t>
            </a:r>
            <a:r>
              <a:rPr lang="pt-BR" sz="2400" b="1" u="sng" dirty="0" err="1">
                <a:solidFill>
                  <a:srgbClr val="04F8FE"/>
                </a:solidFill>
                <a:latin typeface="Montserrat"/>
              </a:rPr>
              <a:t>Load</a:t>
            </a:r>
            <a:r>
              <a:rPr lang="pt-BR" sz="2400" b="1" u="sng" dirty="0">
                <a:solidFill>
                  <a:srgbClr val="04F8FE"/>
                </a:solidFill>
                <a:latin typeface="Montserrat"/>
              </a:rPr>
              <a:t> </a:t>
            </a:r>
            <a:r>
              <a:rPr lang="pt-BR" sz="2400" b="1" u="sng" dirty="0" err="1">
                <a:solidFill>
                  <a:srgbClr val="04F8FE"/>
                </a:solidFill>
                <a:latin typeface="Montserrat"/>
              </a:rPr>
              <a:t>Balancer</a:t>
            </a:r>
            <a:endParaRPr lang="pt-BR" sz="2400" b="1" u="sng" dirty="0">
              <a:solidFill>
                <a:srgbClr val="04F8FE"/>
              </a:solidFill>
              <a:latin typeface="Montserrat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5CC41842-0635-29D2-C926-82531F3FF96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9358" r="31153" b="27022"/>
          <a:stretch/>
        </p:blipFill>
        <p:spPr>
          <a:xfrm>
            <a:off x="8715024" y="2053344"/>
            <a:ext cx="2928337" cy="2751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7826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51BE56-F448-6AF3-B1BB-DAAFF5F10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>
            <a:extLst>
              <a:ext uri="{FF2B5EF4-FFF2-40B4-BE49-F238E27FC236}">
                <a16:creationId xmlns:a16="http://schemas.microsoft.com/office/drawing/2014/main" id="{39BE6A34-4716-B338-4312-6B08365BE4DE}"/>
              </a:ext>
            </a:extLst>
          </p:cNvPr>
          <p:cNvSpPr txBox="1"/>
          <p:nvPr/>
        </p:nvSpPr>
        <p:spPr>
          <a:xfrm>
            <a:off x="548640" y="274320"/>
            <a:ext cx="10469880" cy="531925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r>
              <a:rPr lang="pt-BR" sz="2600" b="1" dirty="0" err="1">
                <a:solidFill>
                  <a:srgbClr val="FFFFFF"/>
                </a:solidFill>
                <a:latin typeface="Montserrat"/>
              </a:rPr>
              <a:t>Kubernetes</a:t>
            </a:r>
            <a:r>
              <a:rPr lang="pt-BR" sz="2600" b="1" dirty="0">
                <a:solidFill>
                  <a:srgbClr val="FFFFFF"/>
                </a:solidFill>
                <a:latin typeface="Montserrat"/>
              </a:rPr>
              <a:t>: arquitetura</a:t>
            </a:r>
            <a:endParaRPr sz="2600" b="1" i="0" dirty="0">
              <a:solidFill>
                <a:srgbClr val="FFFFFF"/>
              </a:solidFill>
              <a:latin typeface="Montserrat"/>
            </a:endParaRPr>
          </a:p>
        </p:txBody>
      </p:sp>
      <p:pic>
        <p:nvPicPr>
          <p:cNvPr id="3" name="Elemento visual" descr="image.png">
            <a:extLst>
              <a:ext uri="{FF2B5EF4-FFF2-40B4-BE49-F238E27FC236}">
                <a16:creationId xmlns:a16="http://schemas.microsoft.com/office/drawing/2014/main" id="{043FA2D9-7641-134A-56F2-7765131204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1265408" y="146304"/>
            <a:ext cx="923331" cy="923331"/>
          </a:xfrm>
          <a:prstGeom prst="rect">
            <a:avLst/>
          </a:prstGeom>
        </p:spPr>
      </p:pic>
      <p:pic>
        <p:nvPicPr>
          <p:cNvPr id="4" name="Elemento visual" descr="image.png">
            <a:extLst>
              <a:ext uri="{FF2B5EF4-FFF2-40B4-BE49-F238E27FC236}">
                <a16:creationId xmlns:a16="http://schemas.microsoft.com/office/drawing/2014/main" id="{EA3066AD-CA47-FC76-12F5-188E66FDA4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181" y="5765614"/>
            <a:ext cx="923331" cy="923331"/>
          </a:xfrm>
          <a:prstGeom prst="rect">
            <a:avLst/>
          </a:prstGeom>
        </p:spPr>
      </p:pic>
      <p:pic>
        <p:nvPicPr>
          <p:cNvPr id="5" name="Elemento visual" descr="image.png">
            <a:extLst>
              <a:ext uri="{FF2B5EF4-FFF2-40B4-BE49-F238E27FC236}">
                <a16:creationId xmlns:a16="http://schemas.microsoft.com/office/drawing/2014/main" id="{777CE080-9352-4664-22D8-60954EE0DE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0668" y="5948272"/>
            <a:ext cx="923331" cy="923331"/>
          </a:xfrm>
          <a:prstGeom prst="rect">
            <a:avLst/>
          </a:prstGeom>
        </p:spPr>
      </p:pic>
      <p:pic>
        <p:nvPicPr>
          <p:cNvPr id="6" name="Logo UniAnchieta" descr="image.png">
            <a:extLst>
              <a:ext uri="{FF2B5EF4-FFF2-40B4-BE49-F238E27FC236}">
                <a16:creationId xmlns:a16="http://schemas.microsoft.com/office/drawing/2014/main" id="{D26BC4C8-6E28-27C5-E4FA-3D4AA9F438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54" y="6051766"/>
            <a:ext cx="2308138" cy="713858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D95B1630-D9D1-CC52-D9A9-0B7640B9DE77}"/>
              </a:ext>
            </a:extLst>
          </p:cNvPr>
          <p:cNvSpPr/>
          <p:nvPr/>
        </p:nvSpPr>
        <p:spPr bwMode="auto">
          <a:xfrm>
            <a:off x="9323070" y="1363662"/>
            <a:ext cx="1752600" cy="1371600"/>
          </a:xfrm>
          <a:prstGeom prst="rect">
            <a:avLst/>
          </a:prstGeom>
          <a:solidFill>
            <a:srgbClr val="008080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pt-BR" sz="2800" dirty="0">
                <a:gradFill>
                  <a:gsLst>
                    <a:gs pos="5439">
                      <a:srgbClr val="F8F8F8"/>
                    </a:gs>
                    <a:gs pos="10000">
                      <a:srgbClr val="F8F8F8"/>
                    </a:gs>
                  </a:gsLst>
                  <a:lin ang="5400000" scaled="0"/>
                </a:gradFill>
              </a:rPr>
              <a:t>Master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981D4B8-91CD-5EF9-351E-944AD203A431}"/>
              </a:ext>
            </a:extLst>
          </p:cNvPr>
          <p:cNvSpPr txBox="1"/>
          <p:nvPr/>
        </p:nvSpPr>
        <p:spPr>
          <a:xfrm>
            <a:off x="2533967" y="5098730"/>
            <a:ext cx="1752600" cy="683264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pt-BR" sz="2800" dirty="0">
                <a:solidFill>
                  <a:schemeClr val="bg1"/>
                </a:solidFill>
              </a:rPr>
              <a:t>Nodes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1FC9826-36CC-523C-F90C-DA0E7D663104}"/>
              </a:ext>
            </a:extLst>
          </p:cNvPr>
          <p:cNvSpPr/>
          <p:nvPr/>
        </p:nvSpPr>
        <p:spPr bwMode="auto">
          <a:xfrm>
            <a:off x="4286567" y="4564062"/>
            <a:ext cx="1981200" cy="1752600"/>
          </a:xfrm>
          <a:prstGeom prst="rect">
            <a:avLst/>
          </a:prstGeom>
          <a:solidFill>
            <a:srgbClr val="3366CC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pt-BR" sz="2800" dirty="0">
              <a:gradFill>
                <a:gsLst>
                  <a:gs pos="5439">
                    <a:srgbClr val="F8F8F8"/>
                  </a:gs>
                  <a:gs pos="10000">
                    <a:srgbClr val="F8F8F8"/>
                  </a:gs>
                </a:gsLst>
                <a:lin ang="5400000" scaled="0"/>
              </a:gradFill>
            </a:endParaRP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BDF8D81A-E4BE-40DC-43D9-5A3DD787FF92}"/>
              </a:ext>
            </a:extLst>
          </p:cNvPr>
          <p:cNvSpPr/>
          <p:nvPr/>
        </p:nvSpPr>
        <p:spPr bwMode="auto">
          <a:xfrm>
            <a:off x="6683057" y="4564062"/>
            <a:ext cx="1981200" cy="1752600"/>
          </a:xfrm>
          <a:prstGeom prst="rect">
            <a:avLst/>
          </a:prstGeom>
          <a:solidFill>
            <a:srgbClr val="3366CC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pt-BR" sz="2800" dirty="0">
              <a:gradFill>
                <a:gsLst>
                  <a:gs pos="5439">
                    <a:srgbClr val="F8F8F8"/>
                  </a:gs>
                  <a:gs pos="10000">
                    <a:srgbClr val="F8F8F8"/>
                  </a:gs>
                </a:gsLst>
                <a:lin ang="5400000" scaled="0"/>
              </a:gradFill>
            </a:endParaRP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266EA5DD-271C-7369-3BE0-5D6AA016F549}"/>
              </a:ext>
            </a:extLst>
          </p:cNvPr>
          <p:cNvSpPr/>
          <p:nvPr/>
        </p:nvSpPr>
        <p:spPr bwMode="auto">
          <a:xfrm>
            <a:off x="9094470" y="4564062"/>
            <a:ext cx="1981200" cy="1752600"/>
          </a:xfrm>
          <a:prstGeom prst="rect">
            <a:avLst/>
          </a:prstGeom>
          <a:solidFill>
            <a:srgbClr val="3366CC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pt-BR" sz="2800" dirty="0">
              <a:gradFill>
                <a:gsLst>
                  <a:gs pos="5439">
                    <a:srgbClr val="F8F8F8"/>
                  </a:gs>
                  <a:gs pos="10000">
                    <a:srgbClr val="F8F8F8"/>
                  </a:gs>
                </a:gsLst>
                <a:lin ang="5400000" scaled="0"/>
              </a:gradFill>
            </a:endParaRPr>
          </a:p>
        </p:txBody>
      </p: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FAE65475-48CE-1173-0FFE-71C97192DD66}"/>
              </a:ext>
            </a:extLst>
          </p:cNvPr>
          <p:cNvCxnSpPr>
            <a:cxnSpLocks/>
          </p:cNvCxnSpPr>
          <p:nvPr/>
        </p:nvCxnSpPr>
        <p:spPr>
          <a:xfrm>
            <a:off x="10192385" y="2762417"/>
            <a:ext cx="0" cy="1772584"/>
          </a:xfrm>
          <a:prstGeom prst="straightConnector1">
            <a:avLst/>
          </a:prstGeom>
          <a:ln>
            <a:solidFill>
              <a:schemeClr val="bg1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D47DCC0B-9D8C-1A32-9CBD-016A7D6E3559}"/>
              </a:ext>
            </a:extLst>
          </p:cNvPr>
          <p:cNvCxnSpPr>
            <a:cxnSpLocks/>
          </p:cNvCxnSpPr>
          <p:nvPr/>
        </p:nvCxnSpPr>
        <p:spPr>
          <a:xfrm flipH="1">
            <a:off x="7818437" y="2791478"/>
            <a:ext cx="2057400" cy="1743523"/>
          </a:xfrm>
          <a:prstGeom prst="straightConnector1">
            <a:avLst/>
          </a:prstGeom>
          <a:ln>
            <a:solidFill>
              <a:schemeClr val="bg1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BEBEDB9F-79ED-094B-37B9-D3ED65F106F7}"/>
              </a:ext>
            </a:extLst>
          </p:cNvPr>
          <p:cNvCxnSpPr>
            <a:cxnSpLocks/>
          </p:cNvCxnSpPr>
          <p:nvPr/>
        </p:nvCxnSpPr>
        <p:spPr>
          <a:xfrm flipH="1">
            <a:off x="5380037" y="2524176"/>
            <a:ext cx="3810000" cy="2010825"/>
          </a:xfrm>
          <a:prstGeom prst="straightConnector1">
            <a:avLst/>
          </a:prstGeom>
          <a:ln>
            <a:solidFill>
              <a:schemeClr val="bg1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569C2757-75D9-0611-6961-E7684C267EB9}"/>
              </a:ext>
            </a:extLst>
          </p:cNvPr>
          <p:cNvSpPr txBox="1"/>
          <p:nvPr/>
        </p:nvSpPr>
        <p:spPr>
          <a:xfrm>
            <a:off x="484505" y="1331590"/>
            <a:ext cx="1752600" cy="683264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pt-BR" sz="2800" dirty="0" err="1">
                <a:solidFill>
                  <a:schemeClr val="bg1"/>
                </a:solidFill>
              </a:rPr>
              <a:t>Pods</a:t>
            </a:r>
            <a:endParaRPr lang="pt-BR" sz="2800" dirty="0">
              <a:solidFill>
                <a:schemeClr val="bg1"/>
              </a:solidFill>
            </a:endParaRP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C1D32514-D96A-7AAF-D7FF-41031B0B26FF}"/>
              </a:ext>
            </a:extLst>
          </p:cNvPr>
          <p:cNvSpPr/>
          <p:nvPr/>
        </p:nvSpPr>
        <p:spPr bwMode="auto">
          <a:xfrm>
            <a:off x="705484" y="1970140"/>
            <a:ext cx="533400" cy="534668"/>
          </a:xfrm>
          <a:prstGeom prst="rect">
            <a:avLst/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pt-BR" sz="2000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8BC3920F-F110-CE45-B1E1-3BF1F545842B}"/>
              </a:ext>
            </a:extLst>
          </p:cNvPr>
          <p:cNvSpPr/>
          <p:nvPr/>
        </p:nvSpPr>
        <p:spPr bwMode="auto">
          <a:xfrm>
            <a:off x="705484" y="2683879"/>
            <a:ext cx="533400" cy="53466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pt-BR" sz="20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C94CCCF6-5A65-F625-DE7E-3E2B4A4CD6A5}"/>
              </a:ext>
            </a:extLst>
          </p:cNvPr>
          <p:cNvSpPr/>
          <p:nvPr/>
        </p:nvSpPr>
        <p:spPr bwMode="auto">
          <a:xfrm>
            <a:off x="705484" y="3395905"/>
            <a:ext cx="533400" cy="534668"/>
          </a:xfrm>
          <a:prstGeom prst="rect">
            <a:avLst/>
          </a:prstGeom>
          <a:solidFill>
            <a:srgbClr val="7030A0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pt-BR" sz="2000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BBB90444-90FE-EF2C-B299-4FCA95E750ED}"/>
              </a:ext>
            </a:extLst>
          </p:cNvPr>
          <p:cNvSpPr txBox="1"/>
          <p:nvPr/>
        </p:nvSpPr>
        <p:spPr>
          <a:xfrm>
            <a:off x="1238883" y="1945370"/>
            <a:ext cx="2388554" cy="580159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pt-BR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replicas: 2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AF42F9E4-A253-5D2E-9EC8-1D78CD6251EC}"/>
              </a:ext>
            </a:extLst>
          </p:cNvPr>
          <p:cNvSpPr txBox="1"/>
          <p:nvPr/>
        </p:nvSpPr>
        <p:spPr>
          <a:xfrm>
            <a:off x="1258567" y="2670637"/>
            <a:ext cx="2388554" cy="580159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pt-BR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replicas: 1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3C75517D-1E11-6623-1317-F9D19E14DD01}"/>
              </a:ext>
            </a:extLst>
          </p:cNvPr>
          <p:cNvSpPr txBox="1"/>
          <p:nvPr/>
        </p:nvSpPr>
        <p:spPr>
          <a:xfrm>
            <a:off x="1258567" y="3395904"/>
            <a:ext cx="2388554" cy="580159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pt-BR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replicas: 3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39931E99-F20A-98A5-E0DA-F4391480C265}"/>
              </a:ext>
            </a:extLst>
          </p:cNvPr>
          <p:cNvSpPr/>
          <p:nvPr/>
        </p:nvSpPr>
        <p:spPr bwMode="auto">
          <a:xfrm>
            <a:off x="4477067" y="4716462"/>
            <a:ext cx="533400" cy="534668"/>
          </a:xfrm>
          <a:prstGeom prst="rect">
            <a:avLst/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pt-BR" sz="2000" dirty="0">
                <a:gradFill>
                  <a:gsLst>
                    <a:gs pos="5439">
                      <a:srgbClr val="F8F8F8"/>
                    </a:gs>
                    <a:gs pos="10000">
                      <a:srgbClr val="F8F8F8"/>
                    </a:gs>
                  </a:gsLst>
                  <a:lin ang="5400000" scaled="0"/>
                </a:gradFill>
              </a:rPr>
              <a:t>A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3FDCE993-86AF-EA9F-593E-E5B16D411815}"/>
              </a:ext>
            </a:extLst>
          </p:cNvPr>
          <p:cNvSpPr/>
          <p:nvPr/>
        </p:nvSpPr>
        <p:spPr bwMode="auto">
          <a:xfrm>
            <a:off x="6904037" y="4716462"/>
            <a:ext cx="533400" cy="534668"/>
          </a:xfrm>
          <a:prstGeom prst="rect">
            <a:avLst/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pt-BR" sz="2000" dirty="0">
                <a:gradFill>
                  <a:gsLst>
                    <a:gs pos="5439">
                      <a:srgbClr val="F8F8F8"/>
                    </a:gs>
                    <a:gs pos="10000">
                      <a:srgbClr val="F8F8F8"/>
                    </a:gs>
                  </a:gsLst>
                  <a:lin ang="5400000" scaled="0"/>
                </a:gradFill>
              </a:rPr>
              <a:t>A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6BCCF4C9-9977-F55B-87FD-734F0AE8865D}"/>
              </a:ext>
            </a:extLst>
          </p:cNvPr>
          <p:cNvSpPr/>
          <p:nvPr/>
        </p:nvSpPr>
        <p:spPr bwMode="auto">
          <a:xfrm>
            <a:off x="4489131" y="5630862"/>
            <a:ext cx="533400" cy="534668"/>
          </a:xfrm>
          <a:prstGeom prst="rect">
            <a:avLst/>
          </a:prstGeom>
          <a:solidFill>
            <a:srgbClr val="7030A0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pt-BR" sz="2000" dirty="0">
                <a:gradFill>
                  <a:gsLst>
                    <a:gs pos="5439">
                      <a:srgbClr val="F8F8F8"/>
                    </a:gs>
                    <a:gs pos="10000">
                      <a:srgbClr val="F8F8F8"/>
                    </a:gs>
                  </a:gsLst>
                  <a:lin ang="5400000" scaled="0"/>
                </a:gradFill>
              </a:rPr>
              <a:t>C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1284461A-70D8-19D0-C753-B7D3D1D78718}"/>
              </a:ext>
            </a:extLst>
          </p:cNvPr>
          <p:cNvSpPr/>
          <p:nvPr/>
        </p:nvSpPr>
        <p:spPr bwMode="auto">
          <a:xfrm>
            <a:off x="6898001" y="5630862"/>
            <a:ext cx="533400" cy="534668"/>
          </a:xfrm>
          <a:prstGeom prst="rect">
            <a:avLst/>
          </a:prstGeom>
          <a:solidFill>
            <a:srgbClr val="7030A0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pt-BR" sz="2000" dirty="0">
                <a:gradFill>
                  <a:gsLst>
                    <a:gs pos="5439">
                      <a:srgbClr val="F8F8F8"/>
                    </a:gs>
                    <a:gs pos="10000">
                      <a:srgbClr val="F8F8F8"/>
                    </a:gs>
                  </a:gsLst>
                  <a:lin ang="5400000" scaled="0"/>
                </a:gradFill>
              </a:rPr>
              <a:t>C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822CC848-C431-8657-1273-034C5C0F35DD}"/>
              </a:ext>
            </a:extLst>
          </p:cNvPr>
          <p:cNvSpPr/>
          <p:nvPr/>
        </p:nvSpPr>
        <p:spPr bwMode="auto">
          <a:xfrm>
            <a:off x="10333037" y="5173028"/>
            <a:ext cx="533400" cy="53466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pt-BR" sz="2000" dirty="0">
                <a:gradFill>
                  <a:gsLst>
                    <a:gs pos="5439">
                      <a:srgbClr val="F8F8F8"/>
                    </a:gs>
                    <a:gs pos="10000">
                      <a:srgbClr val="F8F8F8"/>
                    </a:gs>
                  </a:gsLst>
                  <a:lin ang="5400000" scaled="0"/>
                </a:gradFill>
              </a:rPr>
              <a:t>B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4F06434B-2CBC-8F49-89AE-580464D7AC41}"/>
              </a:ext>
            </a:extLst>
          </p:cNvPr>
          <p:cNvSpPr/>
          <p:nvPr/>
        </p:nvSpPr>
        <p:spPr bwMode="auto">
          <a:xfrm>
            <a:off x="9342437" y="5647890"/>
            <a:ext cx="533400" cy="534668"/>
          </a:xfrm>
          <a:prstGeom prst="rect">
            <a:avLst/>
          </a:prstGeom>
          <a:solidFill>
            <a:srgbClr val="7030A0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pt-BR" sz="2000" dirty="0">
                <a:gradFill>
                  <a:gsLst>
                    <a:gs pos="5439">
                      <a:srgbClr val="F8F8F8"/>
                    </a:gs>
                    <a:gs pos="10000">
                      <a:srgbClr val="F8F8F8"/>
                    </a:gs>
                  </a:gsLst>
                  <a:lin ang="5400000" scaled="0"/>
                </a:gradFill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42423059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2C383F-AC3E-9E7D-420C-7FE10AC14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>
            <a:extLst>
              <a:ext uri="{FF2B5EF4-FFF2-40B4-BE49-F238E27FC236}">
                <a16:creationId xmlns:a16="http://schemas.microsoft.com/office/drawing/2014/main" id="{44EDDEA5-7702-BDF7-A505-DF4544432538}"/>
              </a:ext>
            </a:extLst>
          </p:cNvPr>
          <p:cNvSpPr txBox="1"/>
          <p:nvPr/>
        </p:nvSpPr>
        <p:spPr>
          <a:xfrm>
            <a:off x="548640" y="274320"/>
            <a:ext cx="10469880" cy="531925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r>
              <a:rPr lang="pt-BR" sz="2600" b="1" dirty="0" err="1">
                <a:solidFill>
                  <a:srgbClr val="FFFFFF"/>
                </a:solidFill>
                <a:latin typeface="Montserrat"/>
              </a:rPr>
              <a:t>Kubernetes</a:t>
            </a:r>
            <a:r>
              <a:rPr lang="pt-BR" sz="2600" b="1" dirty="0">
                <a:solidFill>
                  <a:srgbClr val="FFFFFF"/>
                </a:solidFill>
                <a:latin typeface="Montserrat"/>
              </a:rPr>
              <a:t> + Linha de comando</a:t>
            </a:r>
            <a:endParaRPr sz="2600" b="1" i="0" dirty="0">
              <a:solidFill>
                <a:srgbClr val="FFFFFF"/>
              </a:solidFill>
              <a:latin typeface="Montserrat"/>
            </a:endParaRPr>
          </a:p>
        </p:txBody>
      </p:sp>
      <p:pic>
        <p:nvPicPr>
          <p:cNvPr id="3" name="Elemento visual" descr="image.png">
            <a:extLst>
              <a:ext uri="{FF2B5EF4-FFF2-40B4-BE49-F238E27FC236}">
                <a16:creationId xmlns:a16="http://schemas.microsoft.com/office/drawing/2014/main" id="{88797650-5C58-5BCB-50CA-806C4BB459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1265408" y="146304"/>
            <a:ext cx="923331" cy="923331"/>
          </a:xfrm>
          <a:prstGeom prst="rect">
            <a:avLst/>
          </a:prstGeom>
        </p:spPr>
      </p:pic>
      <p:pic>
        <p:nvPicPr>
          <p:cNvPr id="4" name="Elemento visual" descr="image.png">
            <a:extLst>
              <a:ext uri="{FF2B5EF4-FFF2-40B4-BE49-F238E27FC236}">
                <a16:creationId xmlns:a16="http://schemas.microsoft.com/office/drawing/2014/main" id="{44832D26-22DB-EC8B-2E8A-5D03B47A25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181" y="5765614"/>
            <a:ext cx="923331" cy="923331"/>
          </a:xfrm>
          <a:prstGeom prst="rect">
            <a:avLst/>
          </a:prstGeom>
        </p:spPr>
      </p:pic>
      <p:pic>
        <p:nvPicPr>
          <p:cNvPr id="5" name="Elemento visual" descr="image.png">
            <a:extLst>
              <a:ext uri="{FF2B5EF4-FFF2-40B4-BE49-F238E27FC236}">
                <a16:creationId xmlns:a16="http://schemas.microsoft.com/office/drawing/2014/main" id="{9526AF09-5C3A-C0FE-43E6-EF71CA4122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0668" y="5948272"/>
            <a:ext cx="923331" cy="923331"/>
          </a:xfrm>
          <a:prstGeom prst="rect">
            <a:avLst/>
          </a:prstGeom>
        </p:spPr>
      </p:pic>
      <p:pic>
        <p:nvPicPr>
          <p:cNvPr id="6" name="Logo UniAnchieta" descr="image.png">
            <a:extLst>
              <a:ext uri="{FF2B5EF4-FFF2-40B4-BE49-F238E27FC236}">
                <a16:creationId xmlns:a16="http://schemas.microsoft.com/office/drawing/2014/main" id="{B90649A1-D2FF-1BA3-9104-01EF5EC7F1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54" y="6051766"/>
            <a:ext cx="2308138" cy="7138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560A25E-674B-B486-2AC7-B47FBC488CAD}"/>
              </a:ext>
            </a:extLst>
          </p:cNvPr>
          <p:cNvSpPr txBox="1"/>
          <p:nvPr/>
        </p:nvSpPr>
        <p:spPr>
          <a:xfrm>
            <a:off x="548639" y="2024742"/>
            <a:ext cx="7158447" cy="35337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 err="1">
                <a:solidFill>
                  <a:srgbClr val="04F8FE"/>
                </a:solidFill>
                <a:latin typeface="Montserrat"/>
              </a:rPr>
              <a:t>kubectl</a:t>
            </a:r>
            <a:endParaRPr lang="pt-BR" sz="2400" b="1" dirty="0">
              <a:solidFill>
                <a:srgbClr val="04F8FE"/>
              </a:solidFill>
              <a:latin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b="1" dirty="0">
              <a:solidFill>
                <a:srgbClr val="04F8FE"/>
              </a:solidFill>
              <a:latin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F8FE"/>
                </a:solidFill>
                <a:latin typeface="Montserrat"/>
              </a:rPr>
              <a:t>Helm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b="1" dirty="0">
              <a:solidFill>
                <a:srgbClr val="04F8FE"/>
              </a:solidFill>
              <a:latin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F8FE"/>
                </a:solidFill>
                <a:latin typeface="Montserrat"/>
              </a:rPr>
              <a:t>K9s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b="1" dirty="0">
              <a:solidFill>
                <a:srgbClr val="04F8FE"/>
              </a:solidFill>
              <a:latin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 err="1">
                <a:solidFill>
                  <a:srgbClr val="04F8FE"/>
                </a:solidFill>
                <a:latin typeface="Montserrat"/>
              </a:rPr>
              <a:t>kubectx</a:t>
            </a:r>
            <a:endParaRPr lang="pt-BR" sz="2400" b="1" dirty="0">
              <a:solidFill>
                <a:srgbClr val="04F8FE"/>
              </a:solidFill>
              <a:latin typeface="Montserrat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8B8F56D-60CB-8F9B-2BB4-C1D636F47C4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9358" r="31153" b="27022"/>
          <a:stretch/>
        </p:blipFill>
        <p:spPr>
          <a:xfrm>
            <a:off x="8715024" y="2053344"/>
            <a:ext cx="2928337" cy="2751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2378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732F5C-8BEC-21CF-D2E6-77EC54408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>
            <a:extLst>
              <a:ext uri="{FF2B5EF4-FFF2-40B4-BE49-F238E27FC236}">
                <a16:creationId xmlns:a16="http://schemas.microsoft.com/office/drawing/2014/main" id="{FA915C8C-EC64-E1AF-5AF6-ABA58939B2FC}"/>
              </a:ext>
            </a:extLst>
          </p:cNvPr>
          <p:cNvSpPr txBox="1"/>
          <p:nvPr/>
        </p:nvSpPr>
        <p:spPr>
          <a:xfrm>
            <a:off x="548640" y="274320"/>
            <a:ext cx="10469880" cy="531925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r>
              <a:rPr lang="pt-BR" sz="2600" b="1" dirty="0">
                <a:solidFill>
                  <a:srgbClr val="FFFFFF"/>
                </a:solidFill>
                <a:latin typeface="Montserrat"/>
              </a:rPr>
              <a:t>Certificações Gratuitas Linux Foundation</a:t>
            </a:r>
            <a:endParaRPr sz="2600" b="1" i="0" dirty="0">
              <a:solidFill>
                <a:srgbClr val="FFFFFF"/>
              </a:solidFill>
              <a:latin typeface="Montserrat"/>
            </a:endParaRPr>
          </a:p>
        </p:txBody>
      </p:sp>
      <p:pic>
        <p:nvPicPr>
          <p:cNvPr id="3" name="Elemento visual" descr="image.png">
            <a:extLst>
              <a:ext uri="{FF2B5EF4-FFF2-40B4-BE49-F238E27FC236}">
                <a16:creationId xmlns:a16="http://schemas.microsoft.com/office/drawing/2014/main" id="{1F7850F9-C5F4-C823-63D8-94F3FD67E5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1265408" y="146304"/>
            <a:ext cx="923331" cy="923331"/>
          </a:xfrm>
          <a:prstGeom prst="rect">
            <a:avLst/>
          </a:prstGeom>
        </p:spPr>
      </p:pic>
      <p:pic>
        <p:nvPicPr>
          <p:cNvPr id="4" name="Elemento visual" descr="image.png">
            <a:extLst>
              <a:ext uri="{FF2B5EF4-FFF2-40B4-BE49-F238E27FC236}">
                <a16:creationId xmlns:a16="http://schemas.microsoft.com/office/drawing/2014/main" id="{197A47F1-243D-2518-3B7D-3B1A927B38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181" y="5765614"/>
            <a:ext cx="923331" cy="923331"/>
          </a:xfrm>
          <a:prstGeom prst="rect">
            <a:avLst/>
          </a:prstGeom>
        </p:spPr>
      </p:pic>
      <p:pic>
        <p:nvPicPr>
          <p:cNvPr id="5" name="Elemento visual" descr="image.png">
            <a:extLst>
              <a:ext uri="{FF2B5EF4-FFF2-40B4-BE49-F238E27FC236}">
                <a16:creationId xmlns:a16="http://schemas.microsoft.com/office/drawing/2014/main" id="{92CC98E2-0895-0FB2-FD9C-83941B837B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0668" y="5948272"/>
            <a:ext cx="923331" cy="923331"/>
          </a:xfrm>
          <a:prstGeom prst="rect">
            <a:avLst/>
          </a:prstGeom>
        </p:spPr>
      </p:pic>
      <p:pic>
        <p:nvPicPr>
          <p:cNvPr id="6" name="Logo UniAnchieta" descr="image.png">
            <a:extLst>
              <a:ext uri="{FF2B5EF4-FFF2-40B4-BE49-F238E27FC236}">
                <a16:creationId xmlns:a16="http://schemas.microsoft.com/office/drawing/2014/main" id="{EC296B96-5075-9878-297B-F9CC907DF9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54" y="6051766"/>
            <a:ext cx="2308138" cy="713858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3C30CD6A-1F50-D126-63B3-1105ACF5CD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2979" y="1043383"/>
            <a:ext cx="8643275" cy="5008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103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4FBAF5-C2DF-E5A4-A132-19A220124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>
            <a:extLst>
              <a:ext uri="{FF2B5EF4-FFF2-40B4-BE49-F238E27FC236}">
                <a16:creationId xmlns:a16="http://schemas.microsoft.com/office/drawing/2014/main" id="{671A2903-3917-8C57-EBAF-617F53D013F3}"/>
              </a:ext>
            </a:extLst>
          </p:cNvPr>
          <p:cNvSpPr txBox="1"/>
          <p:nvPr/>
        </p:nvSpPr>
        <p:spPr>
          <a:xfrm>
            <a:off x="548640" y="274320"/>
            <a:ext cx="10469880" cy="531925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r>
              <a:rPr lang="pt-BR" sz="2600" b="1" dirty="0">
                <a:solidFill>
                  <a:srgbClr val="FFFFFF"/>
                </a:solidFill>
                <a:latin typeface="Montserrat"/>
              </a:rPr>
              <a:t>Azure </a:t>
            </a:r>
            <a:r>
              <a:rPr lang="pt-BR" sz="2600" b="1" dirty="0" err="1">
                <a:solidFill>
                  <a:srgbClr val="FFFFFF"/>
                </a:solidFill>
                <a:latin typeface="Montserrat"/>
              </a:rPr>
              <a:t>Kubernetes</a:t>
            </a:r>
            <a:r>
              <a:rPr lang="pt-BR" sz="2600" b="1" dirty="0">
                <a:solidFill>
                  <a:srgbClr val="FFFFFF"/>
                </a:solidFill>
                <a:latin typeface="Montserrat"/>
              </a:rPr>
              <a:t> Service (AKS)</a:t>
            </a:r>
            <a:endParaRPr sz="2600" b="1" i="0" dirty="0">
              <a:solidFill>
                <a:srgbClr val="FFFFFF"/>
              </a:solidFill>
              <a:latin typeface="Montserrat"/>
            </a:endParaRPr>
          </a:p>
        </p:txBody>
      </p:sp>
      <p:pic>
        <p:nvPicPr>
          <p:cNvPr id="3" name="Elemento visual" descr="image.png">
            <a:extLst>
              <a:ext uri="{FF2B5EF4-FFF2-40B4-BE49-F238E27FC236}">
                <a16:creationId xmlns:a16="http://schemas.microsoft.com/office/drawing/2014/main" id="{BF4322A2-89CB-9D71-CFA0-E5B9F1073F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1265408" y="146304"/>
            <a:ext cx="923331" cy="923331"/>
          </a:xfrm>
          <a:prstGeom prst="rect">
            <a:avLst/>
          </a:prstGeom>
        </p:spPr>
      </p:pic>
      <p:pic>
        <p:nvPicPr>
          <p:cNvPr id="4" name="Elemento visual" descr="image.png">
            <a:extLst>
              <a:ext uri="{FF2B5EF4-FFF2-40B4-BE49-F238E27FC236}">
                <a16:creationId xmlns:a16="http://schemas.microsoft.com/office/drawing/2014/main" id="{2D42057B-CC52-7818-D84A-644F487FAD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181" y="5765614"/>
            <a:ext cx="923331" cy="923331"/>
          </a:xfrm>
          <a:prstGeom prst="rect">
            <a:avLst/>
          </a:prstGeom>
        </p:spPr>
      </p:pic>
      <p:pic>
        <p:nvPicPr>
          <p:cNvPr id="5" name="Elemento visual" descr="image.png">
            <a:extLst>
              <a:ext uri="{FF2B5EF4-FFF2-40B4-BE49-F238E27FC236}">
                <a16:creationId xmlns:a16="http://schemas.microsoft.com/office/drawing/2014/main" id="{CBA0475E-9D8C-0ACD-1582-43EAC6BFC5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0668" y="5948272"/>
            <a:ext cx="923331" cy="923331"/>
          </a:xfrm>
          <a:prstGeom prst="rect">
            <a:avLst/>
          </a:prstGeom>
        </p:spPr>
      </p:pic>
      <p:pic>
        <p:nvPicPr>
          <p:cNvPr id="6" name="Logo UniAnchieta" descr="image.png">
            <a:extLst>
              <a:ext uri="{FF2B5EF4-FFF2-40B4-BE49-F238E27FC236}">
                <a16:creationId xmlns:a16="http://schemas.microsoft.com/office/drawing/2014/main" id="{C728FA57-655B-1A28-7945-68F78E1129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54" y="6051766"/>
            <a:ext cx="2308138" cy="7138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66A4B0A-6EA0-B2CE-EFCF-6FA33838A26B}"/>
              </a:ext>
            </a:extLst>
          </p:cNvPr>
          <p:cNvSpPr txBox="1"/>
          <p:nvPr/>
        </p:nvSpPr>
        <p:spPr>
          <a:xfrm>
            <a:off x="548639" y="2024742"/>
            <a:ext cx="7158447" cy="35337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F8FE"/>
                </a:solidFill>
                <a:latin typeface="Montserrat"/>
              </a:rPr>
              <a:t>Serviço gerenciado na nuvem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b="1" dirty="0">
              <a:solidFill>
                <a:srgbClr val="04F8FE"/>
              </a:solidFill>
              <a:latin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F8FE"/>
                </a:solidFill>
                <a:latin typeface="Montserrat"/>
              </a:rPr>
              <a:t>Alocação da infraestrutura necessária para criação dos nós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b="1" dirty="0">
              <a:solidFill>
                <a:srgbClr val="04F8FE"/>
              </a:solidFill>
              <a:latin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F8FE"/>
                </a:solidFill>
                <a:latin typeface="Montserrat"/>
              </a:rPr>
              <a:t>Facilidade no monitoramento e implementação de recursos de segurança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b="1" dirty="0">
              <a:solidFill>
                <a:srgbClr val="04F8FE"/>
              </a:solidFill>
              <a:latin typeface="Montserrat"/>
            </a:endParaRP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5555C7D4-DFAC-0C93-7CE3-208DF6E4B9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99493" y="1605162"/>
            <a:ext cx="1838325" cy="1838325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7DA52104-79F1-521D-42F5-03217E45F44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9358" r="31153" b="27022"/>
          <a:stretch/>
        </p:blipFill>
        <p:spPr>
          <a:xfrm>
            <a:off x="9271678" y="3980606"/>
            <a:ext cx="2178904" cy="2047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2592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FB0A48-1710-E7DC-B97A-A891E492C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 descr="Ícone&#10;&#10;Descrição gerada automaticamente">
            <a:extLst>
              <a:ext uri="{FF2B5EF4-FFF2-40B4-BE49-F238E27FC236}">
                <a16:creationId xmlns:a16="http://schemas.microsoft.com/office/drawing/2014/main" id="{F9B8B925-D101-F74E-F57D-6D28B6B961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5025" y="1803050"/>
            <a:ext cx="3005772" cy="3005772"/>
          </a:xfrm>
          <a:prstGeom prst="rect">
            <a:avLst/>
          </a:prstGeom>
        </p:spPr>
      </p:pic>
      <p:sp>
        <p:nvSpPr>
          <p:cNvPr id="2" name="Título">
            <a:extLst>
              <a:ext uri="{FF2B5EF4-FFF2-40B4-BE49-F238E27FC236}">
                <a16:creationId xmlns:a16="http://schemas.microsoft.com/office/drawing/2014/main" id="{D3A30E7C-C567-85AB-308D-3C433D1A448D}"/>
              </a:ext>
            </a:extLst>
          </p:cNvPr>
          <p:cNvSpPr txBox="1"/>
          <p:nvPr/>
        </p:nvSpPr>
        <p:spPr>
          <a:xfrm>
            <a:off x="548640" y="274320"/>
            <a:ext cx="10469880" cy="531925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r>
              <a:rPr lang="pt-BR" sz="2600" b="1" dirty="0">
                <a:solidFill>
                  <a:srgbClr val="FFFFFF"/>
                </a:solidFill>
                <a:latin typeface="Montserrat"/>
              </a:rPr>
              <a:t>O projeto KEDA: uma visão geral</a:t>
            </a:r>
            <a:endParaRPr sz="2600" b="1" i="0" dirty="0">
              <a:solidFill>
                <a:srgbClr val="FFFFFF"/>
              </a:solidFill>
              <a:latin typeface="Montserrat"/>
            </a:endParaRPr>
          </a:p>
        </p:txBody>
      </p:sp>
      <p:pic>
        <p:nvPicPr>
          <p:cNvPr id="3" name="Elemento visual" descr="image.png">
            <a:extLst>
              <a:ext uri="{FF2B5EF4-FFF2-40B4-BE49-F238E27FC236}">
                <a16:creationId xmlns:a16="http://schemas.microsoft.com/office/drawing/2014/main" id="{2E3F73D5-AD6D-2BAF-6F88-F8CF0212C1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1265408" y="146304"/>
            <a:ext cx="923331" cy="923331"/>
          </a:xfrm>
          <a:prstGeom prst="rect">
            <a:avLst/>
          </a:prstGeom>
        </p:spPr>
      </p:pic>
      <p:pic>
        <p:nvPicPr>
          <p:cNvPr id="4" name="Elemento visual" descr="image.png">
            <a:extLst>
              <a:ext uri="{FF2B5EF4-FFF2-40B4-BE49-F238E27FC236}">
                <a16:creationId xmlns:a16="http://schemas.microsoft.com/office/drawing/2014/main" id="{A5F6355E-9B6F-5FBF-1EA9-D21C02B2C2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5181" y="5765614"/>
            <a:ext cx="923331" cy="923331"/>
          </a:xfrm>
          <a:prstGeom prst="rect">
            <a:avLst/>
          </a:prstGeom>
        </p:spPr>
      </p:pic>
      <p:pic>
        <p:nvPicPr>
          <p:cNvPr id="5" name="Elemento visual" descr="image.png">
            <a:extLst>
              <a:ext uri="{FF2B5EF4-FFF2-40B4-BE49-F238E27FC236}">
                <a16:creationId xmlns:a16="http://schemas.microsoft.com/office/drawing/2014/main" id="{46FCDF28-EBF7-8B29-FB1E-CAC2DBAD6B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0668" y="5948272"/>
            <a:ext cx="923331" cy="923331"/>
          </a:xfrm>
          <a:prstGeom prst="rect">
            <a:avLst/>
          </a:prstGeom>
        </p:spPr>
      </p:pic>
      <p:pic>
        <p:nvPicPr>
          <p:cNvPr id="6" name="Logo UniAnchieta" descr="image.png">
            <a:extLst>
              <a:ext uri="{FF2B5EF4-FFF2-40B4-BE49-F238E27FC236}">
                <a16:creationId xmlns:a16="http://schemas.microsoft.com/office/drawing/2014/main" id="{EC45B3D1-9509-50D9-5648-42C0EA2FFE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654" y="6051766"/>
            <a:ext cx="2308138" cy="7138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055D397-F895-D3CB-D8E0-FD3E385A6F7F}"/>
              </a:ext>
            </a:extLst>
          </p:cNvPr>
          <p:cNvSpPr txBox="1"/>
          <p:nvPr/>
        </p:nvSpPr>
        <p:spPr>
          <a:xfrm>
            <a:off x="548639" y="1763483"/>
            <a:ext cx="7158447" cy="35337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 err="1">
                <a:solidFill>
                  <a:srgbClr val="04F8FE"/>
                </a:solidFill>
                <a:latin typeface="Montserrat"/>
              </a:rPr>
              <a:t>Kubernetes</a:t>
            </a:r>
            <a:r>
              <a:rPr lang="pt-BR" sz="2400" b="1" dirty="0">
                <a:solidFill>
                  <a:srgbClr val="04F8FE"/>
                </a:solidFill>
                <a:latin typeface="Montserrat"/>
              </a:rPr>
              <a:t> Event-</a:t>
            </a:r>
            <a:r>
              <a:rPr lang="pt-BR" sz="2400" b="1" dirty="0" err="1">
                <a:solidFill>
                  <a:srgbClr val="04F8FE"/>
                </a:solidFill>
                <a:latin typeface="Montserrat"/>
              </a:rPr>
              <a:t>Driven</a:t>
            </a:r>
            <a:r>
              <a:rPr lang="pt-BR" sz="2400" b="1" dirty="0">
                <a:solidFill>
                  <a:srgbClr val="04F8FE"/>
                </a:solidFill>
                <a:latin typeface="Montserrat"/>
              </a:rPr>
              <a:t> </a:t>
            </a:r>
            <a:r>
              <a:rPr lang="pt-BR" sz="2400" b="1" dirty="0" err="1">
                <a:solidFill>
                  <a:srgbClr val="04F8FE"/>
                </a:solidFill>
                <a:latin typeface="Montserrat"/>
              </a:rPr>
              <a:t>Autoscaling</a:t>
            </a:r>
            <a:br>
              <a:rPr lang="pt-BR" sz="2400" b="1" dirty="0">
                <a:solidFill>
                  <a:srgbClr val="04F8FE"/>
                </a:solidFill>
                <a:latin typeface="Montserrat"/>
              </a:rPr>
            </a:br>
            <a:r>
              <a:rPr lang="pt-BR" sz="2400" b="1" u="sng" dirty="0">
                <a:solidFill>
                  <a:srgbClr val="04F8FE"/>
                </a:solidFill>
                <a:latin typeface="Montserrat"/>
              </a:rPr>
              <a:t>https://keda.sh/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b="1" dirty="0">
              <a:solidFill>
                <a:srgbClr val="04F8FE"/>
              </a:solidFill>
              <a:latin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u="sng" dirty="0">
                <a:solidFill>
                  <a:srgbClr val="04F8FE"/>
                </a:solidFill>
                <a:latin typeface="Montserrat"/>
              </a:rPr>
              <a:t>Escalabilidade horizontal de aplicações</a:t>
            </a:r>
            <a:r>
              <a:rPr lang="pt-BR" sz="2400" b="1" dirty="0">
                <a:solidFill>
                  <a:srgbClr val="04F8FE"/>
                </a:solidFill>
                <a:latin typeface="Montserrat"/>
              </a:rPr>
              <a:t> de forma descomplicada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b="1" dirty="0">
              <a:solidFill>
                <a:srgbClr val="04F8FE"/>
              </a:solidFill>
              <a:latin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F8FE"/>
                </a:solidFill>
                <a:latin typeface="Montserrat"/>
              </a:rPr>
              <a:t>Um projeto open </a:t>
            </a:r>
            <a:r>
              <a:rPr lang="pt-BR" sz="2400" b="1" dirty="0" err="1">
                <a:solidFill>
                  <a:srgbClr val="04F8FE"/>
                </a:solidFill>
                <a:latin typeface="Montserrat"/>
              </a:rPr>
              <a:t>source</a:t>
            </a:r>
            <a:r>
              <a:rPr lang="pt-BR" sz="2400" b="1" dirty="0">
                <a:solidFill>
                  <a:srgbClr val="04F8FE"/>
                </a:solidFill>
                <a:latin typeface="Montserrat"/>
              </a:rPr>
              <a:t> apoiado pela </a:t>
            </a:r>
            <a:r>
              <a:rPr lang="pt-BR" sz="2400" b="1" u="sng" dirty="0">
                <a:solidFill>
                  <a:srgbClr val="04F8FE"/>
                </a:solidFill>
                <a:latin typeface="Montserrat"/>
              </a:rPr>
              <a:t>Cloud </a:t>
            </a:r>
            <a:r>
              <a:rPr lang="pt-BR" sz="2400" b="1" u="sng" dirty="0" err="1">
                <a:solidFill>
                  <a:srgbClr val="04F8FE"/>
                </a:solidFill>
                <a:latin typeface="Montserrat"/>
              </a:rPr>
              <a:t>Native</a:t>
            </a:r>
            <a:r>
              <a:rPr lang="pt-BR" sz="2400" b="1" u="sng" dirty="0">
                <a:solidFill>
                  <a:srgbClr val="04F8FE"/>
                </a:solidFill>
                <a:latin typeface="Montserrat"/>
              </a:rPr>
              <a:t> </a:t>
            </a:r>
            <a:r>
              <a:rPr lang="pt-BR" sz="2400" b="1" u="sng" dirty="0" err="1">
                <a:solidFill>
                  <a:srgbClr val="04F8FE"/>
                </a:solidFill>
                <a:latin typeface="Montserrat"/>
              </a:rPr>
              <a:t>Computing</a:t>
            </a:r>
            <a:r>
              <a:rPr lang="pt-BR" sz="2400" b="1" u="sng" dirty="0">
                <a:solidFill>
                  <a:srgbClr val="04F8FE"/>
                </a:solidFill>
                <a:latin typeface="Montserrat"/>
              </a:rPr>
              <a:t> Foundation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b="1" dirty="0">
              <a:solidFill>
                <a:srgbClr val="04F8FE"/>
              </a:solidFill>
              <a:latin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F8FE"/>
                </a:solidFill>
                <a:latin typeface="Montserrat"/>
              </a:rPr>
              <a:t>Instalável via </a:t>
            </a:r>
            <a:r>
              <a:rPr lang="pt-BR" sz="2400" b="1" u="sng" dirty="0">
                <a:solidFill>
                  <a:srgbClr val="04F8FE"/>
                </a:solidFill>
                <a:latin typeface="Montserrat"/>
              </a:rPr>
              <a:t>Helm</a:t>
            </a:r>
          </a:p>
        </p:txBody>
      </p:sp>
    </p:spTree>
    <p:extLst>
      <p:ext uri="{BB962C8B-B14F-4D97-AF65-F5344CB8AC3E}">
        <p14:creationId xmlns:p14="http://schemas.microsoft.com/office/powerpoint/2010/main" val="583538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34F044-DE8A-DCF4-E6F8-7A6A5DBFF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 descr="Ícone&#10;&#10;Descrição gerada automaticamente">
            <a:extLst>
              <a:ext uri="{FF2B5EF4-FFF2-40B4-BE49-F238E27FC236}">
                <a16:creationId xmlns:a16="http://schemas.microsoft.com/office/drawing/2014/main" id="{6BE2924B-05A4-D77A-4C21-23177DAB5C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5025" y="1803050"/>
            <a:ext cx="3005772" cy="3005772"/>
          </a:xfrm>
          <a:prstGeom prst="rect">
            <a:avLst/>
          </a:prstGeom>
        </p:spPr>
      </p:pic>
      <p:sp>
        <p:nvSpPr>
          <p:cNvPr id="2" name="Título">
            <a:extLst>
              <a:ext uri="{FF2B5EF4-FFF2-40B4-BE49-F238E27FC236}">
                <a16:creationId xmlns:a16="http://schemas.microsoft.com/office/drawing/2014/main" id="{674D0DCD-A27A-8DE9-56A3-ED6F223C4266}"/>
              </a:ext>
            </a:extLst>
          </p:cNvPr>
          <p:cNvSpPr txBox="1"/>
          <p:nvPr/>
        </p:nvSpPr>
        <p:spPr>
          <a:xfrm>
            <a:off x="548640" y="274320"/>
            <a:ext cx="10469880" cy="531925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r>
              <a:rPr lang="pt-BR" sz="2600" b="1" dirty="0">
                <a:solidFill>
                  <a:srgbClr val="FFFFFF"/>
                </a:solidFill>
                <a:latin typeface="Montserrat"/>
              </a:rPr>
              <a:t>O projeto KEDA: uma visão geral</a:t>
            </a:r>
            <a:endParaRPr sz="2600" b="1" i="0" dirty="0">
              <a:solidFill>
                <a:srgbClr val="FFFFFF"/>
              </a:solidFill>
              <a:latin typeface="Montserrat"/>
            </a:endParaRPr>
          </a:p>
        </p:txBody>
      </p:sp>
      <p:pic>
        <p:nvPicPr>
          <p:cNvPr id="3" name="Elemento visual" descr="image.png">
            <a:extLst>
              <a:ext uri="{FF2B5EF4-FFF2-40B4-BE49-F238E27FC236}">
                <a16:creationId xmlns:a16="http://schemas.microsoft.com/office/drawing/2014/main" id="{261AAFEE-0D94-AB8B-1D2A-0CE04312C0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1265408" y="146304"/>
            <a:ext cx="923331" cy="923331"/>
          </a:xfrm>
          <a:prstGeom prst="rect">
            <a:avLst/>
          </a:prstGeom>
        </p:spPr>
      </p:pic>
      <p:pic>
        <p:nvPicPr>
          <p:cNvPr id="4" name="Elemento visual" descr="image.png">
            <a:extLst>
              <a:ext uri="{FF2B5EF4-FFF2-40B4-BE49-F238E27FC236}">
                <a16:creationId xmlns:a16="http://schemas.microsoft.com/office/drawing/2014/main" id="{5E5A7DBA-16B2-0264-2196-0CE5CF9630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5181" y="5765614"/>
            <a:ext cx="923331" cy="923331"/>
          </a:xfrm>
          <a:prstGeom prst="rect">
            <a:avLst/>
          </a:prstGeom>
        </p:spPr>
      </p:pic>
      <p:pic>
        <p:nvPicPr>
          <p:cNvPr id="5" name="Elemento visual" descr="image.png">
            <a:extLst>
              <a:ext uri="{FF2B5EF4-FFF2-40B4-BE49-F238E27FC236}">
                <a16:creationId xmlns:a16="http://schemas.microsoft.com/office/drawing/2014/main" id="{D2107290-E4BD-D44D-66A5-BEC7C50703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0668" y="5948272"/>
            <a:ext cx="923331" cy="923331"/>
          </a:xfrm>
          <a:prstGeom prst="rect">
            <a:avLst/>
          </a:prstGeom>
        </p:spPr>
      </p:pic>
      <p:pic>
        <p:nvPicPr>
          <p:cNvPr id="6" name="Logo UniAnchieta" descr="image.png">
            <a:extLst>
              <a:ext uri="{FF2B5EF4-FFF2-40B4-BE49-F238E27FC236}">
                <a16:creationId xmlns:a16="http://schemas.microsoft.com/office/drawing/2014/main" id="{CD320840-34AA-CD7E-DAD4-485B6E3777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654" y="6051766"/>
            <a:ext cx="2308138" cy="7138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66BE017-B9AF-1C29-9870-D4DA03952B69}"/>
              </a:ext>
            </a:extLst>
          </p:cNvPr>
          <p:cNvSpPr txBox="1"/>
          <p:nvPr/>
        </p:nvSpPr>
        <p:spPr>
          <a:xfrm>
            <a:off x="548639" y="1069635"/>
            <a:ext cx="7158447" cy="42275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300" b="1" dirty="0">
                <a:solidFill>
                  <a:srgbClr val="04F8FE"/>
                </a:solidFill>
                <a:latin typeface="Montserrat"/>
              </a:rPr>
              <a:t>Uso do mecanismo conhecido como </a:t>
            </a:r>
            <a:r>
              <a:rPr lang="pt-BR" sz="2300" b="1" u="sng" dirty="0">
                <a:solidFill>
                  <a:srgbClr val="04F8FE"/>
                </a:solidFill>
                <a:latin typeface="Montserrat"/>
              </a:rPr>
              <a:t>HPA (Horizontal </a:t>
            </a:r>
            <a:r>
              <a:rPr lang="pt-BR" sz="2300" b="1" u="sng" dirty="0" err="1">
                <a:solidFill>
                  <a:srgbClr val="04F8FE"/>
                </a:solidFill>
                <a:latin typeface="Montserrat"/>
              </a:rPr>
              <a:t>Pod</a:t>
            </a:r>
            <a:r>
              <a:rPr lang="pt-BR" sz="2300" b="1" u="sng" dirty="0">
                <a:solidFill>
                  <a:srgbClr val="04F8FE"/>
                </a:solidFill>
                <a:latin typeface="Montserrat"/>
              </a:rPr>
              <a:t> </a:t>
            </a:r>
            <a:r>
              <a:rPr lang="pt-BR" sz="2300" b="1" u="sng" dirty="0" err="1">
                <a:solidFill>
                  <a:srgbClr val="04F8FE"/>
                </a:solidFill>
                <a:latin typeface="Montserrat"/>
              </a:rPr>
              <a:t>Autoscaler</a:t>
            </a:r>
            <a:r>
              <a:rPr lang="pt-BR" sz="2300" b="1" u="sng" dirty="0">
                <a:solidFill>
                  <a:srgbClr val="04F8FE"/>
                </a:solidFill>
                <a:latin typeface="Montserrat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300" b="1" dirty="0">
              <a:solidFill>
                <a:srgbClr val="04F8FE"/>
              </a:solidFill>
              <a:latin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300" b="1" u="sng" dirty="0" err="1">
                <a:solidFill>
                  <a:srgbClr val="04F8FE"/>
                </a:solidFill>
                <a:latin typeface="Montserrat"/>
              </a:rPr>
              <a:t>Scalers</a:t>
            </a:r>
            <a:r>
              <a:rPr lang="pt-BR" sz="2300" b="1" dirty="0">
                <a:solidFill>
                  <a:srgbClr val="04F8FE"/>
                </a:solidFill>
                <a:latin typeface="Montserrat"/>
              </a:rPr>
              <a:t> permitem escalar aplicações que dependam de inúmeras tecnologias, através da utilização de alguma métrica suportada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300" b="1" dirty="0">
              <a:solidFill>
                <a:srgbClr val="04F8FE"/>
              </a:solidFill>
              <a:latin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300" b="1" u="sng" dirty="0">
                <a:solidFill>
                  <a:srgbClr val="04F8FE"/>
                </a:solidFill>
                <a:latin typeface="Montserrat"/>
              </a:rPr>
              <a:t>Triggers</a:t>
            </a:r>
            <a:r>
              <a:rPr lang="pt-BR" sz="2300" b="1" dirty="0">
                <a:solidFill>
                  <a:srgbClr val="04F8FE"/>
                </a:solidFill>
                <a:latin typeface="Montserrat"/>
              </a:rPr>
              <a:t> para disparar o </a:t>
            </a:r>
            <a:r>
              <a:rPr lang="pt-BR" sz="2300" b="1" dirty="0" err="1">
                <a:solidFill>
                  <a:srgbClr val="04F8FE"/>
                </a:solidFill>
                <a:latin typeface="Montserrat"/>
              </a:rPr>
              <a:t>autoscaling</a:t>
            </a:r>
            <a:r>
              <a:rPr lang="pt-BR" sz="2300" b="1" dirty="0">
                <a:solidFill>
                  <a:srgbClr val="04F8FE"/>
                </a:solidFill>
                <a:latin typeface="Montserrat"/>
              </a:rPr>
              <a:t> de </a:t>
            </a:r>
            <a:r>
              <a:rPr lang="pt-BR" sz="2300" b="1" dirty="0" err="1">
                <a:solidFill>
                  <a:srgbClr val="04F8FE"/>
                </a:solidFill>
                <a:latin typeface="Montserrat"/>
              </a:rPr>
              <a:t>deployments</a:t>
            </a:r>
            <a:endParaRPr lang="pt-BR" sz="2300" b="1" dirty="0">
              <a:solidFill>
                <a:srgbClr val="04F8FE"/>
              </a:solidFill>
              <a:latin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300" b="1" dirty="0">
              <a:solidFill>
                <a:srgbClr val="04F8FE"/>
              </a:solidFill>
              <a:latin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300" b="1" u="sng" dirty="0" err="1">
                <a:solidFill>
                  <a:srgbClr val="04F8FE"/>
                </a:solidFill>
                <a:latin typeface="Montserrat"/>
              </a:rPr>
              <a:t>ScaledObject</a:t>
            </a:r>
            <a:r>
              <a:rPr lang="pt-BR" sz="2300" b="1" dirty="0">
                <a:solidFill>
                  <a:srgbClr val="04F8FE"/>
                </a:solidFill>
                <a:latin typeface="Montserrat"/>
              </a:rPr>
              <a:t>: estrutura com as regras + Trigger para efetuar o </a:t>
            </a:r>
            <a:r>
              <a:rPr lang="pt-BR" sz="2300" b="1" dirty="0" err="1">
                <a:solidFill>
                  <a:srgbClr val="04F8FE"/>
                </a:solidFill>
                <a:latin typeface="Montserrat"/>
              </a:rPr>
              <a:t>autoscaling</a:t>
            </a:r>
            <a:r>
              <a:rPr lang="pt-BR" sz="2300" b="1" dirty="0">
                <a:solidFill>
                  <a:srgbClr val="04F8FE"/>
                </a:solidFill>
                <a:latin typeface="Montserrat"/>
              </a:rPr>
              <a:t> de uma aplicação</a:t>
            </a:r>
          </a:p>
        </p:txBody>
      </p:sp>
    </p:spTree>
    <p:extLst>
      <p:ext uri="{BB962C8B-B14F-4D97-AF65-F5344CB8AC3E}">
        <p14:creationId xmlns:p14="http://schemas.microsoft.com/office/powerpoint/2010/main" val="1176799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1CE533-8D26-594E-557F-A21A84E6F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>
            <a:extLst>
              <a:ext uri="{FF2B5EF4-FFF2-40B4-BE49-F238E27FC236}">
                <a16:creationId xmlns:a16="http://schemas.microsoft.com/office/drawing/2014/main" id="{856F55D7-99D5-F1F6-92BA-C0AF89C3D125}"/>
              </a:ext>
            </a:extLst>
          </p:cNvPr>
          <p:cNvSpPr txBox="1"/>
          <p:nvPr/>
        </p:nvSpPr>
        <p:spPr>
          <a:xfrm>
            <a:off x="548640" y="274320"/>
            <a:ext cx="10469880" cy="531925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r>
              <a:rPr lang="pt-BR" sz="2600" b="1" dirty="0">
                <a:solidFill>
                  <a:srgbClr val="FFFFFF"/>
                </a:solidFill>
                <a:latin typeface="Montserrat"/>
              </a:rPr>
              <a:t>Um exemplo simples com </a:t>
            </a:r>
            <a:r>
              <a:rPr lang="pt-BR" sz="2600" b="1" dirty="0" err="1">
                <a:solidFill>
                  <a:srgbClr val="FFFFFF"/>
                </a:solidFill>
                <a:latin typeface="Montserrat"/>
              </a:rPr>
              <a:t>Kubernetes</a:t>
            </a:r>
            <a:endParaRPr sz="2600" b="1" i="0" dirty="0">
              <a:solidFill>
                <a:srgbClr val="FFFFFF"/>
              </a:solidFill>
              <a:latin typeface="Montserrat"/>
            </a:endParaRPr>
          </a:p>
        </p:txBody>
      </p:sp>
      <p:pic>
        <p:nvPicPr>
          <p:cNvPr id="3" name="Elemento visual" descr="image.png">
            <a:extLst>
              <a:ext uri="{FF2B5EF4-FFF2-40B4-BE49-F238E27FC236}">
                <a16:creationId xmlns:a16="http://schemas.microsoft.com/office/drawing/2014/main" id="{AC67B8AA-4DDB-69DB-505A-F4380EE8E3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1265408" y="146304"/>
            <a:ext cx="923331" cy="923331"/>
          </a:xfrm>
          <a:prstGeom prst="rect">
            <a:avLst/>
          </a:prstGeom>
        </p:spPr>
      </p:pic>
      <p:pic>
        <p:nvPicPr>
          <p:cNvPr id="4" name="Elemento visual" descr="image.png">
            <a:extLst>
              <a:ext uri="{FF2B5EF4-FFF2-40B4-BE49-F238E27FC236}">
                <a16:creationId xmlns:a16="http://schemas.microsoft.com/office/drawing/2014/main" id="{0739BDED-3EF7-BB2E-01D2-8CDC553087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5181" y="5765614"/>
            <a:ext cx="923331" cy="923331"/>
          </a:xfrm>
          <a:prstGeom prst="rect">
            <a:avLst/>
          </a:prstGeom>
        </p:spPr>
      </p:pic>
      <p:pic>
        <p:nvPicPr>
          <p:cNvPr id="5" name="Elemento visual" descr="image.png">
            <a:extLst>
              <a:ext uri="{FF2B5EF4-FFF2-40B4-BE49-F238E27FC236}">
                <a16:creationId xmlns:a16="http://schemas.microsoft.com/office/drawing/2014/main" id="{829A6BB4-F237-345E-761C-DBA38D9CE0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0668" y="5948272"/>
            <a:ext cx="923331" cy="923331"/>
          </a:xfrm>
          <a:prstGeom prst="rect">
            <a:avLst/>
          </a:prstGeom>
        </p:spPr>
      </p:pic>
      <p:pic>
        <p:nvPicPr>
          <p:cNvPr id="6" name="Logo UniAnchieta" descr="image.png">
            <a:extLst>
              <a:ext uri="{FF2B5EF4-FFF2-40B4-BE49-F238E27FC236}">
                <a16:creationId xmlns:a16="http://schemas.microsoft.com/office/drawing/2014/main" id="{5EB3E9F4-0D11-DAC0-31F9-9D5C3926B7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654" y="6051766"/>
            <a:ext cx="2308138" cy="713858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6525F6C9-AB59-D1F7-BE86-9E5B7C95AF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24945" y="3649662"/>
            <a:ext cx="2286000" cy="2286000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9C612F0E-AE18-BABE-5040-00CCF1AD4CFE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9358" r="31153" b="27022"/>
          <a:stretch/>
        </p:blipFill>
        <p:spPr>
          <a:xfrm>
            <a:off x="3094037" y="1605162"/>
            <a:ext cx="3505200" cy="3293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8609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981138-1309-F60D-9A81-AA87D0A68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>
            <a:extLst>
              <a:ext uri="{FF2B5EF4-FFF2-40B4-BE49-F238E27FC236}">
                <a16:creationId xmlns:a16="http://schemas.microsoft.com/office/drawing/2014/main" id="{F781B082-6150-0722-2FD0-20D0B651FF18}"/>
              </a:ext>
            </a:extLst>
          </p:cNvPr>
          <p:cNvSpPr txBox="1"/>
          <p:nvPr/>
        </p:nvSpPr>
        <p:spPr>
          <a:xfrm>
            <a:off x="548640" y="274320"/>
            <a:ext cx="10469880" cy="531925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r>
              <a:rPr lang="pt-BR" sz="2600" b="1" dirty="0" err="1">
                <a:solidFill>
                  <a:srgbClr val="FFFFFF"/>
                </a:solidFill>
                <a:latin typeface="Montserrat"/>
              </a:rPr>
              <a:t>Kubernetes</a:t>
            </a:r>
            <a:r>
              <a:rPr lang="pt-BR" sz="2600" b="1" dirty="0">
                <a:solidFill>
                  <a:srgbClr val="FFFFFF"/>
                </a:solidFill>
                <a:latin typeface="Montserrat"/>
              </a:rPr>
              <a:t> e complexidade</a:t>
            </a:r>
            <a:endParaRPr sz="2600" b="1" i="0" dirty="0">
              <a:solidFill>
                <a:srgbClr val="FFFFFF"/>
              </a:solidFill>
              <a:latin typeface="Montserrat"/>
            </a:endParaRPr>
          </a:p>
        </p:txBody>
      </p:sp>
      <p:pic>
        <p:nvPicPr>
          <p:cNvPr id="3" name="Elemento visual" descr="image.png">
            <a:extLst>
              <a:ext uri="{FF2B5EF4-FFF2-40B4-BE49-F238E27FC236}">
                <a16:creationId xmlns:a16="http://schemas.microsoft.com/office/drawing/2014/main" id="{72723463-F8CA-7E2F-9ECF-A2D06EFBFC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1265408" y="146304"/>
            <a:ext cx="923331" cy="923331"/>
          </a:xfrm>
          <a:prstGeom prst="rect">
            <a:avLst/>
          </a:prstGeom>
        </p:spPr>
      </p:pic>
      <p:pic>
        <p:nvPicPr>
          <p:cNvPr id="4" name="Elemento visual" descr="image.png">
            <a:extLst>
              <a:ext uri="{FF2B5EF4-FFF2-40B4-BE49-F238E27FC236}">
                <a16:creationId xmlns:a16="http://schemas.microsoft.com/office/drawing/2014/main" id="{0B54538E-F829-FDE1-B271-E5478E9A07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181" y="5765614"/>
            <a:ext cx="923331" cy="923331"/>
          </a:xfrm>
          <a:prstGeom prst="rect">
            <a:avLst/>
          </a:prstGeom>
        </p:spPr>
      </p:pic>
      <p:pic>
        <p:nvPicPr>
          <p:cNvPr id="5" name="Elemento visual" descr="image.png">
            <a:extLst>
              <a:ext uri="{FF2B5EF4-FFF2-40B4-BE49-F238E27FC236}">
                <a16:creationId xmlns:a16="http://schemas.microsoft.com/office/drawing/2014/main" id="{260B0386-4504-D749-21CB-830C2B7FA5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0668" y="5948272"/>
            <a:ext cx="923331" cy="923331"/>
          </a:xfrm>
          <a:prstGeom prst="rect">
            <a:avLst/>
          </a:prstGeom>
        </p:spPr>
      </p:pic>
      <p:pic>
        <p:nvPicPr>
          <p:cNvPr id="6" name="Logo UniAnchieta" descr="image.png">
            <a:extLst>
              <a:ext uri="{FF2B5EF4-FFF2-40B4-BE49-F238E27FC236}">
                <a16:creationId xmlns:a16="http://schemas.microsoft.com/office/drawing/2014/main" id="{5F8CAE7F-5CEE-277A-75BA-48EF79D453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54" y="6051766"/>
            <a:ext cx="2308138" cy="7138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5A6EC74-E4A3-1C54-E6D6-3CC9DDFFB531}"/>
              </a:ext>
            </a:extLst>
          </p:cNvPr>
          <p:cNvSpPr txBox="1"/>
          <p:nvPr/>
        </p:nvSpPr>
        <p:spPr>
          <a:xfrm>
            <a:off x="548639" y="1273629"/>
            <a:ext cx="7158447" cy="428486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F8FE"/>
                </a:solidFill>
                <a:latin typeface="Montserrat"/>
              </a:rPr>
              <a:t>Conhecimentos avançados em segurança e infraestrutura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b="1" dirty="0">
              <a:solidFill>
                <a:srgbClr val="04F8FE"/>
              </a:solidFill>
              <a:latin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F8FE"/>
                </a:solidFill>
                <a:latin typeface="Montserrat"/>
              </a:rPr>
              <a:t>Monitoramento constante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b="1" dirty="0">
              <a:solidFill>
                <a:srgbClr val="04F8FE"/>
              </a:solidFill>
              <a:latin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F8FE"/>
                </a:solidFill>
                <a:latin typeface="Montserrat"/>
              </a:rPr>
              <a:t>Várias questões envolvendo escalabilidade de aplicações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b="1" dirty="0">
              <a:solidFill>
                <a:srgbClr val="04F8FE"/>
              </a:solidFill>
              <a:latin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F8FE"/>
                </a:solidFill>
                <a:latin typeface="Montserrat"/>
              </a:rPr>
              <a:t>Implantação e o dia seguinte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b="1" dirty="0">
              <a:solidFill>
                <a:srgbClr val="04F8FE"/>
              </a:solidFill>
              <a:latin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F8FE"/>
                </a:solidFill>
                <a:latin typeface="Montserrat"/>
              </a:rPr>
              <a:t>Altos custos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C665E709-61E7-04B2-9CE5-60FA7E7D60B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9358" r="31153" b="27022"/>
          <a:stretch/>
        </p:blipFill>
        <p:spPr>
          <a:xfrm>
            <a:off x="8715024" y="2053344"/>
            <a:ext cx="2928337" cy="2751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74509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145646-D3FE-A818-52F2-EBF3D50CE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>
            <a:extLst>
              <a:ext uri="{FF2B5EF4-FFF2-40B4-BE49-F238E27FC236}">
                <a16:creationId xmlns:a16="http://schemas.microsoft.com/office/drawing/2014/main" id="{485DAD4B-8247-29E5-DC68-4B524D7B3041}"/>
              </a:ext>
            </a:extLst>
          </p:cNvPr>
          <p:cNvSpPr txBox="1"/>
          <p:nvPr/>
        </p:nvSpPr>
        <p:spPr>
          <a:xfrm>
            <a:off x="548640" y="274320"/>
            <a:ext cx="10469880" cy="531925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r>
              <a:rPr lang="pt-BR" sz="2600" b="1" dirty="0">
                <a:solidFill>
                  <a:srgbClr val="FFFFFF"/>
                </a:solidFill>
                <a:latin typeface="Montserrat"/>
              </a:rPr>
              <a:t>Azure Container Apps: uma alternativa...</a:t>
            </a:r>
            <a:endParaRPr sz="2600" b="1" i="0" dirty="0">
              <a:solidFill>
                <a:srgbClr val="FFFFFF"/>
              </a:solidFill>
              <a:latin typeface="Montserrat"/>
            </a:endParaRPr>
          </a:p>
        </p:txBody>
      </p:sp>
      <p:pic>
        <p:nvPicPr>
          <p:cNvPr id="3" name="Elemento visual" descr="image.png">
            <a:extLst>
              <a:ext uri="{FF2B5EF4-FFF2-40B4-BE49-F238E27FC236}">
                <a16:creationId xmlns:a16="http://schemas.microsoft.com/office/drawing/2014/main" id="{0461AD9D-FE05-86F8-004B-40F71B205E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1265408" y="146304"/>
            <a:ext cx="923331" cy="923331"/>
          </a:xfrm>
          <a:prstGeom prst="rect">
            <a:avLst/>
          </a:prstGeom>
        </p:spPr>
      </p:pic>
      <p:pic>
        <p:nvPicPr>
          <p:cNvPr id="4" name="Elemento visual" descr="image.png">
            <a:extLst>
              <a:ext uri="{FF2B5EF4-FFF2-40B4-BE49-F238E27FC236}">
                <a16:creationId xmlns:a16="http://schemas.microsoft.com/office/drawing/2014/main" id="{5A346B16-5703-29E2-CD14-A8B0E717A3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181" y="5765614"/>
            <a:ext cx="923331" cy="923331"/>
          </a:xfrm>
          <a:prstGeom prst="rect">
            <a:avLst/>
          </a:prstGeom>
        </p:spPr>
      </p:pic>
      <p:pic>
        <p:nvPicPr>
          <p:cNvPr id="5" name="Elemento visual" descr="image.png">
            <a:extLst>
              <a:ext uri="{FF2B5EF4-FFF2-40B4-BE49-F238E27FC236}">
                <a16:creationId xmlns:a16="http://schemas.microsoft.com/office/drawing/2014/main" id="{B4B08AD0-300F-B6BB-FE53-1C5B0F2D4A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0668" y="5948272"/>
            <a:ext cx="923331" cy="923331"/>
          </a:xfrm>
          <a:prstGeom prst="rect">
            <a:avLst/>
          </a:prstGeom>
        </p:spPr>
      </p:pic>
      <p:pic>
        <p:nvPicPr>
          <p:cNvPr id="6" name="Logo UniAnchieta" descr="image.png">
            <a:extLst>
              <a:ext uri="{FF2B5EF4-FFF2-40B4-BE49-F238E27FC236}">
                <a16:creationId xmlns:a16="http://schemas.microsoft.com/office/drawing/2014/main" id="{A05CD66F-D2BC-299A-BE20-FECB307E28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54" y="6051766"/>
            <a:ext cx="2308138" cy="7138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D5AA029-567D-516E-9EF2-D3FABCCCD047}"/>
              </a:ext>
            </a:extLst>
          </p:cNvPr>
          <p:cNvSpPr txBox="1"/>
          <p:nvPr/>
        </p:nvSpPr>
        <p:spPr>
          <a:xfrm>
            <a:off x="548639" y="1273629"/>
            <a:ext cx="7158447" cy="428486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 err="1">
                <a:solidFill>
                  <a:srgbClr val="04F8FE"/>
                </a:solidFill>
                <a:latin typeface="Montserrat"/>
              </a:rPr>
              <a:t>Serverless</a:t>
            </a:r>
            <a:endParaRPr lang="pt-BR" sz="2400" b="1" dirty="0">
              <a:solidFill>
                <a:srgbClr val="04F8FE"/>
              </a:solidFill>
              <a:latin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b="1" dirty="0">
              <a:solidFill>
                <a:srgbClr val="04F8FE"/>
              </a:solidFill>
              <a:latin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F8FE"/>
                </a:solidFill>
                <a:latin typeface="Montserrat"/>
              </a:rPr>
              <a:t>Serviço gerenciado que descomplica o uso de containers, </a:t>
            </a:r>
            <a:r>
              <a:rPr lang="pt-BR" sz="2400" b="1" dirty="0" err="1">
                <a:solidFill>
                  <a:srgbClr val="04F8FE"/>
                </a:solidFill>
                <a:latin typeface="Montserrat"/>
              </a:rPr>
              <a:t>Kubernetes</a:t>
            </a:r>
            <a:r>
              <a:rPr lang="pt-BR" sz="2400" b="1" dirty="0">
                <a:solidFill>
                  <a:srgbClr val="04F8FE"/>
                </a:solidFill>
                <a:latin typeface="Montserrat"/>
              </a:rPr>
              <a:t> e alternativas cloud </a:t>
            </a:r>
            <a:r>
              <a:rPr lang="pt-BR" sz="2400" b="1" dirty="0" err="1">
                <a:solidFill>
                  <a:srgbClr val="04F8FE"/>
                </a:solidFill>
                <a:latin typeface="Montserrat"/>
              </a:rPr>
              <a:t>native</a:t>
            </a:r>
            <a:endParaRPr lang="pt-BR" sz="2400" b="1" dirty="0">
              <a:solidFill>
                <a:srgbClr val="04F8FE"/>
              </a:solidFill>
              <a:latin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b="1" dirty="0">
              <a:solidFill>
                <a:srgbClr val="04F8FE"/>
              </a:solidFill>
              <a:latin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F8FE"/>
                </a:solidFill>
                <a:latin typeface="Montserrat"/>
              </a:rPr>
              <a:t>Custo menor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b="1" dirty="0">
              <a:solidFill>
                <a:srgbClr val="04F8FE"/>
              </a:solidFill>
              <a:latin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F8FE"/>
                </a:solidFill>
                <a:latin typeface="Montserrat"/>
              </a:rPr>
              <a:t>Escalabilidade facilitada com KEDA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b="1" dirty="0">
              <a:solidFill>
                <a:srgbClr val="04F8FE"/>
              </a:solidFill>
              <a:latin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F8FE"/>
                </a:solidFill>
                <a:latin typeface="Montserrat"/>
              </a:rPr>
              <a:t>DAPR + </a:t>
            </a:r>
            <a:r>
              <a:rPr lang="pt-BR" sz="2400" b="1" dirty="0" err="1">
                <a:solidFill>
                  <a:srgbClr val="04F8FE"/>
                </a:solidFill>
                <a:latin typeface="Montserrat"/>
              </a:rPr>
              <a:t>Microservices</a:t>
            </a:r>
            <a:endParaRPr lang="pt-BR" sz="2400" b="1" dirty="0">
              <a:solidFill>
                <a:srgbClr val="04F8FE"/>
              </a:solidFill>
              <a:latin typeface="Montserrat"/>
            </a:endParaRPr>
          </a:p>
        </p:txBody>
      </p:sp>
      <p:pic>
        <p:nvPicPr>
          <p:cNvPr id="9" name="Imagem 3">
            <a:extLst>
              <a:ext uri="{FF2B5EF4-FFF2-40B4-BE49-F238E27FC236}">
                <a16:creationId xmlns:a16="http://schemas.microsoft.com/office/drawing/2014/main" id="{67E1FA19-91E7-E738-5D7C-2ADBC32D37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8806289" y="1490806"/>
            <a:ext cx="1905000" cy="1905000"/>
          </a:xfrm>
          <a:prstGeom prst="rect">
            <a:avLst/>
          </a:prstGeom>
        </p:spPr>
      </p:pic>
      <p:pic>
        <p:nvPicPr>
          <p:cNvPr id="12" name="Imagem 11" descr="Desenho de uma pessoa&#10;&#10;Descrição gerada automaticamente com confiança baixa">
            <a:extLst>
              <a:ext uri="{FF2B5EF4-FFF2-40B4-BE49-F238E27FC236}">
                <a16:creationId xmlns:a16="http://schemas.microsoft.com/office/drawing/2014/main" id="{08EEC7F5-5FE3-C0E4-4796-B336B2E751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6289" y="3970366"/>
            <a:ext cx="2061296" cy="2061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4195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40A92C-20A9-BF90-C59D-DD2D39938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>
            <a:extLst>
              <a:ext uri="{FF2B5EF4-FFF2-40B4-BE49-F238E27FC236}">
                <a16:creationId xmlns:a16="http://schemas.microsoft.com/office/drawing/2014/main" id="{CFCAF081-B9A5-AEF0-9959-58B61D357468}"/>
              </a:ext>
            </a:extLst>
          </p:cNvPr>
          <p:cNvSpPr txBox="1"/>
          <p:nvPr/>
        </p:nvSpPr>
        <p:spPr>
          <a:xfrm>
            <a:off x="548640" y="274320"/>
            <a:ext cx="10469880" cy="531925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r>
              <a:rPr lang="pt-BR" sz="2600" b="1" dirty="0">
                <a:solidFill>
                  <a:srgbClr val="FFFFFF"/>
                </a:solidFill>
                <a:latin typeface="Montserrat"/>
              </a:rPr>
              <a:t>Um exemplo simples com Azure Container Apps</a:t>
            </a:r>
            <a:endParaRPr sz="2600" b="1" i="0" dirty="0">
              <a:solidFill>
                <a:srgbClr val="FFFFFF"/>
              </a:solidFill>
              <a:latin typeface="Montserrat"/>
            </a:endParaRPr>
          </a:p>
        </p:txBody>
      </p:sp>
      <p:pic>
        <p:nvPicPr>
          <p:cNvPr id="3" name="Elemento visual" descr="image.png">
            <a:extLst>
              <a:ext uri="{FF2B5EF4-FFF2-40B4-BE49-F238E27FC236}">
                <a16:creationId xmlns:a16="http://schemas.microsoft.com/office/drawing/2014/main" id="{E96158BE-3C06-B623-221A-F624CCE0FD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1265408" y="146304"/>
            <a:ext cx="923331" cy="923331"/>
          </a:xfrm>
          <a:prstGeom prst="rect">
            <a:avLst/>
          </a:prstGeom>
        </p:spPr>
      </p:pic>
      <p:pic>
        <p:nvPicPr>
          <p:cNvPr id="4" name="Elemento visual" descr="image.png">
            <a:extLst>
              <a:ext uri="{FF2B5EF4-FFF2-40B4-BE49-F238E27FC236}">
                <a16:creationId xmlns:a16="http://schemas.microsoft.com/office/drawing/2014/main" id="{BEE5DF75-0553-F87C-DCEF-3CA152760E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5181" y="5765614"/>
            <a:ext cx="923331" cy="923331"/>
          </a:xfrm>
          <a:prstGeom prst="rect">
            <a:avLst/>
          </a:prstGeom>
        </p:spPr>
      </p:pic>
      <p:pic>
        <p:nvPicPr>
          <p:cNvPr id="5" name="Elemento visual" descr="image.png">
            <a:extLst>
              <a:ext uri="{FF2B5EF4-FFF2-40B4-BE49-F238E27FC236}">
                <a16:creationId xmlns:a16="http://schemas.microsoft.com/office/drawing/2014/main" id="{EE6B23A3-BB2A-CCAC-C4EB-FFEB2804FE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0668" y="5948272"/>
            <a:ext cx="923331" cy="923331"/>
          </a:xfrm>
          <a:prstGeom prst="rect">
            <a:avLst/>
          </a:prstGeom>
        </p:spPr>
      </p:pic>
      <p:pic>
        <p:nvPicPr>
          <p:cNvPr id="6" name="Logo UniAnchieta" descr="image.png">
            <a:extLst>
              <a:ext uri="{FF2B5EF4-FFF2-40B4-BE49-F238E27FC236}">
                <a16:creationId xmlns:a16="http://schemas.microsoft.com/office/drawing/2014/main" id="{6929B4FD-3FFB-7E78-6D91-5EE8A0738E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654" y="6051766"/>
            <a:ext cx="2308138" cy="713858"/>
          </a:xfrm>
          <a:prstGeom prst="rect">
            <a:avLst/>
          </a:prstGeom>
        </p:spPr>
      </p:pic>
      <p:pic>
        <p:nvPicPr>
          <p:cNvPr id="9" name="Imagem 3">
            <a:extLst>
              <a:ext uri="{FF2B5EF4-FFF2-40B4-BE49-F238E27FC236}">
                <a16:creationId xmlns:a16="http://schemas.microsoft.com/office/drawing/2014/main" id="{FD23092E-B41E-C942-EB2F-60D5B6B05E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4465637" y="1984146"/>
            <a:ext cx="2895600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36611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D9B1F8-D4F5-E26D-7C51-FB501AA37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>
            <a:extLst>
              <a:ext uri="{FF2B5EF4-FFF2-40B4-BE49-F238E27FC236}">
                <a16:creationId xmlns:a16="http://schemas.microsoft.com/office/drawing/2014/main" id="{CA9A9586-99DF-12C2-7F54-89CB296CC3AF}"/>
              </a:ext>
            </a:extLst>
          </p:cNvPr>
          <p:cNvSpPr txBox="1"/>
          <p:nvPr/>
        </p:nvSpPr>
        <p:spPr>
          <a:xfrm>
            <a:off x="548640" y="274320"/>
            <a:ext cx="10469880" cy="531925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r>
              <a:rPr lang="pt-BR" sz="2600" b="1" dirty="0">
                <a:solidFill>
                  <a:srgbClr val="FFFFFF"/>
                </a:solidFill>
                <a:latin typeface="Montserrat"/>
              </a:rPr>
              <a:t>Pilares da </a:t>
            </a:r>
            <a:r>
              <a:rPr lang="pt-BR" sz="2600" b="1" dirty="0" err="1">
                <a:solidFill>
                  <a:srgbClr val="FFFFFF"/>
                </a:solidFill>
                <a:latin typeface="Montserrat"/>
              </a:rPr>
              <a:t>Observabilidade</a:t>
            </a:r>
            <a:endParaRPr sz="2600" b="1" i="0" dirty="0">
              <a:solidFill>
                <a:srgbClr val="FFFFFF"/>
              </a:solidFill>
              <a:latin typeface="Montserrat"/>
            </a:endParaRPr>
          </a:p>
        </p:txBody>
      </p:sp>
      <p:pic>
        <p:nvPicPr>
          <p:cNvPr id="3" name="Elemento visual" descr="image.png">
            <a:extLst>
              <a:ext uri="{FF2B5EF4-FFF2-40B4-BE49-F238E27FC236}">
                <a16:creationId xmlns:a16="http://schemas.microsoft.com/office/drawing/2014/main" id="{E84F679A-6337-B1DA-E545-C53525A8F4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1265408" y="146304"/>
            <a:ext cx="923331" cy="923331"/>
          </a:xfrm>
          <a:prstGeom prst="rect">
            <a:avLst/>
          </a:prstGeom>
        </p:spPr>
      </p:pic>
      <p:pic>
        <p:nvPicPr>
          <p:cNvPr id="4" name="Elemento visual" descr="image.png">
            <a:extLst>
              <a:ext uri="{FF2B5EF4-FFF2-40B4-BE49-F238E27FC236}">
                <a16:creationId xmlns:a16="http://schemas.microsoft.com/office/drawing/2014/main" id="{0630CB6D-D27A-AC6E-D249-E23B866589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181" y="5765614"/>
            <a:ext cx="923331" cy="923331"/>
          </a:xfrm>
          <a:prstGeom prst="rect">
            <a:avLst/>
          </a:prstGeom>
        </p:spPr>
      </p:pic>
      <p:pic>
        <p:nvPicPr>
          <p:cNvPr id="5" name="Elemento visual" descr="image.png">
            <a:extLst>
              <a:ext uri="{FF2B5EF4-FFF2-40B4-BE49-F238E27FC236}">
                <a16:creationId xmlns:a16="http://schemas.microsoft.com/office/drawing/2014/main" id="{1A893DA9-E6B9-6A65-6F0B-0204B6D898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0668" y="5948272"/>
            <a:ext cx="923331" cy="923331"/>
          </a:xfrm>
          <a:prstGeom prst="rect">
            <a:avLst/>
          </a:prstGeom>
        </p:spPr>
      </p:pic>
      <p:pic>
        <p:nvPicPr>
          <p:cNvPr id="6" name="Logo UniAnchieta" descr="image.png">
            <a:extLst>
              <a:ext uri="{FF2B5EF4-FFF2-40B4-BE49-F238E27FC236}">
                <a16:creationId xmlns:a16="http://schemas.microsoft.com/office/drawing/2014/main" id="{DFA1567D-5755-920B-B79C-BD755643F6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54" y="6051766"/>
            <a:ext cx="2308138" cy="7138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640617A-C42D-2771-B7CB-852F387D07A9}"/>
              </a:ext>
            </a:extLst>
          </p:cNvPr>
          <p:cNvSpPr txBox="1"/>
          <p:nvPr/>
        </p:nvSpPr>
        <p:spPr>
          <a:xfrm>
            <a:off x="548639" y="2593910"/>
            <a:ext cx="7158447" cy="349642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F8FE"/>
                </a:solidFill>
                <a:latin typeface="Montserrat"/>
              </a:rPr>
              <a:t>Logs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b="1" dirty="0">
              <a:solidFill>
                <a:srgbClr val="04F8FE"/>
              </a:solidFill>
              <a:latin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F8FE"/>
                </a:solidFill>
                <a:latin typeface="Montserrat"/>
              </a:rPr>
              <a:t>Métricas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b="1" dirty="0">
              <a:solidFill>
                <a:srgbClr val="04F8FE"/>
              </a:solidFill>
              <a:latin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F8FE"/>
                </a:solidFill>
                <a:latin typeface="Montserrat"/>
              </a:rPr>
              <a:t>Traces (Rastreamento)</a:t>
            </a:r>
          </a:p>
        </p:txBody>
      </p:sp>
      <p:pic>
        <p:nvPicPr>
          <p:cNvPr id="9" name="Imagem 2" descr="Faca em cima de uma superfície de madeira&#10;&#10;Descrição gerada automaticamente com confiança baixa">
            <a:extLst>
              <a:ext uri="{FF2B5EF4-FFF2-40B4-BE49-F238E27FC236}">
                <a16:creationId xmlns:a16="http://schemas.microsoft.com/office/drawing/2014/main" id="{FDCEF397-746B-038A-BF45-7C47441241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8437" y="2430462"/>
            <a:ext cx="3778044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8330017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BC2AAB-2D37-A03E-BB88-31C92B10F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>
            <a:extLst>
              <a:ext uri="{FF2B5EF4-FFF2-40B4-BE49-F238E27FC236}">
                <a16:creationId xmlns:a16="http://schemas.microsoft.com/office/drawing/2014/main" id="{AD84BC02-F534-0E5C-E706-42AF9E7AC43A}"/>
              </a:ext>
            </a:extLst>
          </p:cNvPr>
          <p:cNvSpPr txBox="1"/>
          <p:nvPr/>
        </p:nvSpPr>
        <p:spPr>
          <a:xfrm>
            <a:off x="548640" y="274320"/>
            <a:ext cx="10469880" cy="531925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r>
              <a:rPr lang="pt-BR" sz="2600" b="1" dirty="0" err="1">
                <a:solidFill>
                  <a:srgbClr val="FFFFFF"/>
                </a:solidFill>
                <a:latin typeface="Montserrat"/>
              </a:rPr>
              <a:t>Grafana</a:t>
            </a:r>
            <a:r>
              <a:rPr lang="pt-BR" sz="2600" b="1" dirty="0">
                <a:solidFill>
                  <a:srgbClr val="FFFFFF"/>
                </a:solidFill>
                <a:latin typeface="Montserrat"/>
              </a:rPr>
              <a:t>: uma visão geral</a:t>
            </a:r>
            <a:endParaRPr sz="2600" b="1" i="0" dirty="0">
              <a:solidFill>
                <a:srgbClr val="FFFFFF"/>
              </a:solidFill>
              <a:latin typeface="Montserrat"/>
            </a:endParaRPr>
          </a:p>
        </p:txBody>
      </p:sp>
      <p:pic>
        <p:nvPicPr>
          <p:cNvPr id="3" name="Elemento visual" descr="image.png">
            <a:extLst>
              <a:ext uri="{FF2B5EF4-FFF2-40B4-BE49-F238E27FC236}">
                <a16:creationId xmlns:a16="http://schemas.microsoft.com/office/drawing/2014/main" id="{73D9A1E1-133E-67D3-8E06-ECEBA751A7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1265408" y="146304"/>
            <a:ext cx="923331" cy="923331"/>
          </a:xfrm>
          <a:prstGeom prst="rect">
            <a:avLst/>
          </a:prstGeom>
        </p:spPr>
      </p:pic>
      <p:pic>
        <p:nvPicPr>
          <p:cNvPr id="4" name="Elemento visual" descr="image.png">
            <a:extLst>
              <a:ext uri="{FF2B5EF4-FFF2-40B4-BE49-F238E27FC236}">
                <a16:creationId xmlns:a16="http://schemas.microsoft.com/office/drawing/2014/main" id="{B25C1878-455A-73C0-9EEF-14C03AD604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181" y="5765614"/>
            <a:ext cx="923331" cy="923331"/>
          </a:xfrm>
          <a:prstGeom prst="rect">
            <a:avLst/>
          </a:prstGeom>
        </p:spPr>
      </p:pic>
      <p:pic>
        <p:nvPicPr>
          <p:cNvPr id="5" name="Elemento visual" descr="image.png">
            <a:extLst>
              <a:ext uri="{FF2B5EF4-FFF2-40B4-BE49-F238E27FC236}">
                <a16:creationId xmlns:a16="http://schemas.microsoft.com/office/drawing/2014/main" id="{8A9B6729-2B3B-29A1-2D6E-4B782513F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0668" y="5948272"/>
            <a:ext cx="923331" cy="923331"/>
          </a:xfrm>
          <a:prstGeom prst="rect">
            <a:avLst/>
          </a:prstGeom>
        </p:spPr>
      </p:pic>
      <p:pic>
        <p:nvPicPr>
          <p:cNvPr id="6" name="Logo UniAnchieta" descr="image.png">
            <a:extLst>
              <a:ext uri="{FF2B5EF4-FFF2-40B4-BE49-F238E27FC236}">
                <a16:creationId xmlns:a16="http://schemas.microsoft.com/office/drawing/2014/main" id="{5D62108E-6618-AA0C-32ED-55D9D5B436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54" y="6051766"/>
            <a:ext cx="2308138" cy="7138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FA58C97-6BDA-7EF7-E0A0-3334A53881BC}"/>
              </a:ext>
            </a:extLst>
          </p:cNvPr>
          <p:cNvSpPr txBox="1"/>
          <p:nvPr/>
        </p:nvSpPr>
        <p:spPr>
          <a:xfrm>
            <a:off x="548639" y="1576873"/>
            <a:ext cx="7158447" cy="447489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u="sng" dirty="0">
                <a:solidFill>
                  <a:srgbClr val="04F8FE"/>
                </a:solidFill>
                <a:latin typeface="Montserrat"/>
              </a:rPr>
              <a:t>Monitoramento</a:t>
            </a:r>
            <a:r>
              <a:rPr lang="pt-BR" sz="2400" b="1" dirty="0">
                <a:solidFill>
                  <a:srgbClr val="04F8FE"/>
                </a:solidFill>
                <a:latin typeface="Montserrat"/>
              </a:rPr>
              <a:t> e </a:t>
            </a:r>
            <a:r>
              <a:rPr lang="pt-BR" sz="2400" b="1" u="sng" dirty="0" err="1">
                <a:solidFill>
                  <a:srgbClr val="04F8FE"/>
                </a:solidFill>
                <a:latin typeface="Montserrat"/>
              </a:rPr>
              <a:t>observabilidade</a:t>
            </a:r>
            <a:r>
              <a:rPr lang="pt-BR" sz="2400" b="1" dirty="0">
                <a:solidFill>
                  <a:srgbClr val="04F8FE"/>
                </a:solidFill>
                <a:latin typeface="Montserrat"/>
              </a:rPr>
              <a:t> de aplicações e infraestrutura, com o uso em larga escala em </a:t>
            </a:r>
            <a:r>
              <a:rPr lang="pt-BR" sz="2400" b="1" u="sng" dirty="0">
                <a:solidFill>
                  <a:srgbClr val="04F8FE"/>
                </a:solidFill>
                <a:latin typeface="Montserrat"/>
              </a:rPr>
              <a:t>ambientes </a:t>
            </a:r>
            <a:r>
              <a:rPr lang="pt-BR" sz="2400" b="1" u="sng" dirty="0" err="1">
                <a:solidFill>
                  <a:srgbClr val="04F8FE"/>
                </a:solidFill>
                <a:latin typeface="Montserrat"/>
              </a:rPr>
              <a:t>Kubernetes</a:t>
            </a:r>
            <a:endParaRPr lang="pt-BR" sz="2400" b="1" u="sng" dirty="0">
              <a:solidFill>
                <a:srgbClr val="04F8FE"/>
              </a:solidFill>
              <a:latin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b="1" dirty="0">
              <a:solidFill>
                <a:srgbClr val="04F8FE"/>
              </a:solidFill>
              <a:latin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u="sng" dirty="0">
                <a:solidFill>
                  <a:srgbClr val="04F8FE"/>
                </a:solidFill>
                <a:latin typeface="Montserrat"/>
              </a:rPr>
              <a:t>Dashboards</a:t>
            </a:r>
            <a:r>
              <a:rPr lang="pt-BR" sz="2400" b="1" dirty="0">
                <a:solidFill>
                  <a:srgbClr val="04F8FE"/>
                </a:solidFill>
                <a:latin typeface="Montserrat"/>
              </a:rPr>
              <a:t> para visualização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b="1" dirty="0">
              <a:solidFill>
                <a:srgbClr val="04F8FE"/>
              </a:solidFill>
              <a:latin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u="sng" dirty="0">
                <a:solidFill>
                  <a:srgbClr val="04F8FE"/>
                </a:solidFill>
                <a:latin typeface="Montserrat"/>
              </a:rPr>
              <a:t>Alertas</a:t>
            </a:r>
            <a:r>
              <a:rPr lang="pt-BR" sz="2400" b="1" dirty="0">
                <a:solidFill>
                  <a:srgbClr val="04F8FE"/>
                </a:solidFill>
                <a:latin typeface="Montserrat"/>
              </a:rPr>
              <a:t> de monitoramento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b="1" dirty="0">
              <a:solidFill>
                <a:srgbClr val="04F8FE"/>
              </a:solidFill>
              <a:latin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F8FE"/>
                </a:solidFill>
                <a:latin typeface="Montserrat"/>
              </a:rPr>
              <a:t>Open </a:t>
            </a:r>
            <a:r>
              <a:rPr lang="pt-BR" sz="2400" b="1" dirty="0" err="1">
                <a:solidFill>
                  <a:srgbClr val="04F8FE"/>
                </a:solidFill>
                <a:latin typeface="Montserrat"/>
              </a:rPr>
              <a:t>source</a:t>
            </a:r>
            <a:endParaRPr lang="pt-BR" sz="2400" b="1" dirty="0">
              <a:solidFill>
                <a:srgbClr val="04F8FE"/>
              </a:solidFill>
              <a:latin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b="1" dirty="0">
              <a:solidFill>
                <a:srgbClr val="04F8FE"/>
              </a:solidFill>
              <a:latin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F8FE"/>
                </a:solidFill>
                <a:latin typeface="Montserrat"/>
              </a:rPr>
              <a:t>Site: </a:t>
            </a:r>
            <a:r>
              <a:rPr lang="pt-BR" sz="2400" b="1" u="sng" dirty="0">
                <a:solidFill>
                  <a:srgbClr val="04F8FE"/>
                </a:solidFill>
                <a:latin typeface="Montserrat"/>
              </a:rPr>
              <a:t>https://grafana.com/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BAD80263-C129-1312-FF9A-393DE3AAE2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09037" y="2063749"/>
            <a:ext cx="2757057" cy="286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95025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E89E4D-E390-7E5F-5197-D3C08737C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>
            <a:extLst>
              <a:ext uri="{FF2B5EF4-FFF2-40B4-BE49-F238E27FC236}">
                <a16:creationId xmlns:a16="http://schemas.microsoft.com/office/drawing/2014/main" id="{49898981-3BBA-0368-B4B1-3861304B3C55}"/>
              </a:ext>
            </a:extLst>
          </p:cNvPr>
          <p:cNvSpPr txBox="1"/>
          <p:nvPr/>
        </p:nvSpPr>
        <p:spPr>
          <a:xfrm>
            <a:off x="548640" y="274320"/>
            <a:ext cx="10469880" cy="531925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r>
              <a:rPr lang="pt-BR" sz="2600" b="1" dirty="0" err="1">
                <a:solidFill>
                  <a:srgbClr val="FFFFFF"/>
                </a:solidFill>
                <a:latin typeface="Montserrat"/>
              </a:rPr>
              <a:t>Grafana</a:t>
            </a:r>
            <a:r>
              <a:rPr lang="pt-BR" sz="2600" b="1" dirty="0">
                <a:solidFill>
                  <a:srgbClr val="FFFFFF"/>
                </a:solidFill>
                <a:latin typeface="Montserrat"/>
              </a:rPr>
              <a:t>: uma visão geral</a:t>
            </a:r>
            <a:endParaRPr sz="2600" b="1" i="0" dirty="0">
              <a:solidFill>
                <a:srgbClr val="FFFFFF"/>
              </a:solidFill>
              <a:latin typeface="Montserrat"/>
            </a:endParaRPr>
          </a:p>
        </p:txBody>
      </p:sp>
      <p:pic>
        <p:nvPicPr>
          <p:cNvPr id="3" name="Elemento visual" descr="image.png">
            <a:extLst>
              <a:ext uri="{FF2B5EF4-FFF2-40B4-BE49-F238E27FC236}">
                <a16:creationId xmlns:a16="http://schemas.microsoft.com/office/drawing/2014/main" id="{F17EAEE7-19E4-2DA4-1ED7-353E83D1FA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1265408" y="146304"/>
            <a:ext cx="923331" cy="923331"/>
          </a:xfrm>
          <a:prstGeom prst="rect">
            <a:avLst/>
          </a:prstGeom>
        </p:spPr>
      </p:pic>
      <p:pic>
        <p:nvPicPr>
          <p:cNvPr id="4" name="Elemento visual" descr="image.png">
            <a:extLst>
              <a:ext uri="{FF2B5EF4-FFF2-40B4-BE49-F238E27FC236}">
                <a16:creationId xmlns:a16="http://schemas.microsoft.com/office/drawing/2014/main" id="{768D8928-36E8-564A-3E87-62FDD7FB80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181" y="5765614"/>
            <a:ext cx="923331" cy="923331"/>
          </a:xfrm>
          <a:prstGeom prst="rect">
            <a:avLst/>
          </a:prstGeom>
        </p:spPr>
      </p:pic>
      <p:pic>
        <p:nvPicPr>
          <p:cNvPr id="5" name="Elemento visual" descr="image.png">
            <a:extLst>
              <a:ext uri="{FF2B5EF4-FFF2-40B4-BE49-F238E27FC236}">
                <a16:creationId xmlns:a16="http://schemas.microsoft.com/office/drawing/2014/main" id="{12B5D7D2-A445-9B13-B594-CAB59AD31B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0668" y="5948272"/>
            <a:ext cx="923331" cy="923331"/>
          </a:xfrm>
          <a:prstGeom prst="rect">
            <a:avLst/>
          </a:prstGeom>
        </p:spPr>
      </p:pic>
      <p:pic>
        <p:nvPicPr>
          <p:cNvPr id="6" name="Logo UniAnchieta" descr="image.png">
            <a:extLst>
              <a:ext uri="{FF2B5EF4-FFF2-40B4-BE49-F238E27FC236}">
                <a16:creationId xmlns:a16="http://schemas.microsoft.com/office/drawing/2014/main" id="{839DB205-96B3-D895-6F60-70DED0D551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54" y="6051766"/>
            <a:ext cx="2308138" cy="7138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D4A2AB1-2D43-DE40-D57B-15445D823CA5}"/>
              </a:ext>
            </a:extLst>
          </p:cNvPr>
          <p:cNvSpPr txBox="1"/>
          <p:nvPr/>
        </p:nvSpPr>
        <p:spPr>
          <a:xfrm>
            <a:off x="548639" y="1576873"/>
            <a:ext cx="7158447" cy="447489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F8FE"/>
                </a:solidFill>
                <a:latin typeface="Montserrat"/>
              </a:rPr>
              <a:t>Flexibilidade, com suporte a diferentes tecnologias/fontes de dados (</a:t>
            </a:r>
            <a:r>
              <a:rPr lang="pt-BR" sz="2400" b="1" u="sng" dirty="0">
                <a:solidFill>
                  <a:srgbClr val="04F8FE"/>
                </a:solidFill>
                <a:latin typeface="Montserrat"/>
              </a:rPr>
              <a:t>Data </a:t>
            </a:r>
            <a:r>
              <a:rPr lang="pt-BR" sz="2400" b="1" u="sng" dirty="0" err="1">
                <a:solidFill>
                  <a:srgbClr val="04F8FE"/>
                </a:solidFill>
                <a:latin typeface="Montserrat"/>
              </a:rPr>
              <a:t>Sources</a:t>
            </a:r>
            <a:r>
              <a:rPr lang="pt-BR" sz="2400" b="1" dirty="0">
                <a:solidFill>
                  <a:srgbClr val="04F8FE"/>
                </a:solidFill>
                <a:latin typeface="Montserrat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b="1" dirty="0">
              <a:solidFill>
                <a:srgbClr val="04F8FE"/>
              </a:solidFill>
              <a:latin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F8FE"/>
                </a:solidFill>
                <a:latin typeface="Montserrat"/>
              </a:rPr>
              <a:t>Exemplos de possíveis Data </a:t>
            </a:r>
            <a:r>
              <a:rPr lang="pt-BR" sz="2400" b="1" dirty="0" err="1">
                <a:solidFill>
                  <a:srgbClr val="04F8FE"/>
                </a:solidFill>
                <a:latin typeface="Montserrat"/>
              </a:rPr>
              <a:t>Sources</a:t>
            </a:r>
            <a:r>
              <a:rPr lang="pt-BR" sz="2400" b="1" dirty="0">
                <a:solidFill>
                  <a:srgbClr val="04F8FE"/>
                </a:solidFill>
                <a:latin typeface="Montserrat"/>
              </a:rPr>
              <a:t>: Azure Monitor, </a:t>
            </a:r>
            <a:r>
              <a:rPr lang="pt-BR" sz="2400" b="1" dirty="0" err="1">
                <a:solidFill>
                  <a:srgbClr val="04F8FE"/>
                </a:solidFill>
                <a:latin typeface="Montserrat"/>
              </a:rPr>
              <a:t>Prometheus</a:t>
            </a:r>
            <a:r>
              <a:rPr lang="pt-BR" sz="2400" b="1" dirty="0">
                <a:solidFill>
                  <a:srgbClr val="04F8FE"/>
                </a:solidFill>
                <a:latin typeface="Montserrat"/>
              </a:rPr>
              <a:t>, AWS </a:t>
            </a:r>
            <a:r>
              <a:rPr lang="pt-BR" sz="2400" b="1" dirty="0" err="1">
                <a:solidFill>
                  <a:srgbClr val="04F8FE"/>
                </a:solidFill>
                <a:latin typeface="Montserrat"/>
              </a:rPr>
              <a:t>CloudWatch</a:t>
            </a:r>
            <a:r>
              <a:rPr lang="pt-BR" sz="2400" b="1" dirty="0">
                <a:solidFill>
                  <a:srgbClr val="04F8FE"/>
                </a:solidFill>
                <a:latin typeface="Montserrat"/>
              </a:rPr>
              <a:t>, SQL Server, PostgreSQL, Oracle...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D0E90FB7-2699-F0D1-E9BC-B6A0A04CD9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09037" y="2063749"/>
            <a:ext cx="2757057" cy="286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58162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A0D8F4-FA1B-45A9-E0F4-7D937438F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>
            <a:extLst>
              <a:ext uri="{FF2B5EF4-FFF2-40B4-BE49-F238E27FC236}">
                <a16:creationId xmlns:a16="http://schemas.microsoft.com/office/drawing/2014/main" id="{C767243D-1F57-6AF7-8AE0-2AB66EC004BE}"/>
              </a:ext>
            </a:extLst>
          </p:cNvPr>
          <p:cNvSpPr txBox="1"/>
          <p:nvPr/>
        </p:nvSpPr>
        <p:spPr>
          <a:xfrm>
            <a:off x="548640" y="274320"/>
            <a:ext cx="10469880" cy="531925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r>
              <a:rPr lang="pt-BR" sz="2600" b="1" dirty="0" err="1">
                <a:solidFill>
                  <a:srgbClr val="FFFFFF"/>
                </a:solidFill>
                <a:latin typeface="Montserrat"/>
              </a:rPr>
              <a:t>Grafana</a:t>
            </a:r>
            <a:r>
              <a:rPr lang="pt-BR" sz="2600" b="1" dirty="0">
                <a:solidFill>
                  <a:srgbClr val="FFFFFF"/>
                </a:solidFill>
                <a:latin typeface="Montserrat"/>
              </a:rPr>
              <a:t>: uma visão geral</a:t>
            </a:r>
            <a:endParaRPr sz="2600" b="1" i="0" dirty="0">
              <a:solidFill>
                <a:srgbClr val="FFFFFF"/>
              </a:solidFill>
              <a:latin typeface="Montserrat"/>
            </a:endParaRPr>
          </a:p>
        </p:txBody>
      </p:sp>
      <p:pic>
        <p:nvPicPr>
          <p:cNvPr id="3" name="Elemento visual" descr="image.png">
            <a:extLst>
              <a:ext uri="{FF2B5EF4-FFF2-40B4-BE49-F238E27FC236}">
                <a16:creationId xmlns:a16="http://schemas.microsoft.com/office/drawing/2014/main" id="{9ED6F964-A0FB-7AA4-11C5-9D51A77DCD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1265408" y="146304"/>
            <a:ext cx="923331" cy="923331"/>
          </a:xfrm>
          <a:prstGeom prst="rect">
            <a:avLst/>
          </a:prstGeom>
        </p:spPr>
      </p:pic>
      <p:pic>
        <p:nvPicPr>
          <p:cNvPr id="4" name="Elemento visual" descr="image.png">
            <a:extLst>
              <a:ext uri="{FF2B5EF4-FFF2-40B4-BE49-F238E27FC236}">
                <a16:creationId xmlns:a16="http://schemas.microsoft.com/office/drawing/2014/main" id="{8192BC7F-9464-6D33-AF80-4607FB5B86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181" y="5765614"/>
            <a:ext cx="923331" cy="923331"/>
          </a:xfrm>
          <a:prstGeom prst="rect">
            <a:avLst/>
          </a:prstGeom>
        </p:spPr>
      </p:pic>
      <p:pic>
        <p:nvPicPr>
          <p:cNvPr id="5" name="Elemento visual" descr="image.png">
            <a:extLst>
              <a:ext uri="{FF2B5EF4-FFF2-40B4-BE49-F238E27FC236}">
                <a16:creationId xmlns:a16="http://schemas.microsoft.com/office/drawing/2014/main" id="{86F491B7-9DF0-A78F-4CA7-4B9D0D1676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0668" y="5948272"/>
            <a:ext cx="923331" cy="923331"/>
          </a:xfrm>
          <a:prstGeom prst="rect">
            <a:avLst/>
          </a:prstGeom>
        </p:spPr>
      </p:pic>
      <p:pic>
        <p:nvPicPr>
          <p:cNvPr id="6" name="Logo UniAnchieta" descr="image.png">
            <a:extLst>
              <a:ext uri="{FF2B5EF4-FFF2-40B4-BE49-F238E27FC236}">
                <a16:creationId xmlns:a16="http://schemas.microsoft.com/office/drawing/2014/main" id="{09E9AC3F-B426-0884-E199-63DE28E6BE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54" y="6051766"/>
            <a:ext cx="2308138" cy="7138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6ABCA0D-B1FC-DF74-5013-05C91EFFB822}"/>
              </a:ext>
            </a:extLst>
          </p:cNvPr>
          <p:cNvSpPr txBox="1"/>
          <p:nvPr/>
        </p:nvSpPr>
        <p:spPr>
          <a:xfrm>
            <a:off x="548639" y="2211355"/>
            <a:ext cx="7158447" cy="384041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u="sng" dirty="0">
                <a:solidFill>
                  <a:srgbClr val="04F8FE"/>
                </a:solidFill>
                <a:latin typeface="Montserrat"/>
              </a:rPr>
              <a:t>Visualização unificada</a:t>
            </a:r>
            <a:r>
              <a:rPr lang="pt-BR" sz="2400" b="1" dirty="0">
                <a:solidFill>
                  <a:srgbClr val="04F8FE"/>
                </a:solidFill>
                <a:latin typeface="Montserrat"/>
              </a:rPr>
              <a:t> de múltiplas fontes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b="1" dirty="0">
              <a:solidFill>
                <a:srgbClr val="04F8FE"/>
              </a:solidFill>
              <a:latin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F8FE"/>
                </a:solidFill>
                <a:latin typeface="Montserrat"/>
              </a:rPr>
              <a:t>Centenas de </a:t>
            </a:r>
            <a:r>
              <a:rPr lang="pt-BR" sz="2400" b="1" u="sng" dirty="0">
                <a:solidFill>
                  <a:srgbClr val="04F8FE"/>
                </a:solidFill>
                <a:latin typeface="Montserrat"/>
              </a:rPr>
              <a:t>dashboards pré-definidos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b="1" dirty="0">
              <a:solidFill>
                <a:srgbClr val="04F8FE"/>
              </a:solidFill>
              <a:latin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u="sng" dirty="0">
                <a:solidFill>
                  <a:srgbClr val="04F8FE"/>
                </a:solidFill>
                <a:latin typeface="Montserrat"/>
              </a:rPr>
              <a:t>Customização de dashboards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2D8F68E4-E7A5-254C-D7F2-E32C47F034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09037" y="2063749"/>
            <a:ext cx="2757057" cy="286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61677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1F5451-3726-F77E-8C60-77B7978D5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>
            <a:extLst>
              <a:ext uri="{FF2B5EF4-FFF2-40B4-BE49-F238E27FC236}">
                <a16:creationId xmlns:a16="http://schemas.microsoft.com/office/drawing/2014/main" id="{690DD217-7F73-DDDE-F61E-E2E5A0B6B468}"/>
              </a:ext>
            </a:extLst>
          </p:cNvPr>
          <p:cNvSpPr txBox="1"/>
          <p:nvPr/>
        </p:nvSpPr>
        <p:spPr>
          <a:xfrm>
            <a:off x="548640" y="274320"/>
            <a:ext cx="10469880" cy="531925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r>
              <a:rPr lang="pt-BR" sz="2600" b="1" dirty="0" err="1">
                <a:solidFill>
                  <a:srgbClr val="FFFFFF"/>
                </a:solidFill>
                <a:latin typeface="Montserrat"/>
              </a:rPr>
              <a:t>Grafana</a:t>
            </a:r>
            <a:r>
              <a:rPr lang="pt-BR" sz="2600" b="1" dirty="0">
                <a:solidFill>
                  <a:srgbClr val="FFFFFF"/>
                </a:solidFill>
                <a:latin typeface="Montserrat"/>
              </a:rPr>
              <a:t>: uma visão geral</a:t>
            </a:r>
            <a:endParaRPr sz="2600" b="1" i="0" dirty="0">
              <a:solidFill>
                <a:srgbClr val="FFFFFF"/>
              </a:solidFill>
              <a:latin typeface="Montserrat"/>
            </a:endParaRPr>
          </a:p>
        </p:txBody>
      </p:sp>
      <p:pic>
        <p:nvPicPr>
          <p:cNvPr id="3" name="Elemento visual" descr="image.png">
            <a:extLst>
              <a:ext uri="{FF2B5EF4-FFF2-40B4-BE49-F238E27FC236}">
                <a16:creationId xmlns:a16="http://schemas.microsoft.com/office/drawing/2014/main" id="{DD7405E2-B179-9626-50B6-470C84E041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1265408" y="146304"/>
            <a:ext cx="923331" cy="923331"/>
          </a:xfrm>
          <a:prstGeom prst="rect">
            <a:avLst/>
          </a:prstGeom>
        </p:spPr>
      </p:pic>
      <p:pic>
        <p:nvPicPr>
          <p:cNvPr id="4" name="Elemento visual" descr="image.png">
            <a:extLst>
              <a:ext uri="{FF2B5EF4-FFF2-40B4-BE49-F238E27FC236}">
                <a16:creationId xmlns:a16="http://schemas.microsoft.com/office/drawing/2014/main" id="{F2E1274A-61CC-92A4-631E-DCC260FD8B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181" y="5765614"/>
            <a:ext cx="923331" cy="923331"/>
          </a:xfrm>
          <a:prstGeom prst="rect">
            <a:avLst/>
          </a:prstGeom>
        </p:spPr>
      </p:pic>
      <p:pic>
        <p:nvPicPr>
          <p:cNvPr id="5" name="Elemento visual" descr="image.png">
            <a:extLst>
              <a:ext uri="{FF2B5EF4-FFF2-40B4-BE49-F238E27FC236}">
                <a16:creationId xmlns:a16="http://schemas.microsoft.com/office/drawing/2014/main" id="{94210596-AD9E-6D87-C3DF-5DA0F0E24E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0668" y="5948272"/>
            <a:ext cx="923331" cy="923331"/>
          </a:xfrm>
          <a:prstGeom prst="rect">
            <a:avLst/>
          </a:prstGeom>
        </p:spPr>
      </p:pic>
      <p:pic>
        <p:nvPicPr>
          <p:cNvPr id="6" name="Logo UniAnchieta" descr="image.png">
            <a:extLst>
              <a:ext uri="{FF2B5EF4-FFF2-40B4-BE49-F238E27FC236}">
                <a16:creationId xmlns:a16="http://schemas.microsoft.com/office/drawing/2014/main" id="{22A67268-48A9-5875-849A-A2DB446B57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54" y="6051766"/>
            <a:ext cx="2308138" cy="7138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91AD502-921C-4CAA-90EF-D293171A84F6}"/>
              </a:ext>
            </a:extLst>
          </p:cNvPr>
          <p:cNvSpPr txBox="1"/>
          <p:nvPr/>
        </p:nvSpPr>
        <p:spPr>
          <a:xfrm>
            <a:off x="548639" y="1576873"/>
            <a:ext cx="7158447" cy="447489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u="sng" dirty="0">
                <a:solidFill>
                  <a:srgbClr val="04F8FE"/>
                </a:solidFill>
                <a:latin typeface="Montserrat"/>
              </a:rPr>
              <a:t>Facilidade de uso</a:t>
            </a:r>
            <a:r>
              <a:rPr lang="pt-BR" sz="2400" b="1" dirty="0">
                <a:solidFill>
                  <a:srgbClr val="04F8FE"/>
                </a:solidFill>
                <a:latin typeface="Montserrat"/>
              </a:rPr>
              <a:t>, com uma interface intuitiva e amigável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b="1" dirty="0">
              <a:solidFill>
                <a:srgbClr val="04F8FE"/>
              </a:solidFill>
              <a:latin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F8FE"/>
                </a:solidFill>
                <a:latin typeface="Montserrat"/>
              </a:rPr>
              <a:t>Principal componente de todo um </a:t>
            </a:r>
            <a:r>
              <a:rPr lang="pt-BR" sz="2400" b="1" u="sng" dirty="0">
                <a:solidFill>
                  <a:srgbClr val="04F8FE"/>
                </a:solidFill>
                <a:latin typeface="Montserrat"/>
              </a:rPr>
              <a:t>ecossistema de </a:t>
            </a:r>
            <a:r>
              <a:rPr lang="pt-BR" sz="2400" b="1" u="sng" dirty="0" err="1">
                <a:solidFill>
                  <a:srgbClr val="04F8FE"/>
                </a:solidFill>
                <a:latin typeface="Montserrat"/>
              </a:rPr>
              <a:t>observabilidade</a:t>
            </a:r>
            <a:r>
              <a:rPr lang="pt-BR" sz="2400" b="1" u="sng" dirty="0">
                <a:solidFill>
                  <a:srgbClr val="04F8FE"/>
                </a:solidFill>
                <a:latin typeface="Montserrat"/>
              </a:rPr>
              <a:t> e monitoramento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b="1" dirty="0">
              <a:solidFill>
                <a:srgbClr val="04F8FE"/>
              </a:solidFill>
              <a:latin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F8FE"/>
                </a:solidFill>
                <a:latin typeface="Montserrat"/>
              </a:rPr>
              <a:t>Oferecido como serviço por </a:t>
            </a:r>
            <a:r>
              <a:rPr lang="pt-BR" sz="2400" b="1" u="sng" dirty="0">
                <a:solidFill>
                  <a:srgbClr val="04F8FE"/>
                </a:solidFill>
                <a:latin typeface="Montserrat"/>
              </a:rPr>
              <a:t>cloud </a:t>
            </a:r>
            <a:r>
              <a:rPr lang="pt-BR" sz="2400" b="1" u="sng" dirty="0" err="1">
                <a:solidFill>
                  <a:srgbClr val="04F8FE"/>
                </a:solidFill>
                <a:latin typeface="Montserrat"/>
              </a:rPr>
              <a:t>providers</a:t>
            </a:r>
            <a:r>
              <a:rPr lang="pt-BR" sz="2400" b="1" dirty="0">
                <a:solidFill>
                  <a:srgbClr val="04F8FE"/>
                </a:solidFill>
                <a:latin typeface="Montserrat"/>
              </a:rPr>
              <a:t> (</a:t>
            </a:r>
            <a:r>
              <a:rPr lang="pt-BR" sz="2400" b="1" u="sng" dirty="0" err="1">
                <a:solidFill>
                  <a:srgbClr val="04F8FE"/>
                </a:solidFill>
                <a:latin typeface="Montserrat"/>
              </a:rPr>
              <a:t>Grafana</a:t>
            </a:r>
            <a:r>
              <a:rPr lang="pt-BR" sz="2400" b="1" u="sng" dirty="0">
                <a:solidFill>
                  <a:srgbClr val="04F8FE"/>
                </a:solidFill>
                <a:latin typeface="Montserrat"/>
              </a:rPr>
              <a:t> Cloud, Azure </a:t>
            </a:r>
            <a:r>
              <a:rPr lang="pt-BR" sz="2400" b="1" u="sng" dirty="0" err="1">
                <a:solidFill>
                  <a:srgbClr val="04F8FE"/>
                </a:solidFill>
                <a:latin typeface="Montserrat"/>
              </a:rPr>
              <a:t>Managed</a:t>
            </a:r>
            <a:r>
              <a:rPr lang="pt-BR" sz="2400" b="1" u="sng" dirty="0">
                <a:solidFill>
                  <a:srgbClr val="04F8FE"/>
                </a:solidFill>
                <a:latin typeface="Montserrat"/>
              </a:rPr>
              <a:t> </a:t>
            </a:r>
            <a:r>
              <a:rPr lang="pt-BR" sz="2400" b="1" u="sng" dirty="0" err="1">
                <a:solidFill>
                  <a:srgbClr val="04F8FE"/>
                </a:solidFill>
                <a:latin typeface="Montserrat"/>
              </a:rPr>
              <a:t>Grafana</a:t>
            </a:r>
            <a:r>
              <a:rPr lang="pt-BR" sz="2400" b="1" dirty="0">
                <a:solidFill>
                  <a:srgbClr val="04F8FE"/>
                </a:solidFill>
                <a:latin typeface="Montserrat"/>
              </a:rPr>
              <a:t>)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0A2C854A-5B43-A794-DF4C-5BE1B520FC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09037" y="2063749"/>
            <a:ext cx="2757057" cy="286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37150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6303E2-01D1-2969-2E02-6118FA784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>
            <a:extLst>
              <a:ext uri="{FF2B5EF4-FFF2-40B4-BE49-F238E27FC236}">
                <a16:creationId xmlns:a16="http://schemas.microsoft.com/office/drawing/2014/main" id="{31BF3424-28E4-0F19-3801-B90EC53FB352}"/>
              </a:ext>
            </a:extLst>
          </p:cNvPr>
          <p:cNvSpPr txBox="1"/>
          <p:nvPr/>
        </p:nvSpPr>
        <p:spPr>
          <a:xfrm>
            <a:off x="548640" y="274320"/>
            <a:ext cx="10469880" cy="531925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r>
              <a:rPr lang="pt-BR" sz="2600" b="1" dirty="0" err="1">
                <a:solidFill>
                  <a:srgbClr val="FFFFFF"/>
                </a:solidFill>
                <a:latin typeface="Montserrat"/>
              </a:rPr>
              <a:t>Prometheus</a:t>
            </a:r>
            <a:r>
              <a:rPr lang="pt-BR" sz="2600" b="1" dirty="0">
                <a:solidFill>
                  <a:srgbClr val="FFFFFF"/>
                </a:solidFill>
                <a:latin typeface="Montserrat"/>
              </a:rPr>
              <a:t>: uma visão geral</a:t>
            </a:r>
            <a:endParaRPr sz="2600" b="1" i="0" dirty="0">
              <a:solidFill>
                <a:srgbClr val="FFFFFF"/>
              </a:solidFill>
              <a:latin typeface="Montserrat"/>
            </a:endParaRPr>
          </a:p>
        </p:txBody>
      </p:sp>
      <p:pic>
        <p:nvPicPr>
          <p:cNvPr id="3" name="Elemento visual" descr="image.png">
            <a:extLst>
              <a:ext uri="{FF2B5EF4-FFF2-40B4-BE49-F238E27FC236}">
                <a16:creationId xmlns:a16="http://schemas.microsoft.com/office/drawing/2014/main" id="{4DADB96A-0312-61FF-A1CD-8020960B6C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1265408" y="146304"/>
            <a:ext cx="923331" cy="923331"/>
          </a:xfrm>
          <a:prstGeom prst="rect">
            <a:avLst/>
          </a:prstGeom>
        </p:spPr>
      </p:pic>
      <p:pic>
        <p:nvPicPr>
          <p:cNvPr id="4" name="Elemento visual" descr="image.png">
            <a:extLst>
              <a:ext uri="{FF2B5EF4-FFF2-40B4-BE49-F238E27FC236}">
                <a16:creationId xmlns:a16="http://schemas.microsoft.com/office/drawing/2014/main" id="{4BC62508-D09C-7404-68C1-BD5F190017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5181" y="5765614"/>
            <a:ext cx="923331" cy="923331"/>
          </a:xfrm>
          <a:prstGeom prst="rect">
            <a:avLst/>
          </a:prstGeom>
        </p:spPr>
      </p:pic>
      <p:pic>
        <p:nvPicPr>
          <p:cNvPr id="5" name="Elemento visual" descr="image.png">
            <a:extLst>
              <a:ext uri="{FF2B5EF4-FFF2-40B4-BE49-F238E27FC236}">
                <a16:creationId xmlns:a16="http://schemas.microsoft.com/office/drawing/2014/main" id="{460EBFD0-0E86-002F-C705-38C10A1096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0668" y="5948272"/>
            <a:ext cx="923331" cy="923331"/>
          </a:xfrm>
          <a:prstGeom prst="rect">
            <a:avLst/>
          </a:prstGeom>
        </p:spPr>
      </p:pic>
      <p:pic>
        <p:nvPicPr>
          <p:cNvPr id="6" name="Logo UniAnchieta" descr="image.png">
            <a:extLst>
              <a:ext uri="{FF2B5EF4-FFF2-40B4-BE49-F238E27FC236}">
                <a16:creationId xmlns:a16="http://schemas.microsoft.com/office/drawing/2014/main" id="{CDE3C00C-FAF2-963F-8D78-9E10C6C813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654" y="6051766"/>
            <a:ext cx="2308138" cy="7138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0725EC2-926E-C521-BAE0-B77375B376AF}"/>
              </a:ext>
            </a:extLst>
          </p:cNvPr>
          <p:cNvSpPr txBox="1"/>
          <p:nvPr/>
        </p:nvSpPr>
        <p:spPr>
          <a:xfrm>
            <a:off x="548639" y="1576873"/>
            <a:ext cx="7158447" cy="447489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F8FE"/>
                </a:solidFill>
                <a:latin typeface="Montserrat"/>
              </a:rPr>
              <a:t>Solução para coleta, armazenamento e consulta de métricas de monitoramento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b="1" dirty="0">
              <a:solidFill>
                <a:srgbClr val="04F8FE"/>
              </a:solidFill>
              <a:latin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F8FE"/>
                </a:solidFill>
                <a:latin typeface="Montserrat"/>
              </a:rPr>
              <a:t>Open </a:t>
            </a:r>
            <a:r>
              <a:rPr lang="pt-BR" sz="2400" b="1" dirty="0" err="1">
                <a:solidFill>
                  <a:srgbClr val="04F8FE"/>
                </a:solidFill>
                <a:latin typeface="Montserrat"/>
              </a:rPr>
              <a:t>source</a:t>
            </a:r>
            <a:endParaRPr lang="pt-BR" sz="2400" b="1" dirty="0">
              <a:solidFill>
                <a:srgbClr val="04F8FE"/>
              </a:solidFill>
              <a:latin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b="1" dirty="0">
              <a:solidFill>
                <a:srgbClr val="04F8FE"/>
              </a:solidFill>
              <a:latin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F8FE"/>
                </a:solidFill>
                <a:latin typeface="Montserrat"/>
              </a:rPr>
              <a:t>A combinação </a:t>
            </a:r>
            <a:r>
              <a:rPr lang="pt-BR" sz="2400" b="1" u="sng" dirty="0" err="1">
                <a:solidFill>
                  <a:srgbClr val="04F8FE"/>
                </a:solidFill>
                <a:latin typeface="Montserrat"/>
              </a:rPr>
              <a:t>Prometheus</a:t>
            </a:r>
            <a:r>
              <a:rPr lang="pt-BR" sz="2400" b="1" u="sng" dirty="0">
                <a:solidFill>
                  <a:srgbClr val="04F8FE"/>
                </a:solidFill>
                <a:latin typeface="Montserrat"/>
              </a:rPr>
              <a:t> + </a:t>
            </a:r>
            <a:r>
              <a:rPr lang="pt-BR" sz="2400" b="1" u="sng" dirty="0" err="1">
                <a:solidFill>
                  <a:srgbClr val="04F8FE"/>
                </a:solidFill>
                <a:latin typeface="Montserrat"/>
              </a:rPr>
              <a:t>Grafana</a:t>
            </a:r>
            <a:r>
              <a:rPr lang="pt-BR" sz="2400" b="1" dirty="0">
                <a:solidFill>
                  <a:srgbClr val="04F8FE"/>
                </a:solidFill>
                <a:latin typeface="Montserrat"/>
              </a:rPr>
              <a:t> é uma presença praticamente certa em </a:t>
            </a:r>
            <a:r>
              <a:rPr lang="pt-BR" sz="2400" b="1" u="sng" dirty="0">
                <a:solidFill>
                  <a:srgbClr val="04F8FE"/>
                </a:solidFill>
                <a:latin typeface="Montserrat"/>
              </a:rPr>
              <a:t>ambientes </a:t>
            </a:r>
            <a:r>
              <a:rPr lang="pt-BR" sz="2400" b="1" u="sng" dirty="0" err="1">
                <a:solidFill>
                  <a:srgbClr val="04F8FE"/>
                </a:solidFill>
                <a:latin typeface="Montserrat"/>
              </a:rPr>
              <a:t>Kubernetes</a:t>
            </a:r>
            <a:r>
              <a:rPr lang="pt-BR" sz="2400" b="1" u="sng" dirty="0">
                <a:solidFill>
                  <a:srgbClr val="04F8FE"/>
                </a:solidFill>
                <a:latin typeface="Montserrat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b="1" dirty="0">
              <a:solidFill>
                <a:srgbClr val="04F8FE"/>
              </a:solidFill>
              <a:latin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F8FE"/>
                </a:solidFill>
                <a:latin typeface="Montserrat"/>
              </a:rPr>
              <a:t>Site: </a:t>
            </a:r>
            <a:r>
              <a:rPr lang="pt-BR" sz="2400" b="1" u="sng" dirty="0">
                <a:solidFill>
                  <a:srgbClr val="04F8FE"/>
                </a:solidFill>
                <a:latin typeface="Montserrat"/>
              </a:rPr>
              <a:t>https://prometheus.io/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82D87388-01F9-5CF8-F039-D51F138364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83916" y="2029814"/>
            <a:ext cx="2688323" cy="2651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41274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21CDDC-5BA6-5D01-8662-FDD716ED4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>
            <a:extLst>
              <a:ext uri="{FF2B5EF4-FFF2-40B4-BE49-F238E27FC236}">
                <a16:creationId xmlns:a16="http://schemas.microsoft.com/office/drawing/2014/main" id="{40BB2184-722B-97A3-8FAE-F26D273BE5D2}"/>
              </a:ext>
            </a:extLst>
          </p:cNvPr>
          <p:cNvSpPr txBox="1"/>
          <p:nvPr/>
        </p:nvSpPr>
        <p:spPr>
          <a:xfrm>
            <a:off x="548640" y="274320"/>
            <a:ext cx="10469880" cy="531925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r>
              <a:rPr lang="pt-BR" sz="2600" b="1" dirty="0">
                <a:solidFill>
                  <a:srgbClr val="FFFFFF"/>
                </a:solidFill>
                <a:latin typeface="Montserrat"/>
              </a:rPr>
              <a:t>Treinamentos Gratuitos </a:t>
            </a:r>
            <a:r>
              <a:rPr lang="pt-BR" sz="2600" b="1" dirty="0" err="1">
                <a:solidFill>
                  <a:srgbClr val="FFFFFF"/>
                </a:solidFill>
                <a:latin typeface="Montserrat"/>
              </a:rPr>
              <a:t>Grafana</a:t>
            </a:r>
            <a:endParaRPr sz="2600" b="1" i="0" dirty="0">
              <a:solidFill>
                <a:srgbClr val="FFFFFF"/>
              </a:solidFill>
              <a:latin typeface="Montserrat"/>
            </a:endParaRPr>
          </a:p>
        </p:txBody>
      </p:sp>
      <p:pic>
        <p:nvPicPr>
          <p:cNvPr id="3" name="Elemento visual" descr="image.png">
            <a:extLst>
              <a:ext uri="{FF2B5EF4-FFF2-40B4-BE49-F238E27FC236}">
                <a16:creationId xmlns:a16="http://schemas.microsoft.com/office/drawing/2014/main" id="{06A1D24C-D62F-3C49-72EA-A6C783EA03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1265408" y="146304"/>
            <a:ext cx="923331" cy="923331"/>
          </a:xfrm>
          <a:prstGeom prst="rect">
            <a:avLst/>
          </a:prstGeom>
        </p:spPr>
      </p:pic>
      <p:pic>
        <p:nvPicPr>
          <p:cNvPr id="4" name="Elemento visual" descr="image.png">
            <a:extLst>
              <a:ext uri="{FF2B5EF4-FFF2-40B4-BE49-F238E27FC236}">
                <a16:creationId xmlns:a16="http://schemas.microsoft.com/office/drawing/2014/main" id="{7E3956E1-B940-D920-1478-444B17BE07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5181" y="5765614"/>
            <a:ext cx="923331" cy="923331"/>
          </a:xfrm>
          <a:prstGeom prst="rect">
            <a:avLst/>
          </a:prstGeom>
        </p:spPr>
      </p:pic>
      <p:pic>
        <p:nvPicPr>
          <p:cNvPr id="5" name="Elemento visual" descr="image.png">
            <a:extLst>
              <a:ext uri="{FF2B5EF4-FFF2-40B4-BE49-F238E27FC236}">
                <a16:creationId xmlns:a16="http://schemas.microsoft.com/office/drawing/2014/main" id="{7403C29F-8C5C-F0C1-217B-2F6767894A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0668" y="5948272"/>
            <a:ext cx="923331" cy="923331"/>
          </a:xfrm>
          <a:prstGeom prst="rect">
            <a:avLst/>
          </a:prstGeom>
        </p:spPr>
      </p:pic>
      <p:pic>
        <p:nvPicPr>
          <p:cNvPr id="6" name="Logo UniAnchieta" descr="image.png">
            <a:extLst>
              <a:ext uri="{FF2B5EF4-FFF2-40B4-BE49-F238E27FC236}">
                <a16:creationId xmlns:a16="http://schemas.microsoft.com/office/drawing/2014/main" id="{EF7769E5-52EA-5161-6DDF-577F35E6E1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654" y="6051766"/>
            <a:ext cx="2308138" cy="713858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DDC17F9C-A805-A02E-F97D-68D92186963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6298"/>
          <a:stretch>
            <a:fillRect/>
          </a:stretch>
        </p:blipFill>
        <p:spPr>
          <a:xfrm>
            <a:off x="1722437" y="1180331"/>
            <a:ext cx="8387455" cy="4767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03344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87EA97-5601-1CF8-973B-A1EAED6B4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>
            <a:extLst>
              <a:ext uri="{FF2B5EF4-FFF2-40B4-BE49-F238E27FC236}">
                <a16:creationId xmlns:a16="http://schemas.microsoft.com/office/drawing/2014/main" id="{45F1F11F-09C3-E17E-9866-2356BF59B8E2}"/>
              </a:ext>
            </a:extLst>
          </p:cNvPr>
          <p:cNvSpPr txBox="1"/>
          <p:nvPr/>
        </p:nvSpPr>
        <p:spPr>
          <a:xfrm>
            <a:off x="548640" y="274320"/>
            <a:ext cx="10469880" cy="531925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r>
              <a:rPr lang="pt-BR" sz="2600" b="1" dirty="0">
                <a:solidFill>
                  <a:srgbClr val="FFFFFF"/>
                </a:solidFill>
                <a:latin typeface="Montserrat"/>
              </a:rPr>
              <a:t>Um exemplo simples com </a:t>
            </a:r>
            <a:r>
              <a:rPr lang="pt-BR" sz="2600" b="1" dirty="0" err="1">
                <a:solidFill>
                  <a:srgbClr val="FFFFFF"/>
                </a:solidFill>
                <a:latin typeface="Montserrat"/>
              </a:rPr>
              <a:t>Grafana</a:t>
            </a:r>
            <a:endParaRPr sz="2600" b="1" i="0" dirty="0">
              <a:solidFill>
                <a:srgbClr val="FFFFFF"/>
              </a:solidFill>
              <a:latin typeface="Montserrat"/>
            </a:endParaRPr>
          </a:p>
        </p:txBody>
      </p:sp>
      <p:pic>
        <p:nvPicPr>
          <p:cNvPr id="3" name="Elemento visual" descr="image.png">
            <a:extLst>
              <a:ext uri="{FF2B5EF4-FFF2-40B4-BE49-F238E27FC236}">
                <a16:creationId xmlns:a16="http://schemas.microsoft.com/office/drawing/2014/main" id="{AB320509-D988-D185-3DEC-C936D6B3C7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1265408" y="146304"/>
            <a:ext cx="923331" cy="923331"/>
          </a:xfrm>
          <a:prstGeom prst="rect">
            <a:avLst/>
          </a:prstGeom>
        </p:spPr>
      </p:pic>
      <p:pic>
        <p:nvPicPr>
          <p:cNvPr id="4" name="Elemento visual" descr="image.png">
            <a:extLst>
              <a:ext uri="{FF2B5EF4-FFF2-40B4-BE49-F238E27FC236}">
                <a16:creationId xmlns:a16="http://schemas.microsoft.com/office/drawing/2014/main" id="{26CC6796-4280-FB4D-0E2C-CF5070C3C6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5181" y="5765614"/>
            <a:ext cx="923331" cy="923331"/>
          </a:xfrm>
          <a:prstGeom prst="rect">
            <a:avLst/>
          </a:prstGeom>
        </p:spPr>
      </p:pic>
      <p:pic>
        <p:nvPicPr>
          <p:cNvPr id="5" name="Elemento visual" descr="image.png">
            <a:extLst>
              <a:ext uri="{FF2B5EF4-FFF2-40B4-BE49-F238E27FC236}">
                <a16:creationId xmlns:a16="http://schemas.microsoft.com/office/drawing/2014/main" id="{E5EEF6A4-7623-4A90-D012-E852D3355C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0668" y="5948272"/>
            <a:ext cx="923331" cy="923331"/>
          </a:xfrm>
          <a:prstGeom prst="rect">
            <a:avLst/>
          </a:prstGeom>
        </p:spPr>
      </p:pic>
      <p:pic>
        <p:nvPicPr>
          <p:cNvPr id="6" name="Logo UniAnchieta" descr="image.png">
            <a:extLst>
              <a:ext uri="{FF2B5EF4-FFF2-40B4-BE49-F238E27FC236}">
                <a16:creationId xmlns:a16="http://schemas.microsoft.com/office/drawing/2014/main" id="{0D86C294-065B-228F-AB98-7E589755A7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654" y="6051766"/>
            <a:ext cx="2308138" cy="713858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1ADC5503-0F15-53EE-0369-7DE72E5DD5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24945" y="3649662"/>
            <a:ext cx="2286000" cy="2286000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B777AB3F-AE63-7ED0-B4B1-B96CC3347BA8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9358" r="31153" b="27022"/>
          <a:stretch/>
        </p:blipFill>
        <p:spPr>
          <a:xfrm>
            <a:off x="3094037" y="1605162"/>
            <a:ext cx="3505200" cy="3293302"/>
          </a:xfrm>
          <a:prstGeom prst="rect">
            <a:avLst/>
          </a:prstGeom>
        </p:spPr>
      </p:pic>
      <p:pic>
        <p:nvPicPr>
          <p:cNvPr id="14" name="Gráfico 13">
            <a:extLst>
              <a:ext uri="{FF2B5EF4-FFF2-40B4-BE49-F238E27FC236}">
                <a16:creationId xmlns:a16="http://schemas.microsoft.com/office/drawing/2014/main" id="{E61C9AE2-B3B6-E148-1DCC-F8AC3ED84A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48551" y="1333400"/>
            <a:ext cx="2038787" cy="2120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77386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9BEE9B-B665-99AF-111E-46DC3EEEC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>
            <a:extLst>
              <a:ext uri="{FF2B5EF4-FFF2-40B4-BE49-F238E27FC236}">
                <a16:creationId xmlns:a16="http://schemas.microsoft.com/office/drawing/2014/main" id="{792E05A3-7970-92B6-0163-984A214787D0}"/>
              </a:ext>
            </a:extLst>
          </p:cNvPr>
          <p:cNvSpPr txBox="1"/>
          <p:nvPr/>
        </p:nvSpPr>
        <p:spPr>
          <a:xfrm>
            <a:off x="548640" y="274320"/>
            <a:ext cx="10469880" cy="531925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r>
              <a:rPr lang="pt-BR" sz="2600" b="1" dirty="0">
                <a:solidFill>
                  <a:srgbClr val="FFFFFF"/>
                </a:solidFill>
                <a:latin typeface="Montserrat"/>
              </a:rPr>
              <a:t>Conteúdos desta apresentação</a:t>
            </a:r>
            <a:endParaRPr sz="2600" b="1" i="0" dirty="0">
              <a:solidFill>
                <a:srgbClr val="FFFFFF"/>
              </a:solidFill>
              <a:latin typeface="Montserrat"/>
            </a:endParaRPr>
          </a:p>
        </p:txBody>
      </p:sp>
      <p:pic>
        <p:nvPicPr>
          <p:cNvPr id="3" name="Elemento visual" descr="image.png">
            <a:extLst>
              <a:ext uri="{FF2B5EF4-FFF2-40B4-BE49-F238E27FC236}">
                <a16:creationId xmlns:a16="http://schemas.microsoft.com/office/drawing/2014/main" id="{A02A2834-12DF-E53A-B1BC-BD2DCC6BCB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1265408" y="146304"/>
            <a:ext cx="923331" cy="923331"/>
          </a:xfrm>
          <a:prstGeom prst="rect">
            <a:avLst/>
          </a:prstGeom>
        </p:spPr>
      </p:pic>
      <p:pic>
        <p:nvPicPr>
          <p:cNvPr id="4" name="Elemento visual" descr="image.png">
            <a:extLst>
              <a:ext uri="{FF2B5EF4-FFF2-40B4-BE49-F238E27FC236}">
                <a16:creationId xmlns:a16="http://schemas.microsoft.com/office/drawing/2014/main" id="{EF57C2B8-2C7F-24A2-D51D-BC46D51D76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181" y="5765614"/>
            <a:ext cx="923331" cy="923331"/>
          </a:xfrm>
          <a:prstGeom prst="rect">
            <a:avLst/>
          </a:prstGeom>
        </p:spPr>
      </p:pic>
      <p:pic>
        <p:nvPicPr>
          <p:cNvPr id="5" name="Elemento visual" descr="image.png">
            <a:extLst>
              <a:ext uri="{FF2B5EF4-FFF2-40B4-BE49-F238E27FC236}">
                <a16:creationId xmlns:a16="http://schemas.microsoft.com/office/drawing/2014/main" id="{22A07E5D-2DD2-A0EE-BFEB-0FC359B385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0668" y="5948272"/>
            <a:ext cx="923331" cy="923331"/>
          </a:xfrm>
          <a:prstGeom prst="rect">
            <a:avLst/>
          </a:prstGeom>
        </p:spPr>
      </p:pic>
      <p:pic>
        <p:nvPicPr>
          <p:cNvPr id="6" name="Logo UniAnchieta" descr="image.png">
            <a:extLst>
              <a:ext uri="{FF2B5EF4-FFF2-40B4-BE49-F238E27FC236}">
                <a16:creationId xmlns:a16="http://schemas.microsoft.com/office/drawing/2014/main" id="{848D1701-E88A-DC2C-FE5F-7ED16FEE28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54" y="6051766"/>
            <a:ext cx="2308138" cy="7138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62555E8-C1E5-3ADD-39FC-0B34A33662CB}"/>
              </a:ext>
            </a:extLst>
          </p:cNvPr>
          <p:cNvSpPr txBox="1"/>
          <p:nvPr/>
        </p:nvSpPr>
        <p:spPr>
          <a:xfrm>
            <a:off x="548640" y="4841187"/>
            <a:ext cx="11220574" cy="117369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pt-BR" sz="2000" b="1" u="sng" dirty="0">
                <a:solidFill>
                  <a:srgbClr val="04F8FE"/>
                </a:solidFill>
                <a:latin typeface="Montserrat"/>
              </a:rPr>
              <a:t>github.com/</a:t>
            </a:r>
            <a:r>
              <a:rPr lang="pt-BR" sz="2000" b="1" u="sng" dirty="0" err="1">
                <a:solidFill>
                  <a:srgbClr val="04F8FE"/>
                </a:solidFill>
                <a:latin typeface="Montserrat"/>
              </a:rPr>
              <a:t>renatogroffe</a:t>
            </a:r>
            <a:r>
              <a:rPr lang="pt-BR" sz="2000" b="1" u="sng" dirty="0">
                <a:solidFill>
                  <a:srgbClr val="04F8FE"/>
                </a:solidFill>
                <a:latin typeface="Montserrat"/>
              </a:rPr>
              <a:t>/kubernetes_tech-week-unianchieta-2026-10</a:t>
            </a:r>
            <a:endParaRPr lang="pt-BR" sz="2000" b="1" dirty="0">
              <a:solidFill>
                <a:srgbClr val="04F8FE"/>
              </a:solidFill>
              <a:latin typeface="Montserrat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6C89842-3AD6-D176-8F16-9AF92C77B19B}"/>
              </a:ext>
            </a:extLst>
          </p:cNvPr>
          <p:cNvSpPr txBox="1">
            <a:spLocks/>
          </p:cNvSpPr>
          <p:nvPr/>
        </p:nvSpPr>
        <p:spPr>
          <a:xfrm>
            <a:off x="7936424" y="2335256"/>
            <a:ext cx="3676995" cy="1173697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1667"/>
              </a:lnSpc>
              <a:spcAft>
                <a:spcPts val="11004"/>
              </a:spcAft>
              <a:buNone/>
            </a:pPr>
            <a:r>
              <a:rPr lang="pt-BR" sz="2800" dirty="0">
                <a:solidFill>
                  <a:schemeClr val="bg1"/>
                </a:solidFill>
                <a:latin typeface="Maven Pro Black" pitchFamily="2" charset="77"/>
                <a:cs typeface="Maven Pro Regular" pitchFamily="34" charset="-120"/>
              </a:rPr>
              <a:t>Deixem um star </a:t>
            </a:r>
            <a:r>
              <a:rPr lang="pt-BR" sz="2800" dirty="0">
                <a:solidFill>
                  <a:schemeClr val="bg1"/>
                </a:solidFill>
                <a:latin typeface="Maven Pro Regular" pitchFamily="34" charset="0"/>
                <a:cs typeface="Maven Pro Regular" pitchFamily="34" charset="-120"/>
              </a:rPr>
              <a:t>⭐</a:t>
            </a:r>
            <a:r>
              <a:rPr lang="pt-BR" sz="2800" dirty="0">
                <a:solidFill>
                  <a:schemeClr val="bg1"/>
                </a:solidFill>
                <a:latin typeface="Maven Pro Black" pitchFamily="2" charset="77"/>
                <a:cs typeface="Maven Pro Regular" pitchFamily="34" charset="-12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Maven Pro Black" pitchFamily="2" charset="77"/>
                <a:cs typeface="Maven Pro Regular" pitchFamily="34" charset="-120"/>
              </a:rPr>
              <a:t>apoiando</a:t>
            </a:r>
            <a:endParaRPr lang="pt-BR" sz="2800" dirty="0">
              <a:solidFill>
                <a:schemeClr val="bg1"/>
              </a:solidFill>
              <a:latin typeface="Maven Pro Black" pitchFamily="2" charset="77"/>
              <a:cs typeface="Maven Pro Regular" pitchFamily="34" charset="-120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EA9C0ED8-E650-F683-AD5A-1E5FEA7CA4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5653" y="1330442"/>
            <a:ext cx="2986548" cy="2986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84316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072EBF-BACE-D1A1-42DE-6EC7DB4B8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 descr="Imagem de capa de Dev Days | Jundiai, Brazil">
            <a:extLst>
              <a:ext uri="{FF2B5EF4-FFF2-40B4-BE49-F238E27FC236}">
                <a16:creationId xmlns:a16="http://schemas.microsoft.com/office/drawing/2014/main" id="{6BAF16B3-59A5-A942-DA32-28A89C059A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7153"/>
          <a:stretch>
            <a:fillRect/>
          </a:stretch>
        </p:blipFill>
        <p:spPr>
          <a:xfrm>
            <a:off x="0" y="7028"/>
            <a:ext cx="7094771" cy="6864575"/>
          </a:xfrm>
          <a:prstGeom prst="rect">
            <a:avLst/>
          </a:prstGeom>
        </p:spPr>
      </p:pic>
      <p:pic>
        <p:nvPicPr>
          <p:cNvPr id="8" name="Imagem 7" descr="Imagem de capa de Dev Days | Jundiai, Brazil">
            <a:extLst>
              <a:ext uri="{FF2B5EF4-FFF2-40B4-BE49-F238E27FC236}">
                <a16:creationId xmlns:a16="http://schemas.microsoft.com/office/drawing/2014/main" id="{8C108B5C-F603-B796-A712-A65C5801EA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9424" y="7028"/>
            <a:ext cx="6864575" cy="6864575"/>
          </a:xfrm>
          <a:prstGeom prst="rect">
            <a:avLst/>
          </a:prstGeom>
        </p:spPr>
      </p:pic>
      <p:sp>
        <p:nvSpPr>
          <p:cNvPr id="2" name="Título">
            <a:extLst>
              <a:ext uri="{FF2B5EF4-FFF2-40B4-BE49-F238E27FC236}">
                <a16:creationId xmlns:a16="http://schemas.microsoft.com/office/drawing/2014/main" id="{FD0E23EC-4379-C858-2E13-D9443BFBC7FA}"/>
              </a:ext>
            </a:extLst>
          </p:cNvPr>
          <p:cNvSpPr txBox="1"/>
          <p:nvPr/>
        </p:nvSpPr>
        <p:spPr>
          <a:xfrm>
            <a:off x="548640" y="274320"/>
            <a:ext cx="10469880" cy="9144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spcAft>
                <a:spcPts val="0"/>
              </a:spcAft>
            </a:pPr>
            <a:r>
              <a:rPr lang="pt-BR" sz="2600" b="1" dirty="0" err="1">
                <a:solidFill>
                  <a:srgbClr val="FFFFFF"/>
                </a:solidFill>
                <a:latin typeface="Montserrat"/>
              </a:rPr>
              <a:t>Dev</a:t>
            </a:r>
            <a:r>
              <a:rPr lang="pt-BR" sz="2600" b="1" dirty="0">
                <a:solidFill>
                  <a:srgbClr val="FFFFFF"/>
                </a:solidFill>
                <a:latin typeface="Montserrat"/>
              </a:rPr>
              <a:t> </a:t>
            </a:r>
            <a:r>
              <a:rPr lang="pt-BR" sz="2600" b="1" dirty="0" err="1">
                <a:solidFill>
                  <a:srgbClr val="FFFFFF"/>
                </a:solidFill>
                <a:latin typeface="Montserrat"/>
              </a:rPr>
              <a:t>Days</a:t>
            </a:r>
            <a:r>
              <a:rPr lang="pt-BR" sz="2600" b="1" dirty="0">
                <a:solidFill>
                  <a:srgbClr val="FFFFFF"/>
                </a:solidFill>
                <a:latin typeface="Montserrat"/>
              </a:rPr>
              <a:t> | Jundiai, </a:t>
            </a:r>
            <a:r>
              <a:rPr lang="pt-BR" sz="2600" b="1" dirty="0" err="1">
                <a:solidFill>
                  <a:srgbClr val="FFFFFF"/>
                </a:solidFill>
                <a:latin typeface="Montserrat"/>
              </a:rPr>
              <a:t>Brazil</a:t>
            </a:r>
            <a:endParaRPr sz="2600" b="1" i="0" dirty="0">
              <a:solidFill>
                <a:srgbClr val="FFFFFF"/>
              </a:solidFill>
              <a:latin typeface="Montserrat"/>
            </a:endParaRPr>
          </a:p>
        </p:txBody>
      </p:sp>
      <p:pic>
        <p:nvPicPr>
          <p:cNvPr id="3" name="Elemento visual" descr="image.png">
            <a:extLst>
              <a:ext uri="{FF2B5EF4-FFF2-40B4-BE49-F238E27FC236}">
                <a16:creationId xmlns:a16="http://schemas.microsoft.com/office/drawing/2014/main" id="{C3783DBF-ADBE-6E19-4D86-F9D5523828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1265408" y="146304"/>
            <a:ext cx="923331" cy="923331"/>
          </a:xfrm>
          <a:prstGeom prst="rect">
            <a:avLst/>
          </a:prstGeom>
        </p:spPr>
      </p:pic>
      <p:pic>
        <p:nvPicPr>
          <p:cNvPr id="4" name="Elemento visual" descr="image.png">
            <a:extLst>
              <a:ext uri="{FF2B5EF4-FFF2-40B4-BE49-F238E27FC236}">
                <a16:creationId xmlns:a16="http://schemas.microsoft.com/office/drawing/2014/main" id="{A4BF0BB8-20AF-EB1A-8DA4-D48709B1D0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5181" y="5765614"/>
            <a:ext cx="923331" cy="923331"/>
          </a:xfrm>
          <a:prstGeom prst="rect">
            <a:avLst/>
          </a:prstGeom>
        </p:spPr>
      </p:pic>
      <p:pic>
        <p:nvPicPr>
          <p:cNvPr id="5" name="Elemento visual" descr="image.png">
            <a:extLst>
              <a:ext uri="{FF2B5EF4-FFF2-40B4-BE49-F238E27FC236}">
                <a16:creationId xmlns:a16="http://schemas.microsoft.com/office/drawing/2014/main" id="{A68B1B8B-4474-7669-D6A0-37BA342311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0668" y="5948272"/>
            <a:ext cx="923331" cy="923331"/>
          </a:xfrm>
          <a:prstGeom prst="rect">
            <a:avLst/>
          </a:prstGeom>
        </p:spPr>
      </p:pic>
      <p:pic>
        <p:nvPicPr>
          <p:cNvPr id="6" name="Logo UniAnchieta" descr="image.png">
            <a:extLst>
              <a:ext uri="{FF2B5EF4-FFF2-40B4-BE49-F238E27FC236}">
                <a16:creationId xmlns:a16="http://schemas.microsoft.com/office/drawing/2014/main" id="{00B849ED-970C-9EFC-44AB-5DCA718863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654" y="6051766"/>
            <a:ext cx="2308138" cy="713858"/>
          </a:xfrm>
          <a:prstGeom prst="rect">
            <a:avLst/>
          </a:prstGeom>
        </p:spPr>
      </p:pic>
      <p:sp>
        <p:nvSpPr>
          <p:cNvPr id="101" name="Data bloco"/>
          <p:cNvSpPr/>
          <p:nvPr/>
        </p:nvSpPr>
        <p:spPr>
          <a:xfrm>
            <a:off x="635000" y="2336800"/>
            <a:ext cx="736600" cy="736600"/>
          </a:xfrm>
          <a:prstGeom prst="roundRect">
            <a:avLst/>
          </a:prstGeom>
          <a:solidFill>
            <a:srgbClr val="1C1838"/>
          </a:solidFill>
          <a:ln w="12700">
            <a:solidFill>
              <a:srgbClr val="4A4470"/>
            </a:solidFill>
          </a:ln>
        </p:spPr>
        <p:txBody>
          <a:bodyPr wrap="square" lIns="0" tIns="0" rIns="0" bIns="63500" anchor="b">
            <a:noAutofit/>
          </a:bodyPr>
          <a:lstStyle/>
          <a:p>
            <a:pPr algn="ctr"/>
            <a:r>
              <a:rPr lang="pt-BR" sz="2000" b="1" dirty="0">
                <a:solidFill>
                  <a:srgbClr val="FFFFFF"/>
                </a:solidFill>
                <a:latin typeface="Montserrat"/>
              </a:rPr>
              <a:t>24</a:t>
            </a:r>
          </a:p>
        </p:txBody>
      </p:sp>
      <p:sp>
        <p:nvSpPr>
          <p:cNvPr id="102" name="Data mês"/>
          <p:cNvSpPr/>
          <p:nvPr/>
        </p:nvSpPr>
        <p:spPr>
          <a:xfrm>
            <a:off x="635000" y="2336800"/>
            <a:ext cx="736600" cy="241300"/>
          </a:xfrm>
          <a:prstGeom prst="round2SameRect">
            <a:avLst/>
          </a:prstGeom>
          <a:solidFill>
            <a:srgbClr val="3FB95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t-BR" sz="1000" b="1" dirty="0">
                <a:solidFill>
                  <a:srgbClr val="0D1117"/>
                </a:solidFill>
                <a:latin typeface="Montserrat"/>
              </a:rPr>
              <a:t>OUT.</a:t>
            </a:r>
          </a:p>
        </p:txBody>
      </p:sp>
      <p:sp>
        <p:nvSpPr>
          <p:cNvPr id="103" name="Data texto"/>
          <p:cNvSpPr txBox="1"/>
          <p:nvPr/>
        </p:nvSpPr>
        <p:spPr>
          <a:xfrm>
            <a:off x="1625600" y="2286000"/>
            <a:ext cx="6604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t-BR" sz="2000" b="1" dirty="0">
                <a:solidFill>
                  <a:srgbClr val="FFFFFF"/>
                </a:solidFill>
                <a:latin typeface="Montserrat"/>
              </a:rPr>
              <a:t>sábado, 24 de outubro</a:t>
            </a:r>
          </a:p>
        </p:txBody>
      </p:sp>
      <p:sp>
        <p:nvSpPr>
          <p:cNvPr id="104" name="Horário texto"/>
          <p:cNvSpPr txBox="1"/>
          <p:nvPr/>
        </p:nvSpPr>
        <p:spPr>
          <a:xfrm>
            <a:off x="1625600" y="2692400"/>
            <a:ext cx="6604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t-BR" sz="1600" b="0" dirty="0">
                <a:solidFill>
                  <a:srgbClr val="B9B3DB"/>
                </a:solidFill>
                <a:latin typeface="Montserrat"/>
              </a:rPr>
              <a:t>9:00 - 12:00</a:t>
            </a:r>
          </a:p>
        </p:txBody>
      </p:sp>
      <p:sp>
        <p:nvSpPr>
          <p:cNvPr id="105" name="Local bloco"/>
          <p:cNvSpPr/>
          <p:nvPr/>
        </p:nvSpPr>
        <p:spPr>
          <a:xfrm>
            <a:off x="635000" y="3479800"/>
            <a:ext cx="736600" cy="736600"/>
          </a:xfrm>
          <a:prstGeom prst="roundRect">
            <a:avLst/>
          </a:prstGeom>
          <a:solidFill>
            <a:srgbClr val="1C1838"/>
          </a:solidFill>
          <a:ln w="12700">
            <a:solidFill>
              <a:srgbClr val="4A4470"/>
            </a:solidFill>
          </a:ln>
        </p:spPr>
        <p:txBody>
          <a:bodyPr wrap="square" lIns="0" tIns="0" rIns="0" bIns="0" anchor="ctr">
            <a:noAutofit/>
          </a:bodyPr>
          <a:lstStyle/>
          <a:p>
            <a:endParaRPr lang="pt-BR" dirty="0"/>
          </a:p>
        </p:txBody>
      </p:sp>
      <p:sp>
        <p:nvSpPr>
          <p:cNvPr id="106" name="Endereço texto"/>
          <p:cNvSpPr txBox="1"/>
          <p:nvPr/>
        </p:nvSpPr>
        <p:spPr>
          <a:xfrm>
            <a:off x="1625600" y="3429000"/>
            <a:ext cx="6604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t-BR" sz="2000" b="1" dirty="0">
                <a:solidFill>
                  <a:srgbClr val="FFFFFF"/>
                </a:solidFill>
                <a:latin typeface="Montserrat"/>
              </a:rPr>
              <a:t>Av. Odila Azalim, 575</a:t>
            </a:r>
          </a:p>
        </p:txBody>
      </p:sp>
      <p:sp>
        <p:nvSpPr>
          <p:cNvPr id="107" name="Cidade texto"/>
          <p:cNvSpPr txBox="1"/>
          <p:nvPr/>
        </p:nvSpPr>
        <p:spPr>
          <a:xfrm>
            <a:off x="1625600" y="3835400"/>
            <a:ext cx="6604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t-BR" sz="1600" b="0" dirty="0">
                <a:solidFill>
                  <a:srgbClr val="B9B3DB"/>
                </a:solidFill>
                <a:latin typeface="Montserrat"/>
              </a:rPr>
              <a:t>Jundiaí, SP</a:t>
            </a:r>
          </a:p>
        </p:txBody>
      </p:sp>
      <p:pic>
        <p:nvPicPr>
          <p:cNvPr id="108" name="Graphic 108" descr="Localizaçã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2800" y="3657600"/>
            <a:ext cx="381000" cy="381000"/>
          </a:xfrm>
          <a:prstGeom prst="rect">
            <a:avLst/>
          </a:prstGeom>
        </p:spPr>
      </p:pic>
      <p:sp>
        <p:nvSpPr>
          <p:cNvPr id="10" name="Moldura QR">
            <a:extLst>
              <a:ext uri="{FF2B5EF4-FFF2-40B4-BE49-F238E27FC236}">
                <a16:creationId xmlns:a16="http://schemas.microsoft.com/office/drawing/2014/main" id="{4350A65C-F76E-BA4F-BB66-AB4CDB0934AE}"/>
              </a:ext>
            </a:extLst>
          </p:cNvPr>
          <p:cNvSpPr/>
          <p:nvPr/>
        </p:nvSpPr>
        <p:spPr>
          <a:xfrm>
            <a:off x="5588000" y="1371600"/>
            <a:ext cx="3810000" cy="3810000"/>
          </a:xfrm>
          <a:prstGeom prst="roundRect">
            <a:avLst>
              <a:gd name="adj" fmla="val 6000"/>
            </a:avLst>
          </a:prstGeom>
          <a:solidFill>
            <a:srgbClr val="3FB95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07BB01C-204C-3FA4-CB0E-98D67B6580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0" y="1498600"/>
            <a:ext cx="3556000" cy="3556000"/>
          </a:xfrm>
          <a:prstGeom prst="rect">
            <a:avLst/>
          </a:prstGeom>
        </p:spPr>
      </p:pic>
      <p:sp>
        <p:nvSpPr>
          <p:cNvPr id="9" name="Link evento">
            <a:extLst>
              <a:ext uri="{FF2B5EF4-FFF2-40B4-BE49-F238E27FC236}">
                <a16:creationId xmlns:a16="http://schemas.microsoft.com/office/drawing/2014/main" id="{2D31CEAB-7DED-CA4D-BCF0-B9CF096C3C58}"/>
              </a:ext>
            </a:extLst>
          </p:cNvPr>
          <p:cNvSpPr txBox="1"/>
          <p:nvPr/>
        </p:nvSpPr>
        <p:spPr>
          <a:xfrm>
            <a:off x="5588000" y="5257800"/>
            <a:ext cx="3810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pt-BR" sz="2000" b="1">
                <a:solidFill>
                  <a:srgbClr val="FFFFFF"/>
                </a:solidFill>
                <a:latin typeface="Montserrat"/>
              </a:rPr>
              <a:t>luma.com/bwbsu4cq</a:t>
            </a:r>
          </a:p>
        </p:txBody>
      </p:sp>
    </p:spTree>
    <p:extLst>
      <p:ext uri="{BB962C8B-B14F-4D97-AF65-F5344CB8AC3E}">
        <p14:creationId xmlns:p14="http://schemas.microsoft.com/office/powerpoint/2010/main" val="200054606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669EB68F-7909-5E05-D717-202A12B25548}"/>
              </a:ext>
            </a:extLst>
          </p:cNvPr>
          <p:cNvSpPr>
            <a:spLocks/>
          </p:cNvSpPr>
          <p:nvPr/>
        </p:nvSpPr>
        <p:spPr>
          <a:xfrm>
            <a:off x="0" y="0"/>
            <a:ext cx="8332324" cy="6858000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7200" b="1" dirty="0">
              <a:latin typeface="Montserrat" pitchFamily="2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3A4E9CC-EE4C-C580-FD9F-91F0CBC2F6C1}"/>
              </a:ext>
            </a:extLst>
          </p:cNvPr>
          <p:cNvSpPr txBox="1"/>
          <p:nvPr/>
        </p:nvSpPr>
        <p:spPr>
          <a:xfrm>
            <a:off x="545038" y="1134999"/>
            <a:ext cx="549381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5400" b="1" dirty="0">
                <a:solidFill>
                  <a:schemeClr val="bg1"/>
                </a:solidFill>
                <a:latin typeface="Montserrat" pitchFamily="2" charset="0"/>
              </a:rPr>
              <a:t>Tech Week’ 26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14A4708-82AE-0FD5-DC18-FE9203F6EE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2324" y="0"/>
            <a:ext cx="3859676" cy="6858000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5321D63F-903C-6A1C-5B02-56679F528D18}"/>
              </a:ext>
            </a:extLst>
          </p:cNvPr>
          <p:cNvSpPr txBox="1"/>
          <p:nvPr/>
        </p:nvSpPr>
        <p:spPr>
          <a:xfrm>
            <a:off x="545038" y="1025045"/>
            <a:ext cx="24272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rgbClr val="004CFB"/>
                </a:solidFill>
                <a:latin typeface="Montserrat" pitchFamily="2" charset="0"/>
              </a:rPr>
              <a:t>Jundiaí – </a:t>
            </a:r>
            <a:r>
              <a:rPr lang="pt-BR" sz="1600" dirty="0" err="1">
                <a:solidFill>
                  <a:srgbClr val="004CFB"/>
                </a:solidFill>
                <a:latin typeface="Montserrat" pitchFamily="2" charset="0"/>
              </a:rPr>
              <a:t>UniAnchieta</a:t>
            </a:r>
            <a:endParaRPr lang="pt-BR" sz="1600" dirty="0">
              <a:solidFill>
                <a:srgbClr val="004CFB"/>
              </a:solidFill>
              <a:latin typeface="Montserrat" pitchFamily="2" charset="0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147A063-858F-46E0-E150-7D063F1830D2}"/>
              </a:ext>
            </a:extLst>
          </p:cNvPr>
          <p:cNvSpPr txBox="1"/>
          <p:nvPr/>
        </p:nvSpPr>
        <p:spPr>
          <a:xfrm>
            <a:off x="6063212" y="1273498"/>
            <a:ext cx="16578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latin typeface="Montserrat" pitchFamily="2" charset="0"/>
              </a:rPr>
              <a:t>OUT. 21 – 19h</a:t>
            </a:r>
            <a:br>
              <a:rPr lang="pt-BR" dirty="0">
                <a:solidFill>
                  <a:schemeClr val="bg1"/>
                </a:solidFill>
                <a:latin typeface="Montserrat" pitchFamily="2" charset="0"/>
              </a:rPr>
            </a:br>
            <a:r>
              <a:rPr lang="pt-BR" dirty="0">
                <a:solidFill>
                  <a:schemeClr val="bg1"/>
                </a:solidFill>
                <a:latin typeface="Montserrat" pitchFamily="2" charset="0"/>
              </a:rPr>
              <a:t>Quarta-Feira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F1894D8A-E171-3723-643A-730C892EDEE5}"/>
              </a:ext>
            </a:extLst>
          </p:cNvPr>
          <p:cNvSpPr txBox="1"/>
          <p:nvPr/>
        </p:nvSpPr>
        <p:spPr>
          <a:xfrm>
            <a:off x="478363" y="3409950"/>
            <a:ext cx="540244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5400" b="1" dirty="0">
                <a:solidFill>
                  <a:schemeClr val="bg1"/>
                </a:solidFill>
                <a:latin typeface="Montserrat" pitchFamily="2" charset="0"/>
              </a:rPr>
              <a:t>Obrigada(o)!</a:t>
            </a:r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AA555841-F8FD-0DFE-B865-DC49B79455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704496" y="4969262"/>
            <a:ext cx="923331" cy="923331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5F31A1E8-BF67-5BB6-4DAA-37ED4F8F33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4480" y="3003918"/>
            <a:ext cx="923331" cy="923331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334FC67B-7789-5393-0055-3B9D47F94E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8669" y="5791173"/>
            <a:ext cx="923331" cy="923331"/>
          </a:xfrm>
          <a:prstGeom prst="rect">
            <a:avLst/>
          </a:prstGeom>
        </p:spPr>
      </p:pic>
      <p:pic>
        <p:nvPicPr>
          <p:cNvPr id="24" name="Imagem 23">
            <a:extLst>
              <a:ext uri="{FF2B5EF4-FFF2-40B4-BE49-F238E27FC236}">
                <a16:creationId xmlns:a16="http://schemas.microsoft.com/office/drawing/2014/main" id="{EB46CD56-8ABE-2418-1E11-D39305710C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395" y="1194322"/>
            <a:ext cx="923331" cy="923331"/>
          </a:xfrm>
          <a:prstGeom prst="rect">
            <a:avLst/>
          </a:prstGeom>
        </p:spPr>
      </p:pic>
      <p:pic>
        <p:nvPicPr>
          <p:cNvPr id="25" name="Imagem 24">
            <a:extLst>
              <a:ext uri="{FF2B5EF4-FFF2-40B4-BE49-F238E27FC236}">
                <a16:creationId xmlns:a16="http://schemas.microsoft.com/office/drawing/2014/main" id="{AB56097D-7EC2-0CD7-0B5C-1AD5BA7C1D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779490" y="211537"/>
            <a:ext cx="923331" cy="923331"/>
          </a:xfrm>
          <a:prstGeom prst="rect">
            <a:avLst/>
          </a:prstGeom>
        </p:spPr>
      </p:pic>
      <p:pic>
        <p:nvPicPr>
          <p:cNvPr id="26" name="Imagem 25">
            <a:extLst>
              <a:ext uri="{FF2B5EF4-FFF2-40B4-BE49-F238E27FC236}">
                <a16:creationId xmlns:a16="http://schemas.microsoft.com/office/drawing/2014/main" id="{1D10ABB3-D4C4-3F4E-350E-3A6B4FB33F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485" y="-216622"/>
            <a:ext cx="923331" cy="923331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0D980167-9C99-B2E1-C122-E0553A33E4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259163" y="1727756"/>
            <a:ext cx="923331" cy="923331"/>
          </a:xfrm>
          <a:prstGeom prst="rect">
            <a:avLst/>
          </a:prstGeom>
        </p:spPr>
      </p:pic>
      <p:pic>
        <p:nvPicPr>
          <p:cNvPr id="29" name="Imagem 28">
            <a:extLst>
              <a:ext uri="{FF2B5EF4-FFF2-40B4-BE49-F238E27FC236}">
                <a16:creationId xmlns:a16="http://schemas.microsoft.com/office/drawing/2014/main" id="{33F75B04-AF69-B25C-1DDD-1A0BCB8C52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108563" y="440268"/>
            <a:ext cx="923331" cy="923331"/>
          </a:xfrm>
          <a:prstGeom prst="rect">
            <a:avLst/>
          </a:prstGeom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F6E85C34-6002-C68F-5CE8-CEC57B84E6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065561" y="2278344"/>
            <a:ext cx="923331" cy="923331"/>
          </a:xfrm>
          <a:prstGeom prst="rect">
            <a:avLst/>
          </a:prstGeom>
        </p:spPr>
      </p:pic>
      <p:pic>
        <p:nvPicPr>
          <p:cNvPr id="33" name="Imagem 32">
            <a:extLst>
              <a:ext uri="{FF2B5EF4-FFF2-40B4-BE49-F238E27FC236}">
                <a16:creationId xmlns:a16="http://schemas.microsoft.com/office/drawing/2014/main" id="{4F636D00-47C6-CCCA-BACF-EF064E007D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654" y="6051766"/>
            <a:ext cx="2308138" cy="713858"/>
          </a:xfrm>
          <a:prstGeom prst="rect">
            <a:avLst/>
          </a:prstGeom>
        </p:spPr>
      </p:pic>
      <p:cxnSp>
        <p:nvCxnSpPr>
          <p:cNvPr id="35" name="Conector reto 34">
            <a:extLst>
              <a:ext uri="{FF2B5EF4-FFF2-40B4-BE49-F238E27FC236}">
                <a16:creationId xmlns:a16="http://schemas.microsoft.com/office/drawing/2014/main" id="{A7D91421-5581-2AD5-CF74-9C651D31211F}"/>
              </a:ext>
            </a:extLst>
          </p:cNvPr>
          <p:cNvCxnSpPr/>
          <p:nvPr/>
        </p:nvCxnSpPr>
        <p:spPr>
          <a:xfrm>
            <a:off x="0" y="6007235"/>
            <a:ext cx="8332323" cy="0"/>
          </a:xfrm>
          <a:prstGeom prst="line">
            <a:avLst/>
          </a:prstGeom>
          <a:ln>
            <a:solidFill>
              <a:srgbClr val="004C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>
            <a:extLst>
              <a:ext uri="{FF2B5EF4-FFF2-40B4-BE49-F238E27FC236}">
                <a16:creationId xmlns:a16="http://schemas.microsoft.com/office/drawing/2014/main" id="{DEB5B61C-F7BF-845D-C151-8D8D957A7839}"/>
              </a:ext>
            </a:extLst>
          </p:cNvPr>
          <p:cNvCxnSpPr>
            <a:cxnSpLocks/>
            <a:endCxn id="28" idx="1"/>
          </p:cNvCxnSpPr>
          <p:nvPr/>
        </p:nvCxnSpPr>
        <p:spPr>
          <a:xfrm flipH="1">
            <a:off x="8332324" y="-26918"/>
            <a:ext cx="2655" cy="6884917"/>
          </a:xfrm>
          <a:prstGeom prst="line">
            <a:avLst/>
          </a:prstGeom>
          <a:ln>
            <a:solidFill>
              <a:srgbClr val="004C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" name="Imagem 27">
            <a:extLst>
              <a:ext uri="{FF2B5EF4-FFF2-40B4-BE49-F238E27FC236}">
                <a16:creationId xmlns:a16="http://schemas.microsoft.com/office/drawing/2014/main" id="{1E6A8B14-F63A-97DD-A154-FB7EC668D8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7870658" y="5934668"/>
            <a:ext cx="923331" cy="923331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C19A189B-10AA-16C3-0C16-F86A664839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5181" y="5765614"/>
            <a:ext cx="923331" cy="923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09783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B01703E-0AF3-D847-9493-CE638762BADC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bfd9aeb3-c958-47c2-9666-c72a4a385358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1199</Words>
  <Application>Microsoft Office PowerPoint</Application>
  <PresentationFormat>Widescreen</PresentationFormat>
  <Paragraphs>331</Paragraphs>
  <Slides>49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49</vt:i4>
      </vt:variant>
    </vt:vector>
  </HeadingPairs>
  <TitlesOfParts>
    <vt:vector size="57" baseType="lpstr">
      <vt:lpstr>Aptos</vt:lpstr>
      <vt:lpstr>Aptos Display</vt:lpstr>
      <vt:lpstr>Arial</vt:lpstr>
      <vt:lpstr>Courier New</vt:lpstr>
      <vt:lpstr>Maven Pro Black</vt:lpstr>
      <vt:lpstr>Maven Pro Regular</vt:lpstr>
      <vt:lpstr>Montserrat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Gustavo Peixoto</dc:creator>
  <cp:lastModifiedBy>Renato Groffe</cp:lastModifiedBy>
  <cp:revision>12</cp:revision>
  <dcterms:created xsi:type="dcterms:W3CDTF">2026-10-16T14:44:03Z</dcterms:created>
  <dcterms:modified xsi:type="dcterms:W3CDTF">2026-10-21T21:02:58Z</dcterms:modified>
</cp:coreProperties>
</file>